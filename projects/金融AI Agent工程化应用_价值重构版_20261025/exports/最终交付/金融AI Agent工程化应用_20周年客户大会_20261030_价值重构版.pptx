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8288000" cy="10287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时间：0:00–1:00｜现场动作：不急着翻页，先与听众建立交流感。</a:t>
            </a:r>
          </a:p>
          <a:p>
            <a:pPr/>
            <a:r>
              <a:rPr lang="zh-CN" dirty="0"/>
              <a:t>各位来宾，大家好，我是亿信华辰解决方案专家吴思全。欢迎来到亿信华辰20周年客户大会。</a:t>
            </a:r>
          </a:p>
          <a:p>
            <a:pPr/>
            <a:r>
              <a:rPr lang="zh-CN" dirty="0"/>
              <a:t>今天在座很多来自租赁、证券等机构的科技负责人。四十分钟时间，我不准备做产品目录，也不准备用几个演示告诉大家“AI什么都能做”。过去两年，很多机构已经从PoC走到生产，Agent开始在投研、运营、研发、办公等场景落地；真正变难的问题，正在从“能不能做”，变成“怎样稳定做、可治理地做、可复用做”。今天我想借亿信华辰自己的实践，和大家分享两条路径：AI研发与AI办公。今天的题目是《金融AI Agent工程化应用：从技术赋能到价值重构》。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时间：1:00–2:45｜现场动作：先提问，停顿两秒，再依次点亮三段工程。</a:t>
            </a:r>
          </a:p>
          <a:p>
            <a:pPr/>
            <a:r>
              <a:rPr lang="zh-CN" dirty="0"/>
              <a:t>过去两年，很多机构已经做过Agent，也已经有项目真正进入生产。所以今天的问题，不是“Agent能不能做”，而是“怎样才算把一个Agent做好”。</a:t>
            </a:r>
          </a:p>
          <a:p>
            <a:pPr/>
            <a:r>
              <a:rPr lang="zh-CN" dirty="0"/>
              <a:t>我的判断是，能回答，只说明模型具备了语言能力；能交付，才说明它进入了工程体系。从一个回答走到一个可交付的Agent，至少要补齐三段工程。</a:t>
            </a:r>
          </a:p>
          <a:p>
            <a:pPr/>
            <a:r>
              <a:rPr lang="zh-CN" dirty="0"/>
              <a:t>第一段是业务语义与上下文。目标、口径、规则、数据版本和历史状态，是否在同一任务里被正确装配？上下文不对，生成得越流畅，偏离可能越大。第二段是系统行动与权限。它能不能在授权边界内进入现有系统、调用工具、完成真实动作？只聊天不调用工具，就进不了流程。第三段是验证责任与运营。错误能否被发现、停止、解释、回退和追责？高责任场景里，没有证据的自动，不是智能，是风险。</a:t>
            </a:r>
          </a:p>
          <a:p>
            <a:pPr/>
            <a:r>
              <a:rPr lang="zh-CN" dirty="0"/>
              <a:t>所以今天不是从某个产品讲起，而是沿着一条推理线往下走：先看AI工程的第一性原理，再看工程化体系，接着看行业成熟度与实践，最后落到亿信华辰在AI研发和AI办公上的两条价值重构路径。结束前，我们会回到一个更尖锐的问题：如果AI Agent让系统上线与监管报送都快了一倍，贵机构真正变难的，会是什么？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时间：2:45–4:15｜现场动作：三条事实逐条揭示，语速放慢。</a:t>
            </a:r>
          </a:p>
          <a:p>
            <a:pPr/>
            <a:r>
              <a:rPr lang="zh-CN" dirty="0"/>
              <a:t>讨论怎么用AI之前，先要承认三条工程事实。这不是某一家模型的缺点，而是大模型进入生产时共同面对的约束。</a:t>
            </a:r>
          </a:p>
          <a:p>
            <a:pPr/>
            <a:r>
              <a:rPr lang="zh-CN" dirty="0"/>
              <a:t>第一，AI是无状态的。每一次推理，不会天然保留上一次任务的完整中间状态。上下文给什么，它就基于什么作答。所以，把任务交给AI，不是问一句话就结束，而是要把目标、状态、历史决定和当前版本持续装配给它。</a:t>
            </a:r>
          </a:p>
          <a:p>
            <a:pPr/>
            <a:r>
              <a:rPr lang="zh-CN" dirty="0"/>
              <a:t>第二，上下文窗口是有限的。不是把所有制度、合同、代码、报表都塞进去，答案就会更准。信息太少，没有依据；信息太多，关键约束反而被稀释。工程上真正要做的，是在每一步选择恰当的信息，而不是堆满窗口。</a:t>
            </a:r>
          </a:p>
          <a:p>
            <a:pPr/>
            <a:r>
              <a:rPr lang="zh-CN" dirty="0"/>
              <a:t>第三，幻觉不可完全消除。模型可能生成看似合理、却没有依据的答案。金融不能靠一句“请确保准确”来兜底。可信度要靠来源、规则、校验、人工确认和版本证据共同证明。</a:t>
            </a:r>
          </a:p>
          <a:p>
            <a:pPr/>
            <a:r>
              <a:rPr lang="zh-CN" dirty="0"/>
              <a:t>把三条放在一起，就得到今天整场分享的底层公式：模型能力乘上工程确定性，才等于可进入生产的AI。模型越强，这个乘法仍然成立，只是上限更高，不会自动变成确定性系统。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时间：4:15–6:45｜现场动作：按定义、对比、能力栈、四个结果顺序指图。</a:t>
            </a:r>
          </a:p>
          <a:p>
            <a:pPr/>
            <a:r>
              <a:rPr lang="zh-CN" dirty="0"/>
              <a:t>那工程化到底要做什么？一句话：把模型的不确定性，关进一个可运营、可验证、可停止、可追责的确定性外壳。</a:t>
            </a:r>
          </a:p>
          <a:p>
            <a:pPr/>
            <a:r>
              <a:rPr lang="zh-CN" dirty="0"/>
              <a:t>先把一个容易误解的地方讲清楚。工程化不等于“标准化＋模块化＋可验证＋可治理＋可持续演进”这五个词的堆叠。标准化、模块化是手段；可验证、可治理、可持续演进是目标属性。更准确地说，工程化是围绕“可重复交付”，同时设计四类体系：第一是约束，包括目标、权限、边界与停止条件；第二是运行，包括上下文、Agent Loop、工具、状态、记忆和模型路由；第三是验证，包括评测、回归、人工确认、观测与审计；第四是演化，包括版本、回退、知识沉淀与能力复用。四类体系相互作用，才构成工程化。普通AI应用往往是一次Prompt、一次模型输出；Agent工程化应用则要有目标、有循环、有工具、有中间状态，更要有证据。</a:t>
            </a:r>
          </a:p>
          <a:p>
            <a:pPr/>
            <a:r>
              <a:rPr lang="zh-CN" dirty="0"/>
              <a:t>看中间这张能力栈。最上面是业务任务层，先定义可验收目标、权限边界和停止条件。中间是Harness/Runtime，承载上下文、Agent Loop、工具与MCP、状态与记忆、模型路由。下面不是“技术细节”，而是Control Plane：权限与沙箱、人工确认、评测与回归、观测与审计、版本与回退。正是这一层，让AI能停止、能回退、能解释、能追责。</a:t>
            </a:r>
          </a:p>
          <a:p>
            <a:pPr/>
            <a:r>
              <a:rPr lang="zh-CN" dirty="0"/>
              <a:t>工程化最后要得到四个结果：可重复、可解释、可恢复、可接手。不是这次演示成功，而是下一次还能跑通；不是只有作者知道，而是换一个人也能审查和接手。</a:t>
            </a:r>
          </a:p>
          <a:p>
            <a:pPr/>
            <a:r>
              <a:rPr lang="zh-CN" dirty="0"/>
              <a:t>这件事不只金融需要。任何准备把Agent规模化接入真实业务的行业，都需要工程化。只是金融把准确性、可靠性、可追溯性和安全合规推到了最高，所以更不能把“模型可用”当成“系统可交付”。技术赋能做的是加法，让某个环节更快；工程化做的是乘法，让结果可被信任；再往前走，才是价值重构，让能力可以被复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时间：6:45–9:00｜现场动作：先讲公开信号，再讲插件树，最后落到四个启示。</a:t>
            </a:r>
          </a:p>
          <a:p>
            <a:pPr/>
            <a:r>
              <a:rPr lang="zh-CN" dirty="0"/>
              <a:t>这个判断不是凭感觉。最近一个很值得关注的公开信号，是DeepSeek开源的DeepSeek Harness。我要强调，它是一个developer preview，会快速迭代，也存在兼容性变化；我们引用它，不是推荐某一款产品，而是观察一种工程方向。</a:t>
            </a:r>
          </a:p>
          <a:p>
            <a:pPr/>
            <a:r>
              <a:rPr lang="zh-CN" dirty="0"/>
              <a:t>按官方定义，它是一个开源的Agent Harness，核心口号是“Everything is a Plugin”。它由Cordis框架驱动，运行中的Harness不是一大块不可拆的程序，而是由profile、bundle、patch逐层组合出的插件树。模型适配器、工具注册表、会话日志，甚至Agent Loop本身，都可以作为插件替换。</a:t>
            </a:r>
          </a:p>
          <a:p>
            <a:pPr/>
            <a:r>
              <a:rPr lang="zh-CN" dirty="0"/>
              <a:t>这背后有三层意义。第一，平台竞争从“模型调用”转向“运行与扩展边界”。第二，能力不再硬编码在核心里，而是通过稳定接口接入、组合、卸载。第三，会话日志、能力seam、共享上下文、类型化事件和可逆副作用，让插件化不只是一种开发方式，也是一种治理方式。</a:t>
            </a:r>
          </a:p>
          <a:p>
            <a:pPr/>
            <a:r>
              <a:rPr lang="zh-CN" dirty="0"/>
              <a:t>这里我也想说一句可能有点残酷的话：在AI时代，你做得慢，很多时候等于不要做。不是说金融机构要追热点、抢首发，而是技术窗口和交付节奏已经变了。如果每一代模型、每一类工具出现，都要从头补一遍运行、接口、证据和治理，机构就会一直停留在追赶。工程化的意义，正是让下一次升级不必推倒重来。</a:t>
            </a:r>
          </a:p>
          <a:p>
            <a:pPr/>
            <a:r>
              <a:rPr lang="zh-CN" dirty="0"/>
              <a:t>对金融机构的启示有四点：看平台，先看它是不是只换了外壳；再看能力接口能否稳定替换；再看证据是否贯穿运行；最后看插件化能否把组织知识沉淀下来。真正的生态，不是插件数量多，而是别人愿意按你的能力接口建设。这个方向可能形成长期壁垒，但不能说今天已经“无可替代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时间：9:00–11:00｜现场动作：四张卡从左到右推进，最后落到“价值方程”与复利。</a:t>
            </a:r>
          </a:p>
          <a:p>
            <a:pPr/>
            <a:r>
              <a:rPr lang="zh-CN" dirty="0"/>
              <a:t>讲到这里，要回答题目里的第二个词：什么叫“价值重构”。它不是把同一件事做得更快。那叫技术赋能。价值重构，是价值方程本身发生了变化。</a:t>
            </a:r>
          </a:p>
          <a:p>
            <a:pPr/>
            <a:r>
              <a:rPr lang="zh-CN" dirty="0"/>
              <a:t>第一个变化，价值单位变了。过去我们数人天、数功能、数上线节点；以后更重要的是可验收结果、过程证据和责任边界。先定义什么叫“完成”，再谈自动化。</a:t>
            </a:r>
          </a:p>
          <a:p>
            <a:pPr/>
            <a:r>
              <a:rPr lang="zh-CN" dirty="0"/>
              <a:t>第二个变化，成本结构变了。过去大量成本花在重复检索、复制、核对、补材料；工程化以后，上下文装配、工具调用、验证、回滚和审计逐步内建。生成越便宜，验证反而越值钱。</a:t>
            </a:r>
          </a:p>
          <a:p>
            <a:pPr/>
            <a:r>
              <a:rPr lang="zh-CN" dirty="0"/>
              <a:t>第三个变化，稀缺能力变了。会写、会查、会做初稿，仍然重要，但不再稀缺；真正稀缺的是定义问题、设定边界、设计验收与熔断、判断例外并承担责任。</a:t>
            </a:r>
          </a:p>
          <a:p>
            <a:pPr/>
            <a:r>
              <a:rPr lang="zh-CN" dirty="0"/>
              <a:t>第四个变化，能力资产变了。过去经验散在项目文档和个人身上；以后应该沉淀成上下文、技能、连接器、评测集、证据包和门禁。一次交付，可以多次复用。</a:t>
            </a:r>
          </a:p>
          <a:p>
            <a:pPr/>
            <a:r>
              <a:rPr lang="zh-CN" dirty="0"/>
              <a:t>所以我把三者画成一条递进关系：技术赋能，是让单点更快；工程化，是让结果乘以可信；价值重构，是让复用乘以组织能力。效率红利往往是一次性的，上下文、技能、证据和连接器才会持续复利。对金融的含义很直接：更快的代码、报表和材料只是技术赋能；能持续交付、可追溯、可审计、可复用，才是价值重构。后面判断EsXCode和EsXWork是否有效，也看这四个迁移，而不是只看生成了多少内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时间：11:00–13:15｜现场动作：从左到右推进，讲完提问，不要求举手。</a:t>
            </a:r>
          </a:p>
          <a:p>
            <a:pPr/>
            <a:r>
              <a:rPr lang="zh-CN" dirty="0"/>
              <a:t>有了工程视角，再看金融AI Agent的成熟度三阶：辅助型、协同型、自主型。</a:t>
            </a:r>
          </a:p>
          <a:p>
            <a:pPr/>
            <a:r>
              <a:rPr lang="zh-CN" dirty="0"/>
              <a:t>辅助型AI，AI是工具，人是决策主体和流程主导者。AI负责检索、摘要、翻译、公式计算、格式校验和初稿生成；人发起、人审核、人最终决策，AI输出只作参考。典型例子是RAG问答、报表初稿、OCR提取和代码补全。它的特点是单向输出、无闭环、没有独立目标。</a:t>
            </a:r>
          </a:p>
          <a:p>
            <a:pPr/>
            <a:r>
              <a:rPr lang="zh-CN" dirty="0"/>
              <a:t>协同型AI，AI是对等协作者，人与AI双向交互、分工完成复杂任务。AI可以主动提出子方案、调用工具、发现异常、追问信息、阶段汇报；但人保留全局目标审批权和关键节点拦截权，AI自主执行子任务。典型例子是带Agent Loop的监管报送智能体、数据治理核查智能体。它有循环、有工具、有中间状态，但不脱离人的关键节点审批。</a:t>
            </a:r>
          </a:p>
          <a:p>
            <a:pPr/>
            <a:r>
              <a:rPr lang="zh-CN" dirty="0"/>
              <a:t>自主型AI拥有完整目标闭环，在预设约束和权限边界内独立拆解、规划、执行、自校验、重试，多子Agent协同持续完成任务，只在异常阈值触发时上报人。人负责事前设定目标、规则边界和熔断策略。请特别注意，金融里的自主不等于无监管、无审计、无熔断，而是“约束下自主”。它的特点是长任务闭环、自我反思、动态规划、持续运行。</a:t>
            </a:r>
          </a:p>
          <a:p>
            <a:pPr/>
            <a:r>
              <a:rPr lang="zh-CN" dirty="0"/>
              <a:t>我想请各位在心里做一个判断：贵机构现在把AI放在工具位、协同位，还是目标位？不用回答我。更重要的是，升级的不是模型名称，而是AI承担的目标、控制权与责任边界。我们的EsXCode和EsXWork，主战场都在协同型；同时具备Agent Loop、工具调用、状态与执行等自主型要素。但能不能真正走到自主，不由产品名字决定，而由业务闭环、数据、权限和治理成熟度决定。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时间：13:15–15:15｜现场动作：强调“公开部署/公开试点”，不把案例说成效果承诺。</a:t>
            </a:r>
          </a:p>
          <a:p>
            <a:pPr/>
            <a:r>
              <a:rPr lang="zh-CN" dirty="0"/>
              <a:t>这个判断也不是凭感觉。看公开市场，头部机构大致也沿着三个阶段推进，但共同点是：AI已经进入流程，自主始终带着治理边界。</a:t>
            </a:r>
          </a:p>
          <a:p>
            <a:pPr/>
            <a:r>
              <a:rPr lang="zh-CN" dirty="0"/>
              <a:t>辅助型阶段，摩根士丹利用Assistant和Debrief帮助财富顾问做会前检索、会后总结，AI出草稿，顾问确认；BBVA把ChatGPT Enterprise扩展到11,000个许可证，用于内容、分析和日常办公。它们改变的是工作入口，但没有改变最终责任链。</a:t>
            </a:r>
          </a:p>
          <a:p>
            <a:pPr/>
            <a:r>
              <a:rPr lang="zh-CN" dirty="0"/>
              <a:t>协同型阶段，公开报道显示，JPMorgan的LLM Suite梳理了450多个生成式AI用例；中国工商银行的“工银智涌”，公开报道援引年报口径，已在30多个业务领域落地500多个AI场景。规模已经很大，但主流仍是人机共同完成流程，人负责业务判断与关键确认。</a:t>
            </a:r>
          </a:p>
          <a:p>
            <a:pPr/>
            <a:r>
              <a:rPr lang="zh-CN" dirty="0"/>
              <a:t>再往右，花旗的Stylus Workspaces with Agentic AI把多个企业级系统连接起来，公开口径是分阶段推广、数千名员工先行访问；平安租赁已建成大模型平台，发布AI数字助手应用市场和租赁智能体平台，覆盖销售、风控、运营，推出60余个数字助手，累计调用超过百万次。这里要注意，公开信息支持的是“部署、试点、规模化应用”，不是完整目标闭环，也不是脱离人的全自动。</a:t>
            </a:r>
          </a:p>
          <a:p>
            <a:pPr/>
            <a:r>
              <a:rPr lang="zh-CN" dirty="0"/>
              <a:t>对租赁和证券的启示很直接：不要用“自主”包装一个还没有闭环的业务。先把高价值场景、知识数据、系统连接、验证机制补齐，再谈Agent能走多远。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时间：15:15–16:45｜现场动作：按五个建设维度横向比较，不逐格念表。</a:t>
            </a:r>
          </a:p>
          <a:p>
            <a:pPr/>
            <a:r>
              <a:rPr lang="zh-CN" dirty="0"/>
              <a:t>如果把三个阶段翻译成建设清单，会发现每个阶段买的、建的、管的都不是同一件事。</a:t>
            </a:r>
          </a:p>
          <a:p>
            <a:pPr/>
            <a:r>
              <a:rPr lang="zh-CN" dirty="0"/>
              <a:t>辅助型阶段，重点是高频、低风险、可人工复核的知识助手和文档任务。数据上先做企业知识库和权限检索；系统上接少量API或单点工具；治理上先保证答案可见、出处可查；组织上从个人采用和培训开始。</a:t>
            </a:r>
          </a:p>
          <a:p>
            <a:pPr/>
            <a:r>
              <a:rPr lang="zh-CN" dirty="0"/>
              <a:t>协同型阶段，场景进入业务流程中的一个节点。数据要有语义层、指标口径和状态；系统要有API、MCP和工作流，并且允许受控写入和回退；治理要有评测、回归和人工卡点；组织上需要业务、科技、风险共同对结果负责。</a:t>
            </a:r>
          </a:p>
          <a:p>
            <a:pPr/>
            <a:r>
              <a:rPr lang="zh-CN" dirty="0"/>
              <a:t>自主型阶段，处理的是跨步骤任务、异常监测和自动闭环。数据需要实时状态、记忆和版本；系统需要多工具组合、任务编排和事件触发；治理需要可观测、停止条件、审计和责任边界；组织上要有AI Ops和持续运营机制。</a:t>
            </a:r>
          </a:p>
          <a:p>
            <a:pPr/>
            <a:r>
              <a:rPr lang="zh-CN" dirty="0"/>
              <a:t>所以我经常说，AI Agent不是“买一个模型”的项目，而是一次能力建设。模型会换，工具会换，真正留在机构里的，是数据、连接、评测、流程和组织经验。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时间：16:45–18:30｜现场动作：先收束上半场，再明确两条价值重构路径。</a:t>
            </a:r>
          </a:p>
          <a:p>
            <a:pPr/>
            <a:r>
              <a:rPr lang="zh-CN" dirty="0"/>
              <a:t>接下来，我们把视线落回机构最现实的两类生产问题：系统怎么改，工作怎么变。这也是今天下半场的两条主线，AI研发与AI办公。不是两个产品目录，而是两种工程化落地路径。</a:t>
            </a:r>
          </a:p>
          <a:p>
            <a:pPr/>
            <a:r>
              <a:rPr lang="zh-CN" dirty="0"/>
              <a:t>对在座很多信息科技负责人来说，系统建设不是抽象话题。新系统要建设，存量系统要二开、改造、接新接口、满足新监管要求。即使机构不自己写全部代码，也仍然要掌握需求、架构、数据边界、验收和发布权。我们做EsXCode，不是要求每家机构变成软件公司，而是让AI在授权边界内理解现有系统，服务存量二开和新系统建设，把核心能力、数据边界、模型选择和发布权留在机构自己手里。</a:t>
            </a:r>
          </a:p>
          <a:p>
            <a:pPr/>
            <a:r>
              <a:rPr lang="zh-CN" dirty="0"/>
              <a:t>另一条路径是办公。制度、合同、数据、材料、会议、审批，本来就是机构每天的真实工作。我们做EsXWork，定位是机构级AI办公平台；监管报送只是它上面一个责任很高的专业空间，用来检验平台能不能真正进入高责任交付。</a:t>
            </a:r>
          </a:p>
          <a:p>
            <a:pPr/>
            <a:r>
              <a:rPr lang="zh-CN" dirty="0"/>
              <a:t>这两个平台主战场都是协同型，同时具备自主型所需的部分工程要素。但能不能真正走到自主，不取决于产品名字，而取决于业务闭环、数据、权限和治理成熟度。下面先看研发，再看办公，最后再看它们共同的底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时间：18:30–19:45｜现场动作：强调新建与改造都要立项，避免“AI绕过治理”的误解。</a:t>
            </a:r>
          </a:p>
          <a:p>
            <a:pPr/>
            <a:r>
              <a:rPr lang="zh-CN" dirty="0"/>
              <a:t>先说研发。过去做系统，慢的往往不是某一段代码，而是长链上的人与证据。</a:t>
            </a:r>
          </a:p>
          <a:p>
            <a:pPr/>
            <a:r>
              <a:rPr lang="zh-CN" dirty="0"/>
              <a:t>左边两条入口：新建系统，和存量改造、二开。它们看起来不同，但最后都要穿过同一条治理线：需求、立项、预算、采购、方案、安全、上线、验收和责任。AI不会取消这些动作，因为它不改变“为什么做、谁批准、谁负责”这三个问题。改变的应该是立项之后的交付方式。</a:t>
            </a:r>
          </a:p>
          <a:p>
            <a:pPr/>
            <a:r>
              <a:rPr lang="zh-CN" dirty="0"/>
              <a:t>过去立项之后，交付还是一条串行链：需求与方案、设计与排期、开发与配置、集成与测试、UAT与安全、上线与移交。每一段都依赖上一段的文档、决定和人。最贵的有三件事：第一，上下文靠人带；第二，影响靠经验判断；第三，证据往往到上线前才补。结果可能能上线，却很难解释它为什么可信。</a:t>
            </a:r>
          </a:p>
          <a:p>
            <a:pPr/>
            <a:r>
              <a:rPr lang="zh-CN" dirty="0"/>
              <a:t>所以AI真正要改造的，不是某一段编码，而是“上下文—变更—验证—交付”这条长链。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时间：19:45–21:00｜现场动作：突出“接得进、改得对、证得明”。</a:t>
            </a:r>
          </a:p>
          <a:p>
            <a:pPr/>
            <a:r>
              <a:rPr lang="zh-CN" dirty="0"/>
              <a:t>今天的变化是什么？AI把“写出来”变快了，但把“证明可以上线”推到了台前。</a:t>
            </a:r>
          </a:p>
          <a:p>
            <a:pPr/>
            <a:r>
              <a:rPr lang="zh-CN" dirty="0"/>
              <a:t>理解任务、生成需求稿、原型、代码、SQL和测试用例，这些环节都可以加速。但一旦要接进真实系统，问题马上变了：现有模块能不能兼容？接口、数据表、报表和校验规则会不会受影响？权限和环境是否满足？测试能不能复现？出了问题怎么退？</a:t>
            </a:r>
          </a:p>
          <a:p>
            <a:pPr/>
            <a:r>
              <a:rPr lang="zh-CN" dirty="0"/>
              <a:t>所以瓶颈从“做出来”转移到三个词：接得进、改得对、证得明。</a:t>
            </a:r>
          </a:p>
          <a:p>
            <a:pPr/>
            <a:r>
              <a:rPr lang="zh-CN" dirty="0"/>
              <a:t>接得进，是在授权边界内理解代码、文档、接口、数据字典和业务规则，服务新系统，也服务存量二开。改得对，是变更之前先回答影响面，哪些能自动，哪些必须评审，回退路径是什么。证得明，是每次交付都能回到同一组证据：需求依据、变更差异、自动测试、人工确认、版本和回退包、审计留痕。</a:t>
            </a:r>
          </a:p>
          <a:p>
            <a:pPr/>
            <a:r>
              <a:rPr lang="zh-CN" dirty="0"/>
              <a:t>AI研发的价值，不是让代码更多，而是让每一次系统变更更快被验证、被解释、被接手。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时间：21:00–22:45｜现场动作：六步闭环逐段点亮，强调“接入现有系统”。</a:t>
            </a:r>
          </a:p>
          <a:p>
            <a:pPr/>
            <a:r>
              <a:rPr lang="zh-CN" dirty="0"/>
              <a:t>这就是我们自研的EsXCode要解决的问题。回到第4页的四类体系，EsXCode不是把AI放在聊天框里写几段代码，而是用约束、运行、验证、演化，把研发Agent做成一条可重复交付的工程链。</a:t>
            </a:r>
          </a:p>
          <a:p>
            <a:pPr/>
            <a:r>
              <a:rPr lang="zh-CN" dirty="0"/>
              <a:t>左边是真实工程上下文：现有系统和模块、代码仓库和历史、接口模型和数据、规范文档和规则、运行与测试环境。AI先理解系统，再开始改系统。它服务两类任务：新系统建设，和存量系统二开。</a:t>
            </a:r>
          </a:p>
          <a:p>
            <a:pPr/>
            <a:r>
              <a:rPr lang="zh-CN" dirty="0"/>
              <a:t>中间是六步闭环。第一步，接入与理解，形成任务上下文和基线。第二步，计划与影响分析，看调用链、表、接口、报表的影响面。第三步，原型与方案，把想法变成可评审的设计对象。第四步，变更生成，代码、SQL、配置、测试草案都以可Diff的候选形式出现。第五步，测试与审查，自动测试、AutoReview、回归，证据不足不进入提测。第六步，提测、发布与回退，统一运行、版本包、回退脚本和交付证据。</a:t>
            </a:r>
          </a:p>
          <a:p>
            <a:pPr/>
            <a:r>
              <a:rPr lang="zh-CN" dirty="0"/>
              <a:t>右边是人的控制点：立项和安全边界、业务和架构确认、发布和验收签字。平台不替人做业务决定，而是把人的判断放在正确的门禁位置。</a:t>
            </a:r>
          </a:p>
          <a:p>
            <a:pPr/>
            <a:r>
              <a:rPr lang="zh-CN" dirty="0"/>
              <a:t>一句话，EsXCode不是替换客户现有系统，而是把AI接进系统持续演进的过程。它交付的不是更多代码，而是一条可理解、可审查、可回退、可接手的系统变更链。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时间：22:45–24:00｜现场动作：四个证据面依次出现，70%最后揭示。</a:t>
            </a:r>
          </a:p>
          <a:p>
            <a:pPr/>
            <a:r>
              <a:rPr lang="zh-CN" dirty="0"/>
              <a:t>这里不讲概念，给大家看四个证据面。</a:t>
            </a:r>
          </a:p>
          <a:p>
            <a:pPr/>
            <a:r>
              <a:rPr lang="zh-CN" dirty="0"/>
              <a:t>第一，需求上下文。需求文档、对话上下文、版本状态在同一个工作区互相引用，AI不是凭空猜。第二，原型生成。原型和代码变更在同一任务里继续迭代，不是最后做一次演示。第三，AutoReview和Plan。审查项、修复计划和门禁成为研发动作的一部分，而不是上线前补材料。第四，运行提测。前端、服务、缓存、数据库和存储进入同一运行栈，能真实跑起来。</a:t>
            </a:r>
          </a:p>
          <a:p>
            <a:pPr/>
            <a:r>
              <a:rPr lang="zh-CN" dirty="0"/>
              <a:t>这四个面背后是一件事：让AI研发从“看起来会写”变成“可以被检查、被复现、被接手”。</a:t>
            </a:r>
          </a:p>
          <a:p>
            <a:pPr/>
            <a:r>
              <a:rPr lang="zh-CN" dirty="0"/>
              <a:t>亿信华辰公开数据，今年研发侧AI提效超过70%。这个数字只代表我们研发侧自己的效率口径，不泛化为客户收益、项目ROI或效果承诺。它真正说明的是，当上下文、工具、验证和版本被工程化之后，效率提升才有可能稳定发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时间：24:00–25:30｜现场动作：先讲五条实践，再讲四类能力。</a:t>
            </a:r>
          </a:p>
          <a:p>
            <a:pPr/>
            <a:r>
              <a:rPr lang="zh-CN" dirty="0"/>
              <a:t>但工具不是全部。我们在自研产品研发过程中更深的一个体会是：研发组织的分水岭，不是谁会用AI，而是谁先重写工作方式。</a:t>
            </a:r>
          </a:p>
          <a:p>
            <a:pPr/>
            <a:r>
              <a:rPr lang="zh-CN" dirty="0"/>
              <a:t>我们把日常动作沉淀成五条经验。第一，规划恰好足够。从一次真实变更开始，不把长周期路线图写死。第二，先做可验证产物。原型、最小变更、提测链接，用真实效果推进决策，而不是只靠会议争论。第三，重复问题先自动化。同类问题出现第二次，就评估能不能沉淀成脚本、技能或流程。第四，Trust but Verify。AI做规则化检查，人审业务逻辑、安全、长期可维护和体验。第五，主动删除旧流程。定期追问，这道审批、汇报、交接，今天还创造价值吗？</a:t>
            </a:r>
          </a:p>
          <a:p>
            <a:pPr/>
            <a:r>
              <a:rPr lang="zh-CN" dirty="0"/>
              <a:t>当生成变便宜，团队更贵的是四类能力：判断力、上下文、验证和系统设计。角色也会变化：产品和业务更早做原型，研发更早参与场景判断，质量角色前移为规则、评测和门禁设计。</a:t>
            </a:r>
          </a:p>
          <a:p>
            <a:pPr/>
            <a:r>
              <a:rPr lang="zh-CN" dirty="0"/>
              <a:t>组织转型不是“人人都买了AI”，而是组织开始用AI重写成本结构。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时间：25:30–26:45｜现场动作：从一张断点地图讲起，贴近租赁与证券日常。</a:t>
            </a:r>
          </a:p>
          <a:p>
            <a:pPr/>
            <a:r>
              <a:rPr lang="zh-CN" dirty="0"/>
              <a:t>再看办公。过去做办公，信息在生产，工作却在人之间搬运。</a:t>
            </a:r>
          </a:p>
          <a:p>
            <a:pPr/>
            <a:r>
              <a:rPr lang="zh-CN" dirty="0"/>
              <a:t>制度、合同、Excel、报告、会议和审批分散在不同入口。真正耗时的不是“不会写”，而是查、抄、核、改、等确认。制度在系统里，口径在人脑里；数据在报表里，解释在邮件里；会议结论在对话里，待办靠人追；审批卡在谁那里，不透明；共享盘文件很多，版本很难找。</a:t>
            </a:r>
          </a:p>
          <a:p>
            <a:pPr/>
            <a:r>
              <a:rPr lang="zh-CN" dirty="0"/>
              <a:t>租赁机构的合同、投放材料、租后风险分析、资产分类、监管报送，证券机构的研究底稿、合规审查、客户服务和运营报表，都会碰到同一种断点：口径散、数据难核、材料重复写、流程难交接。</a:t>
            </a:r>
          </a:p>
          <a:p>
            <a:pPr/>
            <a:r>
              <a:rPr lang="zh-CN" dirty="0"/>
              <a:t>AI如果只做问答，仍然接不上完整工作。办公AI的起点，不是再开一个聊天入口，而是把知识、任务、系统与责任接回同一条工作链。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时间：26:45–29:00｜现场动作：明确“AI办公平台”定位，举公开产品形态但不宣称同架构。</a:t>
            </a:r>
          </a:p>
          <a:p>
            <a:pPr/>
            <a:r>
              <a:rPr lang="zh-CN" dirty="0"/>
              <a:t>这就是EsXWork，我们自研的机构级AI办公平台。它面向全机构的日常工作，监管报送只是上面一个责任很高、链路很长的专业空间。</a:t>
            </a:r>
          </a:p>
          <a:p>
            <a:pPr/>
            <a:r>
              <a:rPr lang="zh-CN" dirty="0"/>
              <a:t>工作可以从一句话任务、文件邮件、会议、知识库、数据或业务系统事件进入。平台接住之后，交付的不是一段文字，而是一个可验收的结果。</a:t>
            </a:r>
          </a:p>
          <a:p>
            <a:pPr/>
            <a:r>
              <a:rPr lang="zh-CN" dirty="0"/>
              <a:t>它至少有八类能力。企业知识与检索，按权限给出带出处和版本的答案；文档与材料，处理Word、Excel、PPT、PDF，完成起草、修改、比对和渲染检查；问数与分析，把口径、图表、明细和数据来源一起交付；会议、任务与看板，从纪要推进到责任人、时限和进度；调研与专业报告，形成有来源的结构化方案；流程与人工卡点，让AI推进流程、人保留关键决定权；多Agent与技能，做专业分工、并行任务和统稿验收；连接器，通过API、MCP、OA、ERP和数据平台受控读写。</a:t>
            </a:r>
          </a:p>
          <a:p>
            <a:pPr/>
            <a:r>
              <a:rPr lang="zh-CN" dirty="0"/>
              <a:t>从公开产品形态看，它不仅是一个聊天框，更接近WorkBuddy这类AI办公工作台：自然语言发起、任务规划、多模态结果交付、多Agent并行、资料库与连接器扩展、权限沙箱、项目协作、记忆和模型配置。EsXWork按金融机构私有化、多模型、权限审计和数据边界要求配置。这里讲的是能力类比，不宣称内部架构相同，具体能力以项目验证为准。更重要的是，这些能力不是一组孤立功能，而是共同服从第4页的工程化约束：任务有边界，动作有权限，结果有证据，产物有版本。</a:t>
            </a:r>
          </a:p>
          <a:p>
            <a:pPr/>
            <a:r>
              <a:rPr lang="zh-CN" dirty="0"/>
              <a:t>所有能力共用一层可治理的工作空间：个人记忆、项目上下文、企业知识与图谱、权限审计、人工确认和私有化。这样AI办公才不是一组孤立的聊天工具。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时间：29:00–31:00｜现场动作：强调“制度下发是起点，报表只是结果”，正向链与证据回流同时讲。</a:t>
            </a:r>
          </a:p>
          <a:p>
            <a:pPr/>
            <a:r>
              <a:rPr lang="zh-CN" dirty="0"/>
              <a:t>监管报送为什么适合检验AI办公平台？因为它责任高、链路长、证据要求强。</a:t>
            </a:r>
          </a:p>
          <a:p>
            <a:pPr/>
            <a:r>
              <a:rPr lang="zh-CN" dirty="0"/>
              <a:t>很多人以为监管报送是从报表开始。其实不是。起点是制度下发：通知、办法、附件，明确报告义务和频率。然后才是变更识别、口径、模型、ETL、校验规则、报表、报文和评审。新增报表、表样变更、填报说明或审核公式调整、报表停用，四类变化会带来不同的影响面。</a:t>
            </a:r>
          </a:p>
          <a:p>
            <a:pPr/>
            <a:r>
              <a:rPr lang="zh-CN" dirty="0"/>
              <a:t>报表只是结果，不是起点。一条制度变化不是“再做一张表”，而是生成一组版本化变更。比如新增报表，会同时影响口径、模型、取数、规则、报表和报文；表样变更，必须检查跨表和跨期一致性；填报说明变化，最容易被当作小改动低估；报表停用，则要先证明谁还在用、历史如何归档。</a:t>
            </a:r>
          </a:p>
          <a:p>
            <a:pPr/>
            <a:r>
              <a:rPr lang="zh-CN" dirty="0"/>
              <a:t>同时，执行端不能只交结果，还要把证据反向送回去：口径依据、模型映射和血缘、测试和差异、版本和回退包、评审意见和审计留痕。每一次变化都要回答：为什么改、改了什么、怎么验证、出错怎么退、由谁确认。</a:t>
            </a:r>
          </a:p>
          <a:p>
            <a:pPr/>
            <a:r>
              <a:rPr lang="zh-CN" dirty="0"/>
              <a:t>今天分享的是当前研发与项目实践中的内容，重点讲已经形成的能力和作业方式，不讨论未来路线图和时间表。把这条变化链做成Agent，本质上就是工程化四类体系在监管场景里的具体展开：约束定义每一次报送的边界，运行组织多Agent协作，验证把口径、模型和报文的证据串起来，演化让版本、回退和知识能够持续复用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时间：31:00–32:15｜现场动作：对话、看板、卡点三块依次揭示。</a:t>
            </a:r>
          </a:p>
          <a:p>
            <a:pPr/>
            <a:r>
              <a:rPr lang="zh-CN" dirty="0"/>
              <a:t>落到工作界面，EsXWork上的监管专业空间围绕同一个任务对象展开。</a:t>
            </a:r>
          </a:p>
          <a:p>
            <a:pPr/>
            <a:r>
              <a:rPr lang="zh-CN" dirty="0"/>
              <a:t>第一，对话工作台。用自然语言下发任务，A0负责拆解，上下文连续。同一个会话里，能看到任务、执行轨迹和已产出物，不需要在多个系统之间找线索。</a:t>
            </a:r>
          </a:p>
          <a:p>
            <a:pPr/>
            <a:r>
              <a:rPr lang="zh-CN" dirty="0"/>
              <a:t>第二，工作看板。泳道推进，卡点高亮，一次通过率可见。进度不再靠口头汇报，任务状态、产物数量和等待时长都可查。</a:t>
            </a:r>
          </a:p>
          <a:p>
            <a:pPr/>
            <a:r>
              <a:rPr lang="zh-CN" dirty="0"/>
              <a:t>第三，人工确认卡点。置信度、原文对照、通过、修改、驳回都留痕。卡点不是弹窗，而是带条款依据、修改记录和回退选项的专业确认。</a:t>
            </a:r>
          </a:p>
          <a:p>
            <a:pPr/>
            <a:r>
              <a:rPr lang="zh-CN" dirty="0"/>
              <a:t>底层的任务与阶段、执行证据、人工卡点、版本与回退、审计留痕，是同一条责任链，不是四套系统拼接。它正好对应第4页的工程化：对话工作台负责运行，工作看板呈现状态，人工卡点承担验证，审计轨迹把责任留在流程里。界面来自当前研发与项目实践环境，数据、客户和人员信息已经脱敏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时间：32:15–33:45｜现场动作：按A1到A8快速走一遍，不逐卡细讲。</a:t>
            </a:r>
          </a:p>
          <a:p>
            <a:pPr/>
            <a:r>
              <a:rPr lang="zh-CN" dirty="0"/>
              <a:t>为什么不做一个万能Agent？因为专业任务需要专业上下文、专业工具和不同验收条件。所以这里做了八个专业Agent，由A0负责编排。</a:t>
            </a:r>
          </a:p>
          <a:p>
            <a:pPr/>
            <a:r>
              <a:rPr lang="zh-CN" dirty="0"/>
              <a:t>A1做制度解读，把条款转成变更清单和口径草案；A2做智能问数，解释口径、血缘和影响；A3做数据模型设计，输出ER、DDL和回退脚本；A4做ETL生成，输出SQL、编排和回退；A5做校验规则，把规则转成可执行SQL；A6做报表设计，处理表样、取数和差异；A7做报文生成，处理XML、JSON和一致性；A8做质量评审，组织测试、证据和归档。</a:t>
            </a:r>
          </a:p>
          <a:p>
            <a:pPr/>
            <a:r>
              <a:rPr lang="zh-CN" dirty="0"/>
              <a:t>三类人工卡点贯穿其中：业务口径、模型评审、发布确认。拆开之后，每一步可复用、可替换、可审查，失败也能局部回退。A0负责运行与编排，A1到A8按专业边界拆开，三类卡点承担验证与责任，版本和证据支持演化。这就是工程化思想在监管交付里的具体落地，不是一个“更聪明的聊天机器人”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时间：33:45–35:00｜现场动作：沿着A1→A3→A4→A5→A7→A8讲一条主线。</a:t>
            </a:r>
          </a:p>
          <a:p>
            <a:pPr/>
            <a:r>
              <a:rPr lang="zh-CN" dirty="0"/>
              <a:t>我们用一个新增报表的旅程串起来。</a:t>
            </a:r>
          </a:p>
          <a:p>
            <a:pPr/>
            <a:r>
              <a:rPr lang="zh-CN" dirty="0"/>
              <a:t>A1从制度原文和现行口径出发，产出变更清单和口径草案，经过业务口径确认；A3拿确认后的口径和元数据血缘，产出映射、DDL和回退脚本，经过数据模型评审；A4根据模型映射和加工规范，生成ETL、SQL和依赖编排；A5根据规则清单和表结构，生成校验SQL和规则库，并确认规则预期；A7生成报文和一致性证据；A8汇总前面的全链交付物，做测试、评审和归档，最后经过安全与发布确认。</a:t>
            </a:r>
          </a:p>
          <a:p>
            <a:pPr/>
            <a:r>
              <a:rPr lang="zh-CN" dirty="0"/>
              <a:t>A2智能问数和A6报表设计在需要时侧向支持，补口径解释、血缘、差异和表样能力，但不改变主链产物和责任人。A0贯穿任务拆解、上下文分发、产物交接、卡点催办、失败重试和版本归档。</a:t>
            </a:r>
          </a:p>
          <a:p>
            <a:pPr/>
            <a:r>
              <a:rPr lang="zh-CN" dirty="0"/>
              <a:t>AI把每一步变快，更把“每一步能否交接”变成可验证的工程问题。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时间：35:00–36:15｜现场动作：先左、再右、最后落到三道闸门。</a:t>
            </a:r>
          </a:p>
          <a:p>
            <a:pPr/>
            <a:r>
              <a:rPr lang="zh-CN" dirty="0"/>
              <a:t>讲到这里，必须回答一个问题：AI做得越多，人做什么？</a:t>
            </a:r>
          </a:p>
          <a:p>
            <a:pPr/>
            <a:r>
              <a:rPr lang="zh-CN" dirty="0"/>
              <a:t>我的答案叫“信任，但验证”。AI负责把可规则化的工作做稳：结构化、摘要、初稿、格式检查、异常线索初筛、测试和证据整理、跨版本差异比对。它快、全、一致，但输出仍然是候选。人要判断业务规则是否成立、数据与模型假设是否合理、安全边界与外部影响是什么、长期是否可维护、体验是否可接受，以及谁签字、谁发布、谁承担后果。</a:t>
            </a:r>
          </a:p>
          <a:p>
            <a:pPr/>
            <a:r>
              <a:rPr lang="zh-CN" dirty="0"/>
              <a:t>跨研发和办公，有三道停下来想一想的闸门。第一，目标和口径：需求范围、监管口径、数据边界有没有被正确理解。第二，方案和影响：架构、模型、接口、流程变化是否可解释、可维护。第三，发布和后果：高风险动作是否授权，异常能不能停止和回退。</a:t>
            </a:r>
          </a:p>
          <a:p>
            <a:pPr/>
            <a:r>
              <a:rPr lang="zh-CN" dirty="0"/>
              <a:t>AI可以发起候选，但不能绕过门禁；人可以授权，也必须留下依据。AI越强，人的工作不是“少做”，而是在更关键的位置做对。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时间：36:15–38:30｜现场动作：先讲两个平台，再以Agent Runtime为中心，按“运行—支撑—治理—基础设施”逐层展开。</a:t>
            </a:r>
          </a:p>
          <a:p>
            <a:pPr/>
            <a:r>
              <a:rPr lang="zh-CN" dirty="0"/>
              <a:t>最后看底座。EsXCode和EsXWork不是两个孤岛，它们共享一套可组合的工程内核。换的是工作表面：研发面对代码、接口、测试；办公面对知识、文档、数据和流程。不换的是运行、上下文、工具、知识与治理。</a:t>
            </a:r>
          </a:p>
          <a:p>
            <a:pPr/>
            <a:r>
              <a:rPr lang="zh-CN" dirty="0"/>
              <a:t>最上面是统一工作空间：Chat、API、文件、任务会话、工程资产、证据、人工门禁和审计轨迹。同一个任务对象贯穿研发与办公。底座阅读时，请把第二块Agent运行核心当作中控：它承载感知、规划、推理、行动，用Loop、多Agent、状态机和失败恢复把任务持续推进；更重要的是，它可替换、可治理、可停止。</a:t>
            </a:r>
          </a:p>
          <a:p>
            <a:pPr/>
            <a:r>
              <a:rPr lang="zh-CN" dirty="0"/>
              <a:t>围绕这个中控，七类能力提供支撑。上下文与记忆，让模型在正确时刻看到正确资料；模型路由与适配，按任务复杂度和成本选择模型；工具与执行，通过MCP、API、代码和文件在授权边界内读写；知识与检索，把向量、混合检索、图谱和结构化数据组织成可引用的依据；安全、权限与治理，负责身份、脱敏、内容安全、高风险动作拦截和人工确认；观测、评测与学习，用Trace、指标、评测、告警和反馈形成持续优化；产物版本与恢复，统一管理需求、代码、文档、报表与报文的版本、差异、回退和归档。</a:t>
            </a:r>
          </a:p>
          <a:p>
            <a:pPr/>
            <a:r>
              <a:rPr lang="zh-CN" dirty="0"/>
              <a:t>再往下是基础设施与部署：私有化或专有云、容器与安全沙箱、存储与向量检索、企业身份与审计、多模型网关和企业系统。客户真正要判断的，不是术语像不像，而是这套底座能不能运行、能不能治理、能不能复用。平台竞争的下半场，比较的也不只是功能清单，而是工程位置、接口稳定性与生态连接能力。功能会被复制，模型会被替换；可复用的工程资产，才会持续复利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时间：38:30–40:00｜现场动作：回到开场问题，放慢，最后留15秒停顿。</a:t>
            </a:r>
          </a:p>
          <a:p>
            <a:pPr/>
            <a:r>
              <a:rPr lang="zh-CN" dirty="0"/>
              <a:t>现在回到开头的问题。如果AI Agent让系统上线与监管报送都快了一倍，贵机构真正变难的，会是什么？</a:t>
            </a:r>
          </a:p>
          <a:p>
            <a:pPr/>
            <a:r>
              <a:rPr lang="zh-CN" dirty="0"/>
              <a:t>我的答案是四件事。第一，选对问题。高频、高价值、边界清晰，而且可以被验收。第二，接全上下文。知识、数据、系统、流程和历史，进入同一条任务链。第三，证明可信。影响分析、测试、评测和版本，在过程中自动产生。第四，守住责任。人负责目标、例外、风险和签字，AI负责推进和证据。</a:t>
            </a:r>
          </a:p>
          <a:p>
            <a:pPr/>
            <a:r>
              <a:rPr lang="zh-CN" dirty="0"/>
              <a:t>如果今天只带走一个行动建议，我建议从一个系统开始，做三件事：选一个有明确边界的场景；改一段真实流程；留一组可复核的证据。不要先追“更自主”，先让第一步可交付、可解释、可回退。AI时代，做得慢常常等于不做；但真正的快，不是跳过工程，而是把工程变成默认能力。</a:t>
            </a:r>
          </a:p>
          <a:p>
            <a:pPr/>
            <a:r>
              <a:rPr lang="zh-CN" dirty="0"/>
              <a:t>Agent工程化的价值，不是多几个工具，而是让机构把一次性的智能，变成可重复、可治理、可积累的生产力。这就是我们理解的价值重构：从更快一点，走向可复用的组织能力。20周年，亿信华辰愿意和在座各位一起，从真实问题出发，把AI接进系统，也接进工作。谢谢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金融AI原生_20周年客户大会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image" Target="../media/image2.png" /><Relationship Id="rId1" Type="http://schemas.openxmlformats.org/officeDocument/2006/relationships/image" Target="../media/image1.png" />  <Relationship Id="rId4" Type="http://schemas.openxmlformats.org/officeDocument/2006/relationships/notesSlide" Target="../notesSlides/notesSlide1.xml"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.xml"/>
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7.xml"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8.xml"/>
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9.xml"/>
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0.xml"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<Relationship Id="rId5" Type="http://schemas.openxmlformats.org/officeDocument/2006/relationships/slideLayout" Target="../slideLayouts/slideLayout1.xml" /><Relationship Id="rId4" Type="http://schemas.openxmlformats.org/officeDocument/2006/relationships/image" Target="../media/image6.png" /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image" Target="../media/image3.png" />  <Relationship Id="rId6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5.xml"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6.xml"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7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8.xml"/>
</Relationships>
</file>

<file path=ppt/slides/_rels/slide19.xml.rels><?xml version='1.0' encoding='utf-8'?>
<Relationships xmlns="http://schemas.openxmlformats.org/package/2006/relationships"><Relationship Id="rId4" Type="http://schemas.openxmlformats.org/officeDocument/2006/relationships/slideLayout" Target="../slideLayouts/slideLayout1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image" Target="../media/image7.png" />  <Relationship Id="rId5" Type="http://schemas.openxmlformats.org/officeDocument/2006/relationships/notesSlide" Target="../notesSlides/notesSlide19.xml"/>
</Relationships>
</file>

<file path=ppt/slides/_rels/slide20.xml.rels><?xml version='1.0' encoding='utf-8'?>
<Relationships xmlns="http://schemas.openxmlformats.org/package/2006/relationships"><Relationship Id="rId9" Type="http://schemas.openxmlformats.org/officeDocument/2006/relationships/slideLayout" Target="../slideLayouts/slideLayout1.xml" /><Relationship Id="rId8" Type="http://schemas.openxmlformats.org/officeDocument/2006/relationships/image" Target="../media/image17.png" /><Relationship Id="rId7" Type="http://schemas.openxmlformats.org/officeDocument/2006/relationships/image" Target="../media/image16.png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image" Target="../media/image10.png" />  <Relationship Id="rId10" Type="http://schemas.openxmlformats.org/officeDocument/2006/relationships/notesSlide" Target="../notesSlides/notesSlide20.xml"/>
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1.xml"/>
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2.xml"/>
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3.xml"/>
</Relationships>
</file>

<file path=ppt/slides/_rels/slide24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image" Target="../media/image2.png" /><Relationship Id="rId1" Type="http://schemas.openxmlformats.org/officeDocument/2006/relationships/image" Target="../media/image1.png" />  <Relationship Id="rId4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fan-field"/>
          <p:cNvPicPr>
            <a:picLocks noChangeAspect="1"/>
          </p:cNvPicPr>
          <p:nvPr/>
        </p:nvPicPr>
        <p:blipFill>
          <a:blip r:embed="rId1"/>
          <a:srcRect t="1562" b="156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cover-wash"/>
          <p:cNvSpPr/>
          <p:nvPr/>
        </p:nvSpPr>
        <p:spPr>
          <a:xfrm>
            <a:off x="0" y="0"/>
            <a:ext cx="13239750" cy="10287000"/>
          </a:xfrm>
          <a:prstGeom prst="rect">
            <a:avLst/>
          </a:prstGeom>
          <a:gradFill>
            <a:gsLst>
              <a:gs pos="0">
                <a:schemeClr val="lt1">
                  <a:alpha val="98000"/>
                </a:schemeClr>
              </a:gs>
              <a:gs pos="62000">
                <a:schemeClr val="lt1">
                  <a:alpha val="88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pic>
        <p:nvPicPr>
          <p:cNvPr id="4" name="cover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42925"/>
            <a:ext cx="1485900" cy="650081"/>
          </a:xfrm>
          <a:prstGeom prst="rect">
            <a:avLst/>
          </a:prstGeom>
        </p:spPr>
      </p:pic>
      <p:grpSp>
        <p:nvGrpSpPr>
          <p:cNvPr id="7" name="cover-kicker"/>
          <p:cNvGrpSpPr/>
          <p:nvPr/>
        </p:nvGrpSpPr>
        <p:grpSpPr>
          <a:xfrm>
            <a:off x="1017651" y="1704975"/>
            <a:ext cx="4612005" cy="700532"/>
            <a:chOff x="1017651" y="1704975"/>
            <a:chExt cx="4612005" cy="700532"/>
          </a:xfrm>
        </p:grpSpPr>
        <p:sp>
          <p:nvSpPr>
            <p:cNvPr id="5" name="TextBox 5"/>
            <p:cNvSpPr txBox="1"/>
            <p:nvPr/>
          </p:nvSpPr>
          <p:spPr>
            <a:xfrm>
              <a:off x="1017651" y="1704975"/>
              <a:ext cx="406905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20周年客户大会 · 主题分享</a:t>
              </a:r>
              <a:endParaRPr lang="zh-CN" sz="2180" b="1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0318" y="2082800"/>
              <a:ext cx="46093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spc="1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2006—2026 / 20 YEARS OF ESENSOFT</a:t>
              </a:r>
              <a:endParaRPr lang="en-US" sz="1650" spc="1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cover-title"/>
          <p:cNvGrpSpPr/>
          <p:nvPr/>
        </p:nvGrpSpPr>
        <p:grpSpPr>
          <a:xfrm>
            <a:off x="1009650" y="2901950"/>
            <a:ext cx="8438388" cy="3761677"/>
            <a:chOff x="1009650" y="2901950"/>
            <a:chExt cx="8438388" cy="3761677"/>
          </a:xfrm>
        </p:grpSpPr>
        <p:sp>
          <p:nvSpPr>
            <p:cNvPr id="8" name="TextBox 8"/>
            <p:cNvSpPr txBox="1"/>
            <p:nvPr/>
          </p:nvSpPr>
          <p:spPr>
            <a:xfrm>
              <a:off x="1009650" y="2901950"/>
              <a:ext cx="5291557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6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金融AI Agent</a:t>
              </a:r>
              <a:endParaRPr lang="zh-CN" sz="6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9650" y="3937000"/>
              <a:ext cx="843838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工程化应用：从技术赋能到价值重构</a:t>
              </a:r>
              <a:endParaRPr lang="zh-CN" sz="39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1028700" y="4933950"/>
              <a:ext cx="2686050" cy="9525"/>
            </a:xfrm>
            <a:custGeom>
              <a:avLst/>
              <a:gdLst/>
              <a:ahLst/>
              <a:cxnLst/>
              <a:rect l="l" t="t" r="r" b="b"/>
              <a:pathLst>
                <a:path w="2686050" h="9525">
                  <a:moveTo>
                    <a:pt x="0" y="0"/>
                  </a:moveTo>
                  <a:lnTo>
                    <a:pt x="2686050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8032" y="52895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当模型开始行动，金融真正要建设的是什么？</a:t>
              </a:r>
              <a:endParaRPr lang="zh-CN" sz="21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8413" y="5956300"/>
              <a:ext cx="299822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02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EsXCode × EsXWork</a:t>
              </a:r>
              <a:endParaRPr lang="en-US" sz="202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1461" y="6384925"/>
              <a:ext cx="41356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spc="7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亿信华辰自研 · AI研发应用平台 × AI办公平台</a:t>
              </a:r>
              <a:endParaRPr lang="zh-CN" sz="1420" spc="7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cover-identity"/>
          <p:cNvGrpSpPr/>
          <p:nvPr/>
        </p:nvGrpSpPr>
        <p:grpSpPr>
          <a:xfrm>
            <a:off x="1011936" y="7473950"/>
            <a:ext cx="5948663" cy="1462850"/>
            <a:chOff x="1011936" y="7473950"/>
            <a:chExt cx="5948663" cy="1462850"/>
          </a:xfrm>
        </p:grpSpPr>
        <p:sp>
          <p:nvSpPr>
            <p:cNvPr id="15" name="TextBox 15"/>
            <p:cNvSpPr txBox="1"/>
            <p:nvPr/>
          </p:nvSpPr>
          <p:spPr>
            <a:xfrm>
              <a:off x="1018413" y="7473950"/>
              <a:ext cx="83637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演讲人</a:t>
              </a:r>
              <a:endParaRPr lang="zh-CN" sz="20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1936" y="7861300"/>
              <a:ext cx="59486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亿信华辰解决方案专家 吴思全</a:t>
              </a:r>
              <a:endPara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8413" y="8540750"/>
              <a:ext cx="563597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2026.10.30 · 北京亿信华辰软件有限责任公司</a:t>
              </a:r>
              <a:endParaRPr lang="zh-CN" sz="20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cover-year-seal"/>
          <p:cNvGrpSpPr/>
          <p:nvPr/>
        </p:nvGrpSpPr>
        <p:grpSpPr>
          <a:xfrm>
            <a:off x="15001875" y="7620000"/>
            <a:ext cx="2152650" cy="2152650"/>
            <a:chOff x="15001875" y="7620000"/>
            <a:chExt cx="2152650" cy="2152650"/>
          </a:xfrm>
        </p:grpSpPr>
        <p:sp>
          <p:nvSpPr>
            <p:cNvPr id="19" name="Ellipse 19"/>
            <p:cNvSpPr/>
            <p:nvPr/>
          </p:nvSpPr>
          <p:spPr>
            <a:xfrm>
              <a:off x="15173325" y="7791450"/>
              <a:ext cx="1809750" cy="1809750"/>
            </a:xfrm>
            <a:prstGeom prst="ellipse">
              <a:avLst/>
            </a:prstGeom>
            <a:solidFill>
              <a:srgbClr val="FFFFFF">
                <a:alpha val="54000"/>
              </a:srgbClr>
            </a:solidFill>
            <a:ln w="14288">
              <a:solidFill>
                <a:schemeClr val="accent1">
                  <a:alpha val="22000"/>
                </a:schemeClr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5001875" y="7620000"/>
              <a:ext cx="2152650" cy="2152650"/>
            </a:xfrm>
            <a:prstGeom prst="ellipse">
              <a:avLst/>
            </a:prstGeom>
            <a:noFill/>
            <a:ln w="14288">
              <a:solidFill>
                <a:schemeClr val="accent1">
                  <a:alpha val="12000"/>
                </a:scheme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662660" y="8070850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510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20</a:t>
              </a:r>
              <a:endParaRPr lang="zh-CN" sz="510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62361" y="8855075"/>
              <a:ext cx="631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350" spc="158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YEARS</a:t>
              </a:r>
              <a:endParaRPr lang="en-US" sz="1350" spc="158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2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95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" accel="100000" fill="hold">
                                          <p:stCondLst>
                                            <p:cond delay="49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70"/>
                            </p:stCondLst>
                            <p:childTnLst>
                              <p:par>
                                <p:cTn id="20" presetID="23" presetClass="entr" presetSubtype="27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50"/>
                            </p:stCondLst>
                            <p:childTnLst>
                              <p:par>
                                <p:cTn id="25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6" dur="6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ening-grid"/>
          <p:cNvSpPr/>
          <p:nvPr/>
        </p:nvSpPr>
        <p:spPr>
          <a:xfrm>
            <a:off x="1028700" y="2057400"/>
            <a:ext cx="16230600" cy="7048500"/>
          </a:xfrm>
          <a:custGeom>
            <a:avLst/>
            <a:gdLst/>
            <a:ahLst/>
            <a:cxnLst/>
            <a:rect l="l" t="t" r="r" b="b"/>
            <a:pathLst>
              <a:path w="16230600" h="7048500">
                <a:moveTo>
                  <a:pt x="0" y="152400"/>
                </a:moveTo>
                <a:lnTo>
                  <a:pt x="16230600" y="152400"/>
                </a:lnTo>
                <a:moveTo>
                  <a:pt x="0" y="6019800"/>
                </a:moveTo>
                <a:lnTo>
                  <a:pt x="16230600" y="6019800"/>
                </a:lnTo>
                <a:moveTo>
                  <a:pt x="0" y="6934200"/>
                </a:moveTo>
                <a:lnTo>
                  <a:pt x="16230600" y="6934200"/>
                </a:lnTo>
                <a:moveTo>
                  <a:pt x="3086100" y="0"/>
                </a:moveTo>
                <a:lnTo>
                  <a:pt x="3086100" y="7048500"/>
                </a:lnTo>
                <a:moveTo>
                  <a:pt x="6858000" y="0"/>
                </a:moveTo>
                <a:lnTo>
                  <a:pt x="6858000" y="7048500"/>
                </a:lnTo>
                <a:moveTo>
                  <a:pt x="10629900" y="0"/>
                </a:moveTo>
                <a:lnTo>
                  <a:pt x="10629900" y="7048500"/>
                </a:lnTo>
              </a:path>
            </a:pathLst>
          </a:custGeom>
          <a:noFill/>
          <a:ln w="14288">
            <a:solidFill>
              <a:srgbClr val="EAF1FB"/>
            </a:solidFill>
          </a:ln>
        </p:spPr>
      </p:sp>
      <p:sp>
        <p:nvSpPr>
          <p:cNvPr id="3" name="opening-orbit"/>
          <p:cNvSpPr/>
          <p:nvPr/>
        </p:nvSpPr>
        <p:spPr>
          <a:xfrm>
            <a:off x="14420850" y="-2800350"/>
            <a:ext cx="6286500" cy="6286500"/>
          </a:xfrm>
          <a:prstGeom prst="ellipse">
            <a:avLst/>
          </a:prstGeom>
          <a:noFill/>
          <a:ln w="14288">
            <a:solidFill>
              <a:srgbClr val="DCE9F8"/>
            </a:solidFill>
          </a:ln>
        </p:spPr>
      </p:sp>
      <p:grpSp>
        <p:nvGrpSpPr>
          <p:cNvPr id="7" name="opening-title"/>
          <p:cNvGrpSpPr/>
          <p:nvPr/>
        </p:nvGrpSpPr>
        <p:grpSpPr>
          <a:xfrm>
            <a:off x="1009650" y="495300"/>
            <a:ext cx="12522136" cy="1507332"/>
            <a:chOff x="1009650" y="495300"/>
            <a:chExt cx="12522136" cy="1507332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95300"/>
              <a:ext cx="41468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02 / WHY AGENT ENGINEERING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1009650" y="781050"/>
              <a:ext cx="1252213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6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AI会回答之后，怎么把Agent真正做进生产？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1018413" y="1606582"/>
              <a:ext cx="92663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02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把业务语义、系统行动、验证责任组织起来，才算把一个Agent真正做好。</a:t>
              </a:r>
            </a:p>
          </p:txBody>
        </p:sp>
      </p:grpSp>
      <p:grpSp>
        <p:nvGrpSpPr>
          <p:cNvPr id="18" name="opening-question"/>
          <p:cNvGrpSpPr/>
          <p:nvPr/>
        </p:nvGrpSpPr>
        <p:grpSpPr>
          <a:xfrm>
            <a:off x="1028700" y="2343150"/>
            <a:ext cx="5219700" cy="5562600"/>
            <a:chOff x="1028700" y="2343150"/>
            <a:chExt cx="5219700" cy="5562600"/>
          </a:xfrm>
        </p:grpSpPr>
        <p:sp>
          <p:nvSpPr>
            <p:cNvPr id="8" name="Rectangle 8"/>
            <p:cNvSpPr/>
            <p:nvPr/>
          </p:nvSpPr>
          <p:spPr>
            <a:xfrm>
              <a:off x="1028700" y="2343150"/>
              <a:ext cx="5219700" cy="5562600"/>
            </a:xfrm>
            <a:prstGeom prst="roundRect">
              <a:avLst>
                <a:gd name="adj" fmla="val 29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3218" y="2654300"/>
              <a:ext cx="1899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spc="112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今天先问一个问题</a:t>
              </a:r>
              <a:endParaRPr lang="zh-CN" sz="1650" spc="112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1352550" y="3130582"/>
              <a:ext cx="30670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怎样才算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352550" y="3816382"/>
              <a:ext cx="301866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做好一个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352550" y="4502182"/>
              <a:ext cx="340366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Agent</a:t>
              </a:r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？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71600" y="54673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FFFFFF">
                  <a:alpha val="34000"/>
                </a:srgbClr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1362075" y="5791200"/>
              <a:ext cx="330917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DCE9FF"/>
                  </a:solidFill>
                  <a:latin typeface="Arial"/>
                  <a:ea typeface="Microsoft YaHei"/>
                  <a:cs typeface="Arial"/>
                </a:rPr>
                <a:t>能回答，不代表能交付。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1362075" y="6172200"/>
              <a:ext cx="254993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DCE9FF"/>
                  </a:solidFill>
                  <a:latin typeface="Arial"/>
                  <a:ea typeface="Microsoft YaHei"/>
                  <a:cs typeface="Arial"/>
                </a:rPr>
                <a:t>真正要补的是三段工程：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361694" y="6835807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业务语义？系统行动？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1361694" y="7207282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验证责任？</a:t>
              </a:r>
            </a:p>
          </p:txBody>
        </p:sp>
      </p:grpSp>
      <p:grpSp>
        <p:nvGrpSpPr>
          <p:cNvPr id="32" name="opening-breaks"/>
          <p:cNvGrpSpPr/>
          <p:nvPr/>
        </p:nvGrpSpPr>
        <p:grpSpPr>
          <a:xfrm>
            <a:off x="6657975" y="2476500"/>
            <a:ext cx="10601325" cy="4743450"/>
            <a:chOff x="6657975" y="2476500"/>
            <a:chExt cx="10601325" cy="4743450"/>
          </a:xfrm>
        </p:grpSpPr>
        <p:sp>
          <p:nvSpPr>
            <p:cNvPr id="19" name="TextBox 19"/>
            <p:cNvSpPr/>
            <p:nvPr/>
          </p:nvSpPr>
          <p:spPr>
            <a:xfrm>
              <a:off x="6657975" y="2476500"/>
              <a:ext cx="489175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如何做好一个Agent：补齐三段工程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0" y="2990850"/>
              <a:ext cx="1059180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02399" y="3209925"/>
              <a:ext cx="166643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业务上下文</a:t>
              </a:r>
              <a:endParaRPr lang="zh-CN" sz="158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/>
            <p:nvPr/>
          </p:nvSpPr>
          <p:spPr>
            <a:xfrm>
              <a:off x="6999351" y="3543300"/>
              <a:ext cx="618496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目标、口径、规则与历史，是否被正确装配？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003542" y="3921157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上下文不对，越流畅越可能偏离。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67500" y="4476750"/>
              <a:ext cx="1059180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25" name="TextBox 25"/>
            <p:cNvSpPr/>
            <p:nvPr/>
          </p:nvSpPr>
          <p:spPr>
            <a:xfrm>
              <a:off x="7002399" y="4695825"/>
              <a:ext cx="144160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spc="90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02 / 系统行动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6999351" y="5029200"/>
              <a:ext cx="501110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能在授权边界内进系统、用工具吗？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7003542" y="5407057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只聊天不调用工具，就进不了真实流程。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67500" y="5962650"/>
              <a:ext cx="10591800" cy="1257300"/>
            </a:xfrm>
            <a:prstGeom prst="roundRect">
              <a:avLst>
                <a:gd name="adj" fmla="val 9091"/>
              </a:avLst>
            </a:prstGeom>
            <a:solidFill>
              <a:srgbClr val="FFF7F8"/>
            </a:solidFill>
            <a:ln w="15240">
              <a:solidFill>
                <a:srgbClr val="F1C9CF"/>
              </a:solidFill>
            </a:ln>
          </p:spPr>
        </p:sp>
        <p:sp>
          <p:nvSpPr>
            <p:cNvPr id="29" name="TextBox 29"/>
            <p:cNvSpPr/>
            <p:nvPr/>
          </p:nvSpPr>
          <p:spPr>
            <a:xfrm>
              <a:off x="7002399" y="6181725"/>
              <a:ext cx="16663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spc="90" dirty="0">
                  <a:solidFill>
                    <a:srgbClr val="B7394D"/>
                  </a:solidFill>
                  <a:latin typeface="Arial"/>
                  <a:ea typeface="Microsoft YaHei"/>
                  <a:cs typeface="Arial"/>
                </a:rPr>
                <a:t>03 / 验证责任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9351" y="6515100"/>
              <a:ext cx="589153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错误能否被发现、停止、解释、回退和追责？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03542" y="68929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高责任场景里，没有证据的自动，不是智能。</a:t>
              </a:r>
              <a:endParaRPr lang="zh-CN" sz="135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opening-route"/>
          <p:cNvGrpSpPr/>
          <p:nvPr/>
        </p:nvGrpSpPr>
        <p:grpSpPr>
          <a:xfrm>
            <a:off x="1028700" y="8153400"/>
            <a:ext cx="16230600" cy="628650"/>
            <a:chOff x="1028700" y="8153400"/>
            <a:chExt cx="16230600" cy="628650"/>
          </a:xfrm>
        </p:grpSpPr>
        <p:sp>
          <p:nvSpPr>
            <p:cNvPr id="33" name="Rectangle 33"/>
            <p:cNvSpPr/>
            <p:nvPr/>
          </p:nvSpPr>
          <p:spPr>
            <a:xfrm>
              <a:off x="1028700" y="8153400"/>
              <a:ext cx="16230600" cy="6286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EAF2FF"/>
                </a:gs>
                <a:gs pos="58000">
                  <a:srgbClr val="F4EDFC"/>
                </a:gs>
                <a:gs pos="100000">
                  <a:srgbClr val="EAF2FF"/>
                </a:gs>
              </a:gsLst>
              <a:lin ang="0" scaled="1"/>
            </a:gradFill>
            <a:ln w="14288">
              <a:solidFill>
                <a:srgbClr val="CFE0F5"/>
              </a:solidFill>
            </a:ln>
          </p:spPr>
        </p:sp>
        <p:sp>
          <p:nvSpPr>
            <p:cNvPr id="34" name="TextBox 34"/>
            <p:cNvSpPr/>
            <p:nvPr/>
          </p:nvSpPr>
          <p:spPr>
            <a:xfrm>
              <a:off x="1343787" y="8337518"/>
              <a:ext cx="21014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本次分享主线：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96768" y="83502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第一性原理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4495800" y="8477250"/>
              <a:ext cx="4572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16068" y="83502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工程化体系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6496050" y="8477250"/>
              <a:ext cx="4572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16318" y="83502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成熟度与实践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/>
            <p:nvPr/>
          </p:nvSpPr>
          <p:spPr>
            <a:xfrm>
              <a:off x="12913804" y="8375618"/>
              <a:ext cx="4028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r"/>
              <a:r>
                <a:rPr lang="zh-CN" sz="142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工程化视角：两条价值重构实践</a:t>
              </a:r>
            </a:p>
          </p:txBody>
        </p:sp>
      </p:grpSp>
      <p:grpSp>
        <p:nvGrpSpPr>
          <p:cNvPr id="44" name="opening-footer"/>
          <p:cNvGrpSpPr/>
          <p:nvPr/>
        </p:nvGrpSpPr>
        <p:grpSpPr>
          <a:xfrm>
            <a:off x="1020318" y="9598025"/>
            <a:ext cx="16247364" cy="322707"/>
            <a:chOff x="1020318" y="9598025"/>
            <a:chExt cx="16247364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1020318" y="9598025"/>
              <a:ext cx="36028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金融AI Agent工程化应用</a:t>
              </a:r>
              <a:endParaRPr lang="zh-CN" sz="16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506806" y="9598025"/>
              <a:ext cx="760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6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02 / 24</a:t>
              </a:r>
              <a:endParaRPr lang="zh-CN" sz="16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50">
        <p:wipe/>
      </p:transition>
    </mc:Choice>
    <mc:Fallback>
      <p:transition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2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45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25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8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80"/>
                            </p:stCondLst>
                            <p:childTnLst>
                              <p:par>
                                <p:cTn id="22" presetID="37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cts-grid"/>
          <p:cNvSpPr/>
          <p:nvPr/>
        </p:nvSpPr>
        <p:spPr>
          <a:xfrm>
            <a:off x="1028700" y="2057400"/>
            <a:ext cx="16230600" cy="6934200"/>
          </a:xfrm>
          <a:custGeom>
            <a:avLst/>
            <a:gdLst/>
            <a:ahLst/>
            <a:cxnLst/>
            <a:rect l="l" t="t" r="r" b="b"/>
            <a:pathLst>
              <a:path w="16230600" h="6934200">
                <a:moveTo>
                  <a:pt x="0" y="133350"/>
                </a:moveTo>
                <a:lnTo>
                  <a:pt x="16230600" y="133350"/>
                </a:lnTo>
                <a:moveTo>
                  <a:pt x="0" y="5791200"/>
                </a:moveTo>
                <a:lnTo>
                  <a:pt x="16230600" y="5791200"/>
                </a:lnTo>
                <a:moveTo>
                  <a:pt x="0" y="6819900"/>
                </a:moveTo>
                <a:lnTo>
                  <a:pt x="16230600" y="6819900"/>
                </a:lnTo>
                <a:moveTo>
                  <a:pt x="3086100" y="0"/>
                </a:moveTo>
                <a:lnTo>
                  <a:pt x="3086100" y="6934200"/>
                </a:lnTo>
                <a:moveTo>
                  <a:pt x="6172200" y="0"/>
                </a:moveTo>
                <a:lnTo>
                  <a:pt x="6172200" y="6934200"/>
                </a:lnTo>
                <a:moveTo>
                  <a:pt x="9258300" y="0"/>
                </a:moveTo>
                <a:lnTo>
                  <a:pt x="9258300" y="6934200"/>
                </a:lnTo>
                <a:moveTo>
                  <a:pt x="12344400" y="0"/>
                </a:moveTo>
                <a:lnTo>
                  <a:pt x="12344400" y="6934200"/>
                </a:lnTo>
              </a:path>
            </a:pathLst>
          </a:custGeom>
          <a:noFill/>
          <a:ln w="14288">
            <a:solidFill>
              <a:srgbClr val="EAF1FB"/>
            </a:solidFill>
          </a:ln>
        </p:spPr>
      </p:sp>
      <p:sp>
        <p:nvSpPr>
          <p:cNvPr id="3" name="facts-orbit"/>
          <p:cNvSpPr/>
          <p:nvPr/>
        </p:nvSpPr>
        <p:spPr>
          <a:xfrm>
            <a:off x="14420850" y="-2914650"/>
            <a:ext cx="6286500" cy="6286500"/>
          </a:xfrm>
          <a:prstGeom prst="ellipse">
            <a:avLst/>
          </a:prstGeom>
          <a:noFill/>
          <a:ln w="14288">
            <a:solidFill>
              <a:srgbClr val="DCE9F8"/>
            </a:solidFill>
          </a:ln>
        </p:spPr>
      </p:sp>
      <p:grpSp>
        <p:nvGrpSpPr>
          <p:cNvPr id="7" name="facts-title"/>
          <p:cNvGrpSpPr/>
          <p:nvPr/>
        </p:nvGrpSpPr>
        <p:grpSpPr>
          <a:xfrm>
            <a:off x="1009650" y="495300"/>
            <a:ext cx="12759690" cy="1492631"/>
            <a:chOff x="1009650" y="495300"/>
            <a:chExt cx="12759690" cy="1492631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95300"/>
              <a:ext cx="6009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03 / FIRST PRINCIPLES OF AI ENGINEERING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806450"/>
              <a:ext cx="1275969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先承认三条事实：模型天然不是一个确定性系统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8794" y="1606550"/>
              <a:ext cx="8420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这不是某一家模型的问题，而是大模型进入生产时共同面对的工程约束。</a:t>
              </a:r>
              <a:endParaRPr lang="zh-CN" sz="19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facts-stateless"/>
          <p:cNvGrpSpPr/>
          <p:nvPr/>
        </p:nvGrpSpPr>
        <p:grpSpPr>
          <a:xfrm>
            <a:off x="1028700" y="2324100"/>
            <a:ext cx="5619750" cy="5295900"/>
            <a:chOff x="1028700" y="2324100"/>
            <a:chExt cx="5619750" cy="5295900"/>
          </a:xfrm>
        </p:grpSpPr>
        <p:sp>
          <p:nvSpPr>
            <p:cNvPr id="8" name="Rectangle 8"/>
            <p:cNvSpPr/>
            <p:nvPr/>
          </p:nvSpPr>
          <p:spPr>
            <a:xfrm>
              <a:off x="1028700" y="2324100"/>
              <a:ext cx="5619750" cy="5295900"/>
            </a:xfrm>
            <a:prstGeom prst="roundRect">
              <a:avLst>
                <a:gd name="adj" fmla="val 2518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28700" y="2324100"/>
              <a:ext cx="5619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6642" y="2635250"/>
              <a:ext cx="833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FACT 01</a:t>
              </a:r>
              <a:endParaRPr lang="en-US" sz="1350" spc="1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9022" y="2971800"/>
              <a:ext cx="16694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无状态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5118" y="3530600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Stateless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3952875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118" y="416877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每次推理都不会天然保留上一次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5118" y="449262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对话的中间状态。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880" y="5022850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它更像一次“短期记忆”：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5880" y="53276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上下文给什么，它就基于什么作答。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333500" y="5886450"/>
              <a:ext cx="5010150" cy="120015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9525">
              <a:solidFill>
                <a:srgbClr val="DFEAF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666875" y="6191250"/>
              <a:ext cx="590550" cy="590550"/>
            </a:xfrm>
            <a:prstGeom prst="ellipse">
              <a:avLst/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2815" y="6397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2657475" y="6191250"/>
              <a:ext cx="590550" cy="590550"/>
            </a:xfrm>
            <a:prstGeom prst="ellipse">
              <a:avLst/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93415" y="6397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48075" y="6191250"/>
              <a:ext cx="590550" cy="590550"/>
            </a:xfrm>
            <a:prstGeom prst="ellipse">
              <a:avLst/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84015" y="639762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Ellipse 25"/>
            <p:cNvSpPr/>
            <p:nvPr/>
          </p:nvSpPr>
          <p:spPr>
            <a:xfrm>
              <a:off x="5172075" y="6134100"/>
              <a:ext cx="704850" cy="704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41190" y="6410325"/>
              <a:ext cx="3666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LLM</a:t>
              </a:r>
              <a:endPara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2257425" y="648652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300000" sp="250000"/>
              </a:custDash>
            </a:ln>
          </p:spPr>
        </p:sp>
      </p:grpSp>
      <p:grpSp>
        <p:nvGrpSpPr>
          <p:cNvPr id="49" name="facts-context"/>
          <p:cNvGrpSpPr/>
          <p:nvPr/>
        </p:nvGrpSpPr>
        <p:grpSpPr>
          <a:xfrm>
            <a:off x="6972300" y="2324100"/>
            <a:ext cx="5619750" cy="5295900"/>
            <a:chOff x="6972300" y="2324100"/>
            <a:chExt cx="5619750" cy="5295900"/>
          </a:xfrm>
        </p:grpSpPr>
        <p:sp>
          <p:nvSpPr>
            <p:cNvPr id="29" name="Rectangle 29"/>
            <p:cNvSpPr/>
            <p:nvPr/>
          </p:nvSpPr>
          <p:spPr>
            <a:xfrm>
              <a:off x="6972300" y="2324100"/>
              <a:ext cx="5619750" cy="5295900"/>
            </a:xfrm>
            <a:prstGeom prst="roundRect">
              <a:avLst>
                <a:gd name="adj" fmla="val 2518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72300" y="2324100"/>
              <a:ext cx="5619750" cy="76200"/>
            </a:xfrm>
            <a:prstGeom prst="roundRect">
              <a:avLst>
                <a:gd name="adj" fmla="val 50000"/>
              </a:avLst>
            </a:prstGeom>
            <a:solidFill>
              <a:srgbClr val="3F78D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0242" y="2635250"/>
              <a:ext cx="833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FACT 02</a:t>
              </a:r>
              <a:endParaRPr lang="en-US" sz="1350" spc="1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62622" y="2971800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上下文窗口有限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68718" y="3530600"/>
              <a:ext cx="24534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Context Window Limit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7277100" y="3952875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68718" y="416877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不是把所有资料都塞给模型，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68718" y="449262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而是在每一步装配恰当信息。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69480" y="50228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信息太少，答案没有依据；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69480" y="53276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信息太多，关键约束反而被稀释。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77100" y="5886450"/>
              <a:ext cx="5010150" cy="120015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9525">
              <a:solidFill>
                <a:srgbClr val="DFEAF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62850" y="6134100"/>
              <a:ext cx="666750" cy="666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07630" y="63785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任务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58200" y="6057900"/>
              <a:ext cx="819150" cy="819150"/>
            </a:xfrm>
            <a:prstGeom prst="roundRect">
              <a:avLst>
                <a:gd name="adj" fmla="val 8140"/>
              </a:avLst>
            </a:prstGeom>
            <a:solidFill>
              <a:srgbClr val="EAF2FF"/>
            </a:solidFill>
            <a:ln w="9525">
              <a:solidFill>
                <a:srgbClr val="BBD4F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16671" y="63912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业务规则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05950" y="6057900"/>
              <a:ext cx="819150" cy="819150"/>
            </a:xfrm>
            <a:prstGeom prst="roundRect">
              <a:avLst>
                <a:gd name="adj" fmla="val 8140"/>
              </a:avLst>
            </a:prstGeom>
            <a:solidFill>
              <a:srgbClr val="EAF2FF"/>
            </a:solidFill>
            <a:ln w="9525">
              <a:solidFill>
                <a:srgbClr val="BBD4F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64421" y="63912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数据证据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553700" y="6057900"/>
              <a:ext cx="819150" cy="819150"/>
            </a:xfrm>
            <a:prstGeom prst="roundRect">
              <a:avLst>
                <a:gd name="adj" fmla="val 8140"/>
              </a:avLst>
            </a:prstGeom>
            <a:solidFill>
              <a:srgbClr val="F4EDFC"/>
            </a:solidFill>
            <a:ln w="9525">
              <a:solidFill>
                <a:srgbClr val="D7B8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564785" y="6391275"/>
              <a:ext cx="7969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状态/版本</a:t>
              </a:r>
              <a:endParaRPr lang="zh-CN" sz="1280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63874" y="6264275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22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2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facts-hallucination"/>
          <p:cNvGrpSpPr/>
          <p:nvPr/>
        </p:nvGrpSpPr>
        <p:grpSpPr>
          <a:xfrm>
            <a:off x="12915900" y="2324100"/>
            <a:ext cx="4343400" cy="5295900"/>
            <a:chOff x="12915900" y="2324100"/>
            <a:chExt cx="4343400" cy="5295900"/>
          </a:xfrm>
        </p:grpSpPr>
        <p:sp>
          <p:nvSpPr>
            <p:cNvPr id="50" name="Rectangle 50"/>
            <p:cNvSpPr/>
            <p:nvPr/>
          </p:nvSpPr>
          <p:spPr>
            <a:xfrm>
              <a:off x="12915900" y="2324100"/>
              <a:ext cx="4343400" cy="5295900"/>
            </a:xfrm>
            <a:prstGeom prst="roundRect">
              <a:avLst>
                <a:gd name="adj" fmla="val 3070"/>
              </a:avLst>
            </a:prstGeom>
            <a:solidFill>
              <a:srgbClr val="FFF9FA"/>
            </a:solidFill>
            <a:ln w="17145">
              <a:solidFill>
                <a:srgbClr val="F1C9CF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2915900" y="2324100"/>
              <a:ext cx="43434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3213842" y="2635250"/>
              <a:ext cx="833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5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FACT 03</a:t>
              </a:r>
              <a:endParaRPr lang="en-US" sz="1350" spc="15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06222" y="2971800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幻觉不可消除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212318" y="3530600"/>
              <a:ext cx="14573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Hallucination</a:t>
              </a:r>
              <a:endParaRPr lang="en-US" sz="165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13220700" y="3952875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noFill/>
            <a:ln w="14288">
              <a:solidFill>
                <a:srgbClr val="F3E3E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3212318" y="41687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模型会生成看似合理、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3212318" y="44926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却没有依据的答案。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213080" y="50228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所以金融不能靠一句</a:t>
              </a:r>
              <a:endParaRPr lang="zh-CN" sz="15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213080" y="5327650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“请确保准确”来兜底。</a:t>
              </a:r>
              <a:endParaRPr lang="zh-CN" sz="15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3220700" y="5886450"/>
              <a:ext cx="3733800" cy="120015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3449300" y="615315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E8F7EE"/>
            </a:solidFill>
            <a:ln w="9525">
              <a:solidFill>
                <a:srgbClr val="BFE3C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3717753" y="6219825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rgbClr val="187A3B"/>
                  </a:solidFill>
                  <a:latin typeface="+mn-lt"/>
                  <a:ea typeface="+mn-ea"/>
                  <a:cs typeface="+mn-cs"/>
                </a:rPr>
                <a:t>有依据</a:t>
              </a:r>
              <a:endParaRPr lang="zh-CN" sz="1280" dirty="0">
                <a:solidFill>
                  <a:srgbClr val="187A3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4668500" y="615315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 w="9525">
              <a:solidFill>
                <a:srgbClr val="F1C9C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4936953" y="6219825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无依据</a:t>
              </a:r>
              <a:endParaRPr lang="zh-CN" sz="128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5887700" y="6153150"/>
              <a:ext cx="83820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 w="9525">
              <a:solidFill>
                <a:srgbClr val="F1C9C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5955696" y="62198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混在一起</a:t>
              </a:r>
              <a:endParaRPr lang="zh-CN" sz="128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3442442" y="65976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可信度不是模型自报，必须由证据链验证。</a:t>
              </a:r>
              <a:endParaRPr lang="zh-CN" sz="135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facts-formula"/>
          <p:cNvGrpSpPr/>
          <p:nvPr/>
        </p:nvGrpSpPr>
        <p:grpSpPr>
          <a:xfrm>
            <a:off x="1028700" y="7962900"/>
            <a:ext cx="16230600" cy="723900"/>
            <a:chOff x="1028700" y="7962900"/>
            <a:chExt cx="16230600" cy="723900"/>
          </a:xfrm>
        </p:grpSpPr>
        <p:sp>
          <p:nvSpPr>
            <p:cNvPr id="69" name="Rectangle 69"/>
            <p:cNvSpPr/>
            <p:nvPr/>
          </p:nvSpPr>
          <p:spPr>
            <a:xfrm>
              <a:off x="1028700" y="7962900"/>
              <a:ext cx="16230600" cy="723900"/>
            </a:xfrm>
            <a:prstGeom prst="roundRect">
              <a:avLst>
                <a:gd name="adj" fmla="val 15789"/>
              </a:avLst>
            </a:prstGeom>
            <a:gradFill>
              <a:gsLst>
                <a:gs pos="0">
                  <a:srgbClr val="EAF2FF"/>
                </a:gs>
                <a:gs pos="50000">
                  <a:srgbClr val="F4EDFC"/>
                </a:gs>
                <a:gs pos="100000">
                  <a:srgbClr val="EAF2FF"/>
                </a:gs>
              </a:gsLst>
              <a:lin ang="0" scaled="1"/>
            </a:gradFill>
            <a:ln w="14288">
              <a:solidFill>
                <a:srgbClr val="CFE0F5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359408" y="8118475"/>
              <a:ext cx="5955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模型能力 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×</a:t>
              </a: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工程确定性 </a:t>
              </a: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=</a:t>
              </a: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可进入生产的AI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4232915" y="8223250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把概率能力变成可托付的生产力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5" name="facts-footer"/>
          <p:cNvGrpSpPr/>
          <p:nvPr/>
        </p:nvGrpSpPr>
        <p:grpSpPr>
          <a:xfrm>
            <a:off x="1020318" y="9598025"/>
            <a:ext cx="16247364" cy="322707"/>
            <a:chOff x="1020318" y="9598025"/>
            <a:chExt cx="16247364" cy="322707"/>
          </a:xfrm>
        </p:grpSpPr>
        <p:sp>
          <p:nvSpPr>
            <p:cNvPr id="73" name="TextBox 73"/>
            <p:cNvSpPr txBox="1"/>
            <p:nvPr/>
          </p:nvSpPr>
          <p:spPr>
            <a:xfrm>
              <a:off x="1020318" y="9598025"/>
              <a:ext cx="3151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AI工程的第一性原理</a:t>
              </a:r>
              <a:endParaRPr lang="zh-CN" sz="16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6506806" y="9598025"/>
              <a:ext cx="760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6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03 / 24</a:t>
              </a:r>
              <a:endParaRPr lang="zh-CN" sz="16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50">
        <p14:reveal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63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680"/>
                            </p:stCondLst>
                            <p:childTnLst>
                              <p:par>
                                <p:cTn id="24" presetID="23" presetClass="entr" presetSubtype="27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80"/>
                            </p:stCondLst>
                            <p:childTnLst>
                              <p:par>
                                <p:cTn id="29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550" fill="hold"/>
                                        <p:tgtEl>
                                          <p:spTgt spid="72"/>
                                        </p:tgtEl>
                                      </p:cBhvr>
                                      <p:by x="150000" y="150000"/>
                                      <p:to x="103000" y="10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g-grid"/>
          <p:cNvSpPr/>
          <p:nvPr/>
        </p:nvSpPr>
        <p:spPr>
          <a:xfrm>
            <a:off x="1028700" y="1885950"/>
            <a:ext cx="16230600" cy="7448550"/>
          </a:xfrm>
          <a:custGeom>
            <a:avLst/>
            <a:gdLst/>
            <a:ahLst/>
            <a:cxnLst/>
            <a:rect l="l" t="t" r="r" b="b"/>
            <a:pathLst>
              <a:path w="16230600" h="7448550">
                <a:moveTo>
                  <a:pt x="0" y="95250"/>
                </a:moveTo>
                <a:lnTo>
                  <a:pt x="16230600" y="95250"/>
                </a:lnTo>
                <a:moveTo>
                  <a:pt x="0" y="1085850"/>
                </a:moveTo>
                <a:lnTo>
                  <a:pt x="16230600" y="1085850"/>
                </a:lnTo>
                <a:moveTo>
                  <a:pt x="0" y="6553200"/>
                </a:moveTo>
                <a:lnTo>
                  <a:pt x="16230600" y="6553200"/>
                </a:lnTo>
                <a:moveTo>
                  <a:pt x="0" y="7372350"/>
                </a:moveTo>
                <a:lnTo>
                  <a:pt x="16230600" y="7372350"/>
                </a:lnTo>
                <a:moveTo>
                  <a:pt x="3295650" y="0"/>
                </a:moveTo>
                <a:lnTo>
                  <a:pt x="3295650" y="7448550"/>
                </a:lnTo>
                <a:moveTo>
                  <a:pt x="4895850" y="0"/>
                </a:moveTo>
                <a:lnTo>
                  <a:pt x="4895850" y="7448550"/>
                </a:lnTo>
                <a:moveTo>
                  <a:pt x="12782550" y="0"/>
                </a:moveTo>
                <a:lnTo>
                  <a:pt x="12782550" y="7448550"/>
                </a:lnTo>
              </a:path>
            </a:pathLst>
          </a:custGeom>
          <a:noFill/>
          <a:ln w="14288">
            <a:solidFill>
              <a:srgbClr val="EAF1FB"/>
            </a:solidFill>
          </a:ln>
        </p:spPr>
      </p:sp>
      <p:sp>
        <p:nvSpPr>
          <p:cNvPr id="3" name="eng-orbit"/>
          <p:cNvSpPr/>
          <p:nvPr/>
        </p:nvSpPr>
        <p:spPr>
          <a:xfrm>
            <a:off x="14478000" y="-2857500"/>
            <a:ext cx="6286500" cy="6286500"/>
          </a:xfrm>
          <a:prstGeom prst="ellipse">
            <a:avLst/>
          </a:prstGeom>
          <a:noFill/>
          <a:ln w="14288">
            <a:solidFill>
              <a:srgbClr val="DCE9F8"/>
            </a:solidFill>
          </a:ln>
        </p:spPr>
      </p:sp>
      <p:grpSp>
        <p:nvGrpSpPr>
          <p:cNvPr id="7" name="eng-title"/>
          <p:cNvGrpSpPr/>
          <p:nvPr/>
        </p:nvGrpSpPr>
        <p:grpSpPr>
          <a:xfrm>
            <a:off x="1009650" y="457200"/>
            <a:ext cx="11750040" cy="1441069"/>
            <a:chOff x="1009650" y="457200"/>
            <a:chExt cx="11750040" cy="1441069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57200"/>
              <a:ext cx="47100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04 / WHAT IS AGENT ENGINEERING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62000"/>
              <a:ext cx="1175004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工程化：把不确定性关进可运营的确定性外壳</a:t>
              </a:r>
              <a:endParaRPr lang="zh-CN" sz="4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556" y="1546225"/>
              <a:ext cx="106801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不是把模型包一层界面，而是把任务、上下文、工具、状态、权限与证据组织成可重复交付的系统。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eng-definition"/>
          <p:cNvGrpSpPr/>
          <p:nvPr/>
        </p:nvGrpSpPr>
        <p:grpSpPr>
          <a:xfrm>
            <a:off x="1028700" y="2057400"/>
            <a:ext cx="16230600" cy="723900"/>
            <a:chOff x="1028700" y="2057400"/>
            <a:chExt cx="16230600" cy="723900"/>
          </a:xfrm>
        </p:grpSpPr>
        <p:sp>
          <p:nvSpPr>
            <p:cNvPr id="8" name="Rectangle 8"/>
            <p:cNvSpPr/>
            <p:nvPr/>
          </p:nvSpPr>
          <p:spPr>
            <a:xfrm>
              <a:off x="1028700" y="2057400"/>
              <a:ext cx="16230600" cy="723900"/>
            </a:xfrm>
            <a:prstGeom prst="roundRect">
              <a:avLst>
                <a:gd name="adj" fmla="val 15789"/>
              </a:avLst>
            </a:prstGeom>
            <a:gradFill>
              <a:gsLst>
                <a:gs pos="0">
                  <a:srgbClr val="EAF2FF"/>
                </a:gs>
                <a:gs pos="55000">
                  <a:srgbClr val="F4EDFC"/>
                </a:gs>
                <a:gs pos="100000">
                  <a:srgbClr val="EDF7FA"/>
                </a:gs>
              </a:gsLst>
              <a:lin ang="0" scaled="1"/>
            </a:gradFill>
            <a:ln w="14288">
              <a:solidFill>
                <a:srgbClr val="CFE0F5"/>
              </a:solidFill>
            </a:ln>
          </p:spPr>
        </p:sp>
        <p:sp>
          <p:nvSpPr>
            <p:cNvPr id="9" name="TextBox 9"/>
            <p:cNvSpPr/>
            <p:nvPr/>
          </p:nvSpPr>
          <p:spPr>
            <a:xfrm>
              <a:off x="1324356" y="2289143"/>
              <a:ext cx="1446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工程化 =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3134868" y="2301907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约束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4163568" y="2301907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5B6B82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4544568" y="2301907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运行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5573268" y="2301907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5B6B82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5954268" y="2301907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982968" y="2301907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5B6B82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7363968" y="2301907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演化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8392668" y="2301907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5B6B82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8773668" y="2301907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可重复交付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10470261" y="2327243"/>
              <a:ext cx="55963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四类体系：边界、状态、证据、版本；标准不是定义。</a:t>
              </a:r>
            </a:p>
          </p:txBody>
        </p:sp>
      </p:grpSp>
      <p:grpSp>
        <p:nvGrpSpPr>
          <p:cNvPr id="47" name="eng-contrast"/>
          <p:cNvGrpSpPr/>
          <p:nvPr/>
        </p:nvGrpSpPr>
        <p:grpSpPr>
          <a:xfrm>
            <a:off x="1028700" y="3067050"/>
            <a:ext cx="4686300" cy="5181600"/>
            <a:chOff x="1028700" y="3067050"/>
            <a:chExt cx="4686300" cy="5181600"/>
          </a:xfrm>
        </p:grpSpPr>
        <p:sp>
          <p:nvSpPr>
            <p:cNvPr id="21" name="Rectangle 21"/>
            <p:cNvSpPr/>
            <p:nvPr/>
          </p:nvSpPr>
          <p:spPr>
            <a:xfrm>
              <a:off x="1028700" y="3067050"/>
              <a:ext cx="4686300" cy="5181600"/>
            </a:xfrm>
            <a:prstGeom prst="roundRect">
              <a:avLst>
                <a:gd name="adj" fmla="val 3049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07592" y="3282950"/>
              <a:ext cx="2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spc="10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从“会回答”到“会交付”</a:t>
              </a:r>
              <a:endParaRPr lang="zh-CN" sz="1350" spc="105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03782" y="3622675"/>
              <a:ext cx="14187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普通AI应用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14450" y="4105275"/>
              <a:ext cx="1219200" cy="476250"/>
            </a:xfrm>
            <a:prstGeom prst="roundRect">
              <a:avLst>
                <a:gd name="adj" fmla="val 16000"/>
              </a:avLst>
            </a:prstGeom>
            <a:solidFill>
              <a:srgbClr val="F3F6FB"/>
            </a:solidFill>
            <a:ln w="9525">
              <a:solidFill>
                <a:srgbClr val="DFE7F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96152" y="4244975"/>
              <a:ext cx="655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Prompt</a:t>
              </a:r>
              <a:endParaRPr lang="en-US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38806" y="419100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43225" y="4105275"/>
              <a:ext cx="1219200" cy="476250"/>
            </a:xfrm>
            <a:prstGeom prst="roundRect">
              <a:avLst>
                <a:gd name="adj" fmla="val 16000"/>
              </a:avLst>
            </a:prstGeom>
            <a:solidFill>
              <a:srgbClr val="F3F6FB"/>
            </a:solidFill>
            <a:ln w="9525">
              <a:solidFill>
                <a:srgbClr val="DFE7F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97845" y="4244975"/>
              <a:ext cx="509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Model</a:t>
              </a:r>
              <a:endParaRPr lang="en-US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7581" y="419100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0" y="4105275"/>
              <a:ext cx="857250" cy="476250"/>
            </a:xfrm>
            <a:prstGeom prst="roundRect">
              <a:avLst>
                <a:gd name="adj" fmla="val 16000"/>
              </a:avLst>
            </a:prstGeom>
            <a:solidFill>
              <a:srgbClr val="FFF2F3"/>
            </a:solidFill>
            <a:ln w="9525">
              <a:solidFill>
                <a:srgbClr val="F1C9C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72727" y="4244975"/>
              <a:ext cx="655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35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Output</a:t>
              </a:r>
              <a:endParaRPr lang="en-US" sz="135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07592" y="473075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特点：一次性输出，没有独立目标，也没有任务闭环。</a:t>
              </a:r>
              <a:endParaRPr lang="zh-CN" sz="135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1314450" y="5219700"/>
              <a:ext cx="4114800" cy="9525"/>
            </a:xfrm>
            <a:custGeom>
              <a:avLst/>
              <a:gdLst/>
              <a:ahLst/>
              <a:cxnLst/>
              <a:rect l="l" t="t" r="r" b="b"/>
              <a:pathLst>
                <a:path w="4114800" h="9525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03782" y="5394325"/>
              <a:ext cx="22603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Agent工程化应用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314450" y="5886450"/>
              <a:ext cx="971550" cy="476250"/>
            </a:xfrm>
            <a:prstGeom prst="roundRect">
              <a:avLst>
                <a:gd name="adj" fmla="val 16000"/>
              </a:avLst>
            </a:prstGeom>
            <a:solidFill>
              <a:srgbClr val="EAF2FF"/>
            </a:solidFill>
            <a:ln w="9525">
              <a:solidFill>
                <a:srgbClr val="BBD4F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21434" y="60388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91537" y="5984875"/>
              <a:ext cx="1448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7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676525" y="5886450"/>
              <a:ext cx="1314450" cy="476250"/>
            </a:xfrm>
            <a:prstGeom prst="roundRect">
              <a:avLst>
                <a:gd name="adj" fmla="val 16000"/>
              </a:avLst>
            </a:prstGeom>
            <a:solidFill>
              <a:srgbClr val="F4EDFC"/>
            </a:solidFill>
            <a:ln w="9525">
              <a:solidFill>
                <a:srgbClr val="D7B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816916" y="6038850"/>
              <a:ext cx="103366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8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Loop / Tools</a:t>
              </a:r>
              <a:endParaRPr lang="en-US" sz="128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96512" y="5984875"/>
              <a:ext cx="1448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7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81500" y="5886450"/>
              <a:ext cx="1047750" cy="476250"/>
            </a:xfrm>
            <a:prstGeom prst="roundRect">
              <a:avLst>
                <a:gd name="adj" fmla="val 16000"/>
              </a:avLst>
            </a:prstGeom>
            <a:solidFill>
              <a:srgbClr val="EDF7FA"/>
            </a:solidFill>
            <a:ln w="9525">
              <a:solidFill>
                <a:srgbClr val="BFE1E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38817" y="6038850"/>
              <a:ext cx="7331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8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Evidence</a:t>
              </a:r>
              <a:endParaRPr lang="en-US" sz="128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07592" y="6540500"/>
              <a:ext cx="2976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多步推进 · 有中间状态 · 每步可验证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314450" y="7029450"/>
              <a:ext cx="4114800" cy="876300"/>
            </a:xfrm>
            <a:prstGeom prst="roundRect">
              <a:avLst>
                <a:gd name="adj" fmla="val 10870"/>
              </a:avLst>
            </a:prstGeom>
            <a:solidFill>
              <a:schemeClr val="lt1"/>
            </a:solidFill>
            <a:ln w="9525">
              <a:solidFill>
                <a:srgbClr val="DCE9F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17142" y="7197725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工程化不是“加功能”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17523" y="7505700"/>
              <a:ext cx="380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而是把约束、验证与责任，提前设计进运行结构。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eng-stack"/>
          <p:cNvGrpSpPr/>
          <p:nvPr/>
        </p:nvGrpSpPr>
        <p:grpSpPr>
          <a:xfrm>
            <a:off x="6088761" y="3136900"/>
            <a:ext cx="7436739" cy="5111750"/>
            <a:chOff x="6088761" y="3136900"/>
            <a:chExt cx="7436739" cy="5111750"/>
          </a:xfrm>
        </p:grpSpPr>
        <p:sp>
          <p:nvSpPr>
            <p:cNvPr id="48" name="TextBox 48"/>
            <p:cNvSpPr txBox="1"/>
            <p:nvPr/>
          </p:nvSpPr>
          <p:spPr>
            <a:xfrm>
              <a:off x="6088761" y="3136900"/>
              <a:ext cx="26961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420" spc="10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AGENT ENGINEERING STACK</a:t>
              </a:r>
              <a:endParaRPr lang="en-US" sz="1420" spc="10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0" y="3486150"/>
              <a:ext cx="7429500" cy="666750"/>
            </a:xfrm>
            <a:prstGeom prst="roundRect">
              <a:avLst>
                <a:gd name="adj" fmla="val 14286"/>
              </a:avLst>
            </a:prstGeom>
            <a:solidFill>
              <a:srgbClr val="EAF2FF"/>
            </a:solidFill>
            <a:ln w="14288">
              <a:solidFill>
                <a:srgbClr val="BBD4F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35268" y="35877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业务任务层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0792" y="3616325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可验收目标 · 权限边界 · 停止条件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96000" y="4305300"/>
              <a:ext cx="7429500" cy="1809750"/>
            </a:xfrm>
            <a:prstGeom prst="roundRect">
              <a:avLst>
                <a:gd name="adj" fmla="val 6842"/>
              </a:avLst>
            </a:prstGeom>
            <a:gradFill>
              <a:gsLst>
                <a:gs pos="0">
                  <a:srgbClr val="0B3D96"/>
                </a:gs>
                <a:gs pos="100000">
                  <a:srgbClr val="32126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36030" y="4438650"/>
              <a:ext cx="1986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HARNESS / RUNTIME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59084" y="4476750"/>
              <a:ext cx="2324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C9D8FF"/>
                  </a:solidFill>
                  <a:latin typeface="+mn-lt"/>
                  <a:ea typeface="+mn-ea"/>
                  <a:cs typeface="+mn-cs"/>
                </a:rPr>
                <a:t>承载Agent Loop，组织运行状态</a:t>
              </a:r>
              <a:endParaRPr lang="zh-CN" sz="1200" dirty="0">
                <a:solidFill>
                  <a:srgbClr val="C9D8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343650" y="4810125"/>
              <a:ext cx="1295400" cy="971550"/>
            </a:xfrm>
            <a:prstGeom prst="roundRect">
              <a:avLst>
                <a:gd name="adj" fmla="val 7843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11886" y="49879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上下文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7391" y="5346700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装配 / 压缩</a:t>
              </a:r>
              <a:endParaRPr lang="zh-CN" sz="112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72400" y="4810125"/>
              <a:ext cx="1295400" cy="971550"/>
            </a:xfrm>
            <a:prstGeom prst="roundRect">
              <a:avLst>
                <a:gd name="adj" fmla="val 7843"/>
              </a:avLst>
            </a:prstGeom>
            <a:solidFill>
              <a:srgbClr val="FFFFFF">
                <a:alpha val="18000"/>
              </a:srgbClr>
            </a:solidFill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06029" y="4987925"/>
              <a:ext cx="1028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Loop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26141" y="5346700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计划 / 验证</a:t>
              </a:r>
              <a:endParaRPr lang="zh-CN" sz="112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01150" y="4810125"/>
              <a:ext cx="1295400" cy="971550"/>
            </a:xfrm>
            <a:prstGeom prst="roundRect">
              <a:avLst>
                <a:gd name="adj" fmla="val 7843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57817" y="4987925"/>
              <a:ext cx="982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 / MCP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41586" y="53467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系统连接</a:t>
              </a:r>
              <a:endParaRPr lang="zh-CN" sz="112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629900" y="4810125"/>
              <a:ext cx="1295400" cy="971550"/>
            </a:xfrm>
            <a:prstGeom prst="roundRect">
              <a:avLst>
                <a:gd name="adj" fmla="val 7843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797544" y="498792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 / 记忆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883641" y="5346700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会话 / 恢复</a:t>
              </a:r>
              <a:endParaRPr lang="zh-CN" sz="112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2058650" y="4810125"/>
              <a:ext cx="1219200" cy="971550"/>
            </a:xfrm>
            <a:prstGeom prst="roundRect">
              <a:avLst>
                <a:gd name="adj" fmla="val 7843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2297918" y="4987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模型路由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274291" y="5346700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适配 / 替换</a:t>
              </a:r>
              <a:endParaRPr lang="zh-CN" sz="112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96000" y="6305550"/>
              <a:ext cx="7429500" cy="1943100"/>
            </a:xfrm>
            <a:prstGeom prst="roundRect">
              <a:avLst>
                <a:gd name="adj" fmla="val 6373"/>
              </a:avLst>
            </a:prstGeom>
            <a:solidFill>
              <a:srgbClr val="FFF9FA"/>
            </a:solidFill>
            <a:ln w="15240">
              <a:solidFill>
                <a:srgbClr val="F1C9C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36030" y="6451600"/>
              <a:ext cx="2917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CONTROL PLANE / 证据与责任</a:t>
              </a:r>
              <a:endParaRPr lang="zh-CN" sz="15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26597" y="6477000"/>
              <a:ext cx="2257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让AI能停止、回退、解释、追责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343650" y="6819900"/>
              <a:ext cx="1295400" cy="10668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11294" y="700722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 / 沙箱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84086" y="73564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最小授权</a:t>
              </a:r>
              <a:endParaRPr lang="zh-CN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772400" y="6819900"/>
              <a:ext cx="1295400" cy="10668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049768" y="70072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人工确认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12836" y="73564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关键门禁</a:t>
              </a:r>
              <a:endParaRPr lang="zh-CN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201150" y="6819900"/>
              <a:ext cx="1295400" cy="10668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368794" y="700722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 / 回归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541586" y="73564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质量基线</a:t>
              </a:r>
              <a:endParaRPr lang="zh-CN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629900" y="6819900"/>
              <a:ext cx="1295400" cy="10668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797544" y="700722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 / 审计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970336" y="73564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调用证据</a:t>
              </a:r>
              <a:endParaRPr lang="zh-CN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2058650" y="6819900"/>
              <a:ext cx="1219200" cy="10668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2188194" y="700722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 / 回退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2360986" y="73564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产物恢复</a:t>
              </a:r>
              <a:endParaRPr lang="zh-CN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eng-outcomes"/>
          <p:cNvGrpSpPr/>
          <p:nvPr/>
        </p:nvGrpSpPr>
        <p:grpSpPr>
          <a:xfrm>
            <a:off x="13982700" y="3067050"/>
            <a:ext cx="3276600" cy="5181600"/>
            <a:chOff x="13982700" y="3067050"/>
            <a:chExt cx="3276600" cy="5181600"/>
          </a:xfrm>
        </p:grpSpPr>
        <p:sp>
          <p:nvSpPr>
            <p:cNvPr id="89" name="Rectangle 89"/>
            <p:cNvSpPr/>
            <p:nvPr/>
          </p:nvSpPr>
          <p:spPr>
            <a:xfrm>
              <a:off x="13982700" y="3067050"/>
              <a:ext cx="3276600" cy="5181600"/>
            </a:xfrm>
            <a:prstGeom prst="roundRect">
              <a:avLst>
                <a:gd name="adj" fmla="val 4360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4261592" y="3282950"/>
              <a:ext cx="1566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spc="105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工程化的四个结果</a:t>
              </a:r>
              <a:endParaRPr lang="zh-CN" sz="1350" spc="105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4258163" y="360680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不是演示，而是默认值</a:t>
              </a:r>
              <a:endPara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2" name="Ellipse 92"/>
            <p:cNvSpPr/>
            <p:nvPr/>
          </p:nvSpPr>
          <p:spPr>
            <a:xfrm>
              <a:off x="14268450" y="4162425"/>
              <a:ext cx="381000" cy="381000"/>
            </a:xfrm>
            <a:prstGeom prst="ellipse">
              <a:avLst/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4406208" y="4267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4793849" y="4114800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可重复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4795754" y="441007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同一任务下次仍能跑通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6" name="Ellipse 96"/>
            <p:cNvSpPr/>
            <p:nvPr/>
          </p:nvSpPr>
          <p:spPr>
            <a:xfrm>
              <a:off x="14268450" y="4762500"/>
              <a:ext cx="381000" cy="381000"/>
            </a:xfrm>
            <a:prstGeom prst="ellipse">
              <a:avLst/>
            </a:prstGeom>
            <a:solidFill>
              <a:srgbClr val="EDF7F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4406208" y="48672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20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4793849" y="4714875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可解释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4795754" y="50101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答案、动作与依据可追溯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14268450" y="5362575"/>
              <a:ext cx="381000" cy="381000"/>
            </a:xfrm>
            <a:prstGeom prst="ellipse">
              <a:avLst/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4406208" y="54673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2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4793849" y="5314950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可恢复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4795754" y="56102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出错能停，版本能退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14268450" y="5962650"/>
              <a:ext cx="381000" cy="381000"/>
            </a:xfrm>
            <a:prstGeom prst="ellipse">
              <a:avLst/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4406208" y="60674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20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4793849" y="5915025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可接手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4795754" y="62103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人换岗，任务和证据仍完整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14268450" y="6743700"/>
              <a:ext cx="2705100" cy="1162050"/>
            </a:xfrm>
            <a:prstGeom prst="roundRect">
              <a:avLst>
                <a:gd name="adj" fmla="val 7377"/>
              </a:avLst>
            </a:prstGeom>
            <a:solidFill>
              <a:srgbClr val="FFF9FA"/>
            </a:solidFill>
            <a:ln w="9525">
              <a:solidFill>
                <a:srgbClr val="F1C9CF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4471142" y="69024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不只金融需要</a:t>
              </a:r>
              <a:endParaRPr lang="zh-CN" sz="135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4471904" y="7200900"/>
              <a:ext cx="2238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所有严肃的Agent规模化应用，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4471904" y="74485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都需要工程化；金融只是把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4471904" y="76962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准确、可靠、可追溯推到最高。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7" name="eng-formula"/>
          <p:cNvGrpSpPr/>
          <p:nvPr/>
        </p:nvGrpSpPr>
        <p:grpSpPr>
          <a:xfrm>
            <a:off x="1028700" y="8572500"/>
            <a:ext cx="16230600" cy="628650"/>
            <a:chOff x="1028700" y="8572500"/>
            <a:chExt cx="16230600" cy="628650"/>
          </a:xfrm>
        </p:grpSpPr>
        <p:sp>
          <p:nvSpPr>
            <p:cNvPr id="114" name="Rectangle 114"/>
            <p:cNvSpPr/>
            <p:nvPr/>
          </p:nvSpPr>
          <p:spPr>
            <a:xfrm>
              <a:off x="1028700" y="8572500"/>
              <a:ext cx="16230600" cy="628650"/>
            </a:xfrm>
            <a:prstGeom prst="roundRect">
              <a:avLst>
                <a:gd name="adj" fmla="val 16667"/>
              </a:avLst>
            </a:prstGeom>
            <a:solidFill>
              <a:srgbClr val="EAF2FF"/>
            </a:solidFill>
            <a:ln w="14288">
              <a:solidFill>
                <a:srgbClr val="CFE0F5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360551" y="8715375"/>
              <a:ext cx="598989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模型能力 </a:t>
              </a:r>
              <a:r>
                <a:rPr lang="zh-CN" sz="21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×</a:t>
              </a:r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工程化水平 </a:t>
              </a:r>
              <a:r>
                <a:rPr lang="zh-CN" sz="21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=</a:t>
              </a:r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可托付的Agent产能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6" name="TextBox 116"/>
            <p:cNvSpPr/>
            <p:nvPr/>
          </p:nvSpPr>
          <p:spPr>
            <a:xfrm>
              <a:off x="14692312" y="8807482"/>
              <a:ext cx="2230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r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从加法，到乘法</a:t>
              </a:r>
            </a:p>
          </p:txBody>
        </p:sp>
      </p:grpSp>
      <p:grpSp>
        <p:nvGrpSpPr>
          <p:cNvPr id="120" name="eng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118" name="TextBox 118"/>
            <p:cNvSpPr txBox="1"/>
            <p:nvPr/>
          </p:nvSpPr>
          <p:spPr>
            <a:xfrm>
              <a:off x="1021080" y="9623425"/>
              <a:ext cx="2877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AI Agent工程化应用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04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8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6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1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90"/>
                            </p:stCondLst>
                            <p:childTnLst>
                              <p:par>
                                <p:cTn id="29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840"/>
                            </p:stCondLst>
                            <p:childTnLst>
                              <p:par>
                                <p:cTn id="34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7"/>
                                        </p:tgtEl>
                                      </p:cBhvr>
                                      <p:by x="150000" y="150000"/>
                                      <p:to x="102000" y="10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rness-grid"/>
          <p:cNvSpPr/>
          <p:nvPr/>
        </p:nvSpPr>
        <p:spPr>
          <a:xfrm>
            <a:off x="1028700" y="1847850"/>
            <a:ext cx="16230600" cy="7372350"/>
          </a:xfrm>
          <a:custGeom>
            <a:avLst/>
            <a:gdLst/>
            <a:ahLst/>
            <a:cxnLst/>
            <a:rect l="l" t="t" r="r" b="b"/>
            <a:pathLst>
              <a:path w="16230600" h="7372350">
                <a:moveTo>
                  <a:pt x="0" y="95250"/>
                </a:moveTo>
                <a:lnTo>
                  <a:pt x="16230600" y="95250"/>
                </a:lnTo>
                <a:moveTo>
                  <a:pt x="0" y="6496050"/>
                </a:moveTo>
                <a:lnTo>
                  <a:pt x="16230600" y="6496050"/>
                </a:lnTo>
                <a:moveTo>
                  <a:pt x="0" y="7277100"/>
                </a:moveTo>
                <a:lnTo>
                  <a:pt x="16230600" y="7277100"/>
                </a:lnTo>
                <a:moveTo>
                  <a:pt x="4781550" y="0"/>
                </a:moveTo>
                <a:lnTo>
                  <a:pt x="4781550" y="7372350"/>
                </a:lnTo>
                <a:moveTo>
                  <a:pt x="13392150" y="0"/>
                </a:moveTo>
                <a:lnTo>
                  <a:pt x="13392150" y="7372350"/>
                </a:lnTo>
              </a:path>
            </a:pathLst>
          </a:custGeom>
          <a:noFill/>
          <a:ln w="14288">
            <a:solidFill>
              <a:srgbClr val="EAF1FB"/>
            </a:solidFill>
          </a:ln>
        </p:spPr>
      </p:sp>
      <p:sp>
        <p:nvSpPr>
          <p:cNvPr id="3" name="harness-orbit"/>
          <p:cNvSpPr/>
          <p:nvPr/>
        </p:nvSpPr>
        <p:spPr>
          <a:xfrm>
            <a:off x="14420850" y="-2781300"/>
            <a:ext cx="6286500" cy="6286500"/>
          </a:xfrm>
          <a:prstGeom prst="ellipse">
            <a:avLst/>
          </a:prstGeom>
          <a:noFill/>
          <a:ln w="14288">
            <a:solidFill>
              <a:srgbClr val="DCE9F8"/>
            </a:solidFill>
          </a:ln>
        </p:spPr>
      </p:sp>
      <p:grpSp>
        <p:nvGrpSpPr>
          <p:cNvPr id="7" name="harness-title"/>
          <p:cNvGrpSpPr/>
          <p:nvPr/>
        </p:nvGrpSpPr>
        <p:grpSpPr>
          <a:xfrm>
            <a:off x="1009650" y="457200"/>
            <a:ext cx="9946512" cy="1441069"/>
            <a:chOff x="1009650" y="457200"/>
            <a:chExt cx="9946512" cy="1441069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57200"/>
              <a:ext cx="62142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05 / INDUSTRY SIGNAL · DEEPSEEK HARNESS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62000"/>
              <a:ext cx="994651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Agent运行时，正在成为新的工程</a:t>
              </a:r>
              <a:r>
                <a:rPr lang="zh-CN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化底座</a:t>
              </a:r>
              <a:endParaRPr lang="zh-CN" sz="4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556" y="1546225"/>
              <a:ext cx="92142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DeepSeek Harness 给出的信号：不是模型更强，而是运行、扩展与治理被重新组织。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harness-signal"/>
          <p:cNvGrpSpPr/>
          <p:nvPr/>
        </p:nvGrpSpPr>
        <p:grpSpPr>
          <a:xfrm>
            <a:off x="1028700" y="2000250"/>
            <a:ext cx="4781550" cy="6172200"/>
            <a:chOff x="1028700" y="2000250"/>
            <a:chExt cx="4781550" cy="6172200"/>
          </a:xfrm>
        </p:grpSpPr>
        <p:sp>
          <p:nvSpPr>
            <p:cNvPr id="8" name="Rectangle 8"/>
            <p:cNvSpPr/>
            <p:nvPr/>
          </p:nvSpPr>
          <p:spPr>
            <a:xfrm>
              <a:off x="1028700" y="2000250"/>
              <a:ext cx="4781550" cy="6172200"/>
            </a:xfrm>
            <a:prstGeom prst="roundRect">
              <a:avLst>
                <a:gd name="adj" fmla="val 2988"/>
              </a:avLst>
            </a:prstGeom>
            <a:gradFill>
              <a:gsLst>
                <a:gs pos="0">
                  <a:srgbClr val="0B3D96"/>
                </a:gs>
                <a:gs pos="100000">
                  <a:srgbClr val="32126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45692" y="2235200"/>
              <a:ext cx="2509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98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PUBLIC SIGNAL · 2026.10</a:t>
              </a:r>
              <a:endParaRPr lang="en-US" sz="1350" spc="98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8072" y="2597150"/>
              <a:ext cx="35123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DeepSeek Harness</a:t>
              </a:r>
              <a:endParaRPr lang="en-US" sz="28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4549" y="3143250"/>
              <a:ext cx="246485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Everything is a Plugin.</a:t>
              </a:r>
              <a:endParaRPr lang="en-US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352550" y="360045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14288">
              <a:solidFill>
                <a:srgbClr val="FFFFFF">
                  <a:alpha val="28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5692" y="3844925"/>
              <a:ext cx="2415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它是Agent运行时/Harness，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5692" y="413067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不是一个更大的模型。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5692" y="46355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官方公开的工程事实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45692" y="4997450"/>
              <a:ext cx="3248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marL="145415" indent="-145415" algn="l">
                <a:buClr>
                  <a:srgbClr val="DCE9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模型适配器、工具注册表、会话日志，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8092" y="5273675"/>
              <a:ext cx="24337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甚至Agent Loop本身都是插件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5692" y="5645150"/>
              <a:ext cx="3021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marL="145415" indent="-145415" algn="l">
                <a:buClr>
                  <a:srgbClr val="DCE9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profile / bundle / patch 分层组合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5692" y="6016625"/>
              <a:ext cx="3139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marL="145415" indent="-145415" algn="l">
                <a:buClr>
                  <a:srgbClr val="DCE9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能力seam连接接口、提供方与消费者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45692" y="6388100"/>
              <a:ext cx="2703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marL="145415" indent="-145415" algn="l">
                <a:buClr>
                  <a:srgbClr val="DCE9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无特权内核，挂载插件即可扩展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52550" y="6934200"/>
              <a:ext cx="4133850" cy="876300"/>
            </a:xfrm>
            <a:prstGeom prst="roundRect">
              <a:avLst>
                <a:gd name="adj" fmla="val 9783"/>
              </a:avLst>
            </a:prstGeom>
            <a:solidFill>
              <a:srgbClr val="FFFFFF">
                <a:alpha val="11000"/>
              </a:srgbClr>
            </a:solidFill>
            <a:ln w="9525">
              <a:solidFill>
                <a:srgbClr val="FFFFFF">
                  <a:alpha val="24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36573" y="7105650"/>
              <a:ext cx="24667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开源状态：developer preview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36954" y="7391400"/>
              <a:ext cx="2976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MIT · TypeScript · 仍会存在破坏性变更</a:t>
              </a:r>
              <a:endParaRPr lang="zh-CN" sz="120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0" name="harness-tree"/>
          <p:cNvGrpSpPr/>
          <p:nvPr/>
        </p:nvGrpSpPr>
        <p:grpSpPr>
          <a:xfrm>
            <a:off x="6088761" y="2089150"/>
            <a:ext cx="8046339" cy="6083300"/>
            <a:chOff x="6088761" y="2089150"/>
            <a:chExt cx="8046339" cy="6083300"/>
          </a:xfrm>
        </p:grpSpPr>
        <p:sp>
          <p:nvSpPr>
            <p:cNvPr id="25" name="TextBox 25"/>
            <p:cNvSpPr txBox="1"/>
            <p:nvPr/>
          </p:nvSpPr>
          <p:spPr>
            <a:xfrm>
              <a:off x="6088761" y="2089150"/>
              <a:ext cx="39121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spc="10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HARNESS COMPOSITION / 公开架构抽象</a:t>
              </a:r>
              <a:endParaRPr lang="zh-CN" sz="1420" spc="10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0" y="2457450"/>
              <a:ext cx="8039100" cy="609600"/>
            </a:xfrm>
            <a:prstGeom prst="roundRect">
              <a:avLst>
                <a:gd name="adj" fmla="val 15625"/>
              </a:avLst>
            </a:prstGeom>
            <a:solidFill>
              <a:srgbClr val="EAF2FF"/>
            </a:solidFill>
            <a:ln w="14288">
              <a:solidFill>
                <a:srgbClr val="BBD4F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6411" y="2641600"/>
              <a:ext cx="9370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PROFILES</a:t>
              </a:r>
              <a:endParaRPr lang="en-US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429500" y="2590800"/>
              <a:ext cx="12954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21676" y="266700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877300" y="2590800"/>
              <a:ext cx="14097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40850" y="266700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headless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39400" y="2590800"/>
              <a:ext cx="11811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90580" y="266700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sdk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772900" y="2590800"/>
              <a:ext cx="11811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224080" y="266700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acp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71754" y="26670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按需组合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10115550" y="3067050"/>
              <a:ext cx="1" cy="3048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0" y="3429000"/>
              <a:ext cx="8039100" cy="3143250"/>
            </a:xfrm>
            <a:prstGeom prst="roundRect">
              <a:avLst>
                <a:gd name="adj" fmla="val 4242"/>
              </a:avLst>
            </a:prstGeom>
            <a:gradFill>
              <a:gsLst>
                <a:gs pos="0">
                  <a:schemeClr val="lt1"/>
                </a:gs>
                <a:gs pos="100000">
                  <a:srgbClr val="FFFFFF"/>
                </a:gs>
              </a:gsLst>
              <a:lin ang="0" scaled="1"/>
            </a:gradFill>
            <a:ln w="16192">
              <a:solidFill>
                <a:srgbClr val="CFE0F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6030" y="3594100"/>
              <a:ext cx="3939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PLUGIN TREE / 每一块能力都可挂载、替换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83998" y="3619500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 privileged core</a:t>
              </a:r>
              <a:endParaRPr lang="en-US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43650" y="4000500"/>
              <a:ext cx="2247900" cy="971550"/>
            </a:xfrm>
            <a:prstGeom prst="roundRect">
              <a:avLst>
                <a:gd name="adj" fmla="val 8824"/>
              </a:avLst>
            </a:prstGeom>
            <a:solidFill>
              <a:srgbClr val="EAF2FF"/>
            </a:solidFill>
            <a:ln w="9525">
              <a:solidFill>
                <a:srgbClr val="BBD4F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55155" y="417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模型适配器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05606" y="4505325"/>
              <a:ext cx="1123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Model adapter</a:t>
              </a:r>
              <a:endParaRPr lang="en-US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43950" y="4000500"/>
              <a:ext cx="2247900" cy="971550"/>
            </a:xfrm>
            <a:prstGeom prst="roundRect">
              <a:avLst>
                <a:gd name="adj" fmla="val 8824"/>
              </a:avLst>
            </a:prstGeom>
            <a:solidFill>
              <a:srgbClr val="F4EDFC"/>
            </a:solidFill>
            <a:ln w="9525">
              <a:solidFill>
                <a:srgbClr val="D7B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55455" y="417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工具注册表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42425" y="4505325"/>
              <a:ext cx="1050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Tool registry</a:t>
              </a:r>
              <a:endParaRPr lang="en-US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144250" y="4000500"/>
              <a:ext cx="2743200" cy="971550"/>
            </a:xfrm>
            <a:prstGeom prst="roundRect">
              <a:avLst>
                <a:gd name="adj" fmla="val 8824"/>
              </a:avLst>
            </a:prstGeom>
            <a:solidFill>
              <a:srgbClr val="EDF7FA"/>
            </a:solidFill>
            <a:ln w="9525">
              <a:solidFill>
                <a:srgbClr val="BFE1E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104370" y="4175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会话日志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6347" y="4505325"/>
              <a:ext cx="1859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Append-only session log</a:t>
              </a:r>
              <a:endParaRPr lang="en-US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343650" y="5143500"/>
              <a:ext cx="2247900" cy="971550"/>
            </a:xfrm>
            <a:prstGeom prst="roundRect">
              <a:avLst>
                <a:gd name="adj" fmla="val 8824"/>
              </a:avLst>
            </a:prstGeom>
            <a:solidFill>
              <a:srgbClr val="FFF2F3"/>
            </a:solidFill>
            <a:ln w="9525">
              <a:solidFill>
                <a:srgbClr val="F1C9C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6410" y="5305425"/>
              <a:ext cx="114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Loop</a:t>
              </a:r>
              <a:endParaRPr lang="en-US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57644" y="56483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默认驱动器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743950" y="5143500"/>
              <a:ext cx="2247900" cy="971550"/>
            </a:xfrm>
            <a:prstGeom prst="roundRect">
              <a:avLst>
                <a:gd name="adj" fmla="val 8824"/>
              </a:avLst>
            </a:prstGeom>
            <a:solidFill>
              <a:srgbClr val="FFF9FA"/>
            </a:solidFill>
            <a:ln w="9525">
              <a:solidFill>
                <a:srgbClr val="F1C9C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55455" y="5318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沙箱与审批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19951" y="5648325"/>
              <a:ext cx="1495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Sandbox / approval</a:t>
              </a:r>
              <a:endParaRPr lang="en-US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144250" y="5143500"/>
              <a:ext cx="2743200" cy="971550"/>
            </a:xfrm>
            <a:prstGeom prst="roundRect">
              <a:avLst>
                <a:gd name="adj" fmla="val 8824"/>
              </a:avLst>
            </a:prstGeom>
            <a:solidFill>
              <a:srgbClr val="F3F6FB"/>
            </a:solidFill>
            <a:ln w="9525">
              <a:solidFill>
                <a:srgbClr val="DFE7F3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758427" y="5318125"/>
              <a:ext cx="1514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· 遥测 · 扩展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816547" y="5648325"/>
              <a:ext cx="1398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Product surfaces</a:t>
              </a:r>
              <a:endParaRPr lang="en-US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47043" y="6213475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配置组合、补丁覆盖、卸载可逆</a:t>
              </a:r>
              <a:endParaRPr lang="zh-CN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6781800"/>
              <a:ext cx="8039100" cy="1390650"/>
            </a:xfrm>
            <a:prstGeom prst="roundRect">
              <a:avLst>
                <a:gd name="adj" fmla="val 8219"/>
              </a:avLst>
            </a:prstGeom>
            <a:solidFill>
              <a:schemeClr val="lt1"/>
            </a:solidFill>
            <a:ln w="15240">
              <a:solidFill>
                <a:srgbClr val="CFE0F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36030" y="6956425"/>
              <a:ext cx="4517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CORDIS / 共享上下文 · 类型化事件 · 可逆副作用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37173" y="73342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插件向共享上下文贡献服务；通过事件形成扩展点；卸载时注册效果可撤销。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343650" y="7658100"/>
              <a:ext cx="180975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86368" y="7737475"/>
              <a:ext cx="13243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Service Definition</a:t>
              </a:r>
              <a:endParaRPr lang="en-US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05800" y="7658100"/>
              <a:ext cx="180975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7B8F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93513" y="7737475"/>
              <a:ext cx="1234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12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Service Provider</a:t>
              </a:r>
              <a:endParaRPr lang="en-US" sz="112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267950" y="7658100"/>
              <a:ext cx="180975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FE1E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817875" y="7737475"/>
              <a:ext cx="709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12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Consumer</a:t>
              </a:r>
              <a:endParaRPr lang="en-US" sz="112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300585" y="7737475"/>
              <a:ext cx="1267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= Capability seam</a:t>
              </a:r>
              <a:endParaRPr lang="en-US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3" name="harness-insight"/>
          <p:cNvGrpSpPr/>
          <p:nvPr/>
        </p:nvGrpSpPr>
        <p:grpSpPr>
          <a:xfrm>
            <a:off x="14439900" y="2000250"/>
            <a:ext cx="2819400" cy="6172200"/>
            <a:chOff x="14439900" y="2000250"/>
            <a:chExt cx="2819400" cy="6172200"/>
          </a:xfrm>
        </p:grpSpPr>
        <p:sp>
          <p:nvSpPr>
            <p:cNvPr id="71" name="Rectangle 71"/>
            <p:cNvSpPr/>
            <p:nvPr/>
          </p:nvSpPr>
          <p:spPr>
            <a:xfrm>
              <a:off x="14439900" y="2000250"/>
              <a:ext cx="2819400" cy="6172200"/>
            </a:xfrm>
            <a:prstGeom prst="roundRect">
              <a:avLst>
                <a:gd name="adj" fmla="val 5068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718792" y="2216150"/>
              <a:ext cx="1566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spc="105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对金融的四个启示</a:t>
              </a:r>
              <a:endParaRPr lang="zh-CN" sz="1350" spc="105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4716506" y="25463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平台看接口，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716506" y="28321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不只功能。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4718030" y="3251200"/>
              <a:ext cx="1300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运行外壳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4719173" y="353377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模型之外，是否有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4719173" y="376237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可控的运行环境？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Line 78"/>
            <p:cNvSpPr/>
            <p:nvPr/>
          </p:nvSpPr>
          <p:spPr>
            <a:xfrm>
              <a:off x="14725650" y="41148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4718030" y="4241800"/>
              <a:ext cx="1300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02 / 能力接口</a:t>
              </a:r>
              <a:endParaRPr lang="zh-CN" sz="150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4719173" y="4524375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模型、工具、策略能否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4719173" y="475297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替换而不推倒重来？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Line 82"/>
            <p:cNvSpPr/>
            <p:nvPr/>
          </p:nvSpPr>
          <p:spPr>
            <a:xfrm>
              <a:off x="14725650" y="51054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4718030" y="5232400"/>
              <a:ext cx="1300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03 / 证据默认</a:t>
              </a:r>
              <a:endParaRPr lang="zh-CN" sz="15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4719173" y="551497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会话、动作、审批、回退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4719173" y="574357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是否天然留痕？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Line 86"/>
            <p:cNvSpPr/>
            <p:nvPr/>
          </p:nvSpPr>
          <p:spPr>
            <a:xfrm>
              <a:off x="14725650" y="60960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4718030" y="6223000"/>
              <a:ext cx="1300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04 / 迁移壁垒</a:t>
              </a:r>
              <a:endParaRPr lang="zh-CN" sz="150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4719173" y="650557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能力沉淀在接口与插件，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4719173" y="673417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越用越难替换。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4725650" y="7143750"/>
              <a:ext cx="2247900" cy="723900"/>
            </a:xfrm>
            <a:prstGeom prst="roundRect">
              <a:avLst>
                <a:gd name="adj" fmla="val 11842"/>
              </a:avLst>
            </a:prstGeom>
            <a:solidFill>
              <a:srgbClr val="F4EDFC"/>
            </a:solidFill>
            <a:ln w="9525">
              <a:solidFill>
                <a:srgbClr val="D7B8F0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4928723" y="72961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生态竞争的下半场</a:t>
              </a:r>
              <a:endParaRPr lang="zh-CN" sz="128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4929485" y="75565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比较的是接口、组合与治理。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6" name="harness-takeaway"/>
          <p:cNvGrpSpPr/>
          <p:nvPr/>
        </p:nvGrpSpPr>
        <p:grpSpPr>
          <a:xfrm>
            <a:off x="1028700" y="8496300"/>
            <a:ext cx="16230600" cy="514350"/>
            <a:chOff x="1028700" y="8496300"/>
            <a:chExt cx="16230600" cy="514350"/>
          </a:xfrm>
        </p:grpSpPr>
        <p:sp>
          <p:nvSpPr>
            <p:cNvPr id="94" name="Rectangle 94"/>
            <p:cNvSpPr/>
            <p:nvPr/>
          </p:nvSpPr>
          <p:spPr>
            <a:xfrm>
              <a:off x="1028700" y="8496300"/>
              <a:ext cx="16230600" cy="514350"/>
            </a:xfrm>
            <a:prstGeom prst="roundRect">
              <a:avLst>
                <a:gd name="adj" fmla="val 18519"/>
              </a:avLst>
            </a:prstGeom>
            <a:solidFill>
              <a:srgbClr val="EAF2FF"/>
            </a:solidFill>
            <a:ln w="12382">
              <a:solidFill>
                <a:srgbClr val="CFE0F5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306068" y="8636000"/>
              <a:ext cx="12027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Harness不是“多一个Agent框架”，而是把Agent运行所需的上下文、工具、状态、权限与恢复，做成可组合的工程外壳。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8" name="harness-source"/>
          <p:cNvGrpSpPr/>
          <p:nvPr/>
        </p:nvGrpSpPr>
        <p:grpSpPr>
          <a:xfrm>
            <a:off x="1023366" y="9226550"/>
            <a:ext cx="10746528" cy="205359"/>
            <a:chOff x="1023366" y="9226550"/>
            <a:chExt cx="10746528" cy="205359"/>
          </a:xfrm>
        </p:grpSpPr>
        <p:sp>
          <p:nvSpPr>
            <p:cNvPr id="97" name="TextBox 97"/>
            <p:cNvSpPr txBox="1"/>
            <p:nvPr/>
          </p:nvSpPr>
          <p:spPr>
            <a:xfrm>
              <a:off x="1023366" y="9226550"/>
              <a:ext cx="10746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公开来源：DeepSeek Harness官方仓库与架构文档（developer preview，截至2026.10）；仅作行业工程信号与公开能力观察，不表示EsXCode/EsXWork采用同一架构。</a:t>
              </a:r>
              <a:endParaRPr lang="zh-CN" sz="10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16575214" y="961072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rPr>
              <a:t>05 / 24</a:t>
            </a:r>
            <a:endParaRPr lang="zh-CN" sz="1500" dirty="0">
              <a:solidFill>
                <a:srgbClr val="5B6B8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50">
        <p:push/>
      </p:transition>
    </mc:Choice>
    <mc:Fallback>
      <p:transition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8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3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10"/>
                            </p:stCondLst>
                            <p:childTnLst>
                              <p:par>
                                <p:cTn id="22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76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grid"/>
          <p:cNvSpPr/>
          <p:nvPr/>
        </p:nvSpPr>
        <p:spPr>
          <a:xfrm>
            <a:off x="1028700" y="1847850"/>
            <a:ext cx="16230600" cy="7162800"/>
          </a:xfrm>
          <a:custGeom>
            <a:avLst/>
            <a:gdLst/>
            <a:ahLst/>
            <a:cxnLst/>
            <a:rect l="l" t="t" r="r" b="b"/>
            <a:pathLst>
              <a:path w="16230600" h="7162800">
                <a:moveTo>
                  <a:pt x="0" y="114300"/>
                </a:moveTo>
                <a:lnTo>
                  <a:pt x="16230600" y="114300"/>
                </a:lnTo>
                <a:moveTo>
                  <a:pt x="0" y="3829050"/>
                </a:moveTo>
                <a:lnTo>
                  <a:pt x="16230600" y="3829050"/>
                </a:lnTo>
                <a:moveTo>
                  <a:pt x="0" y="6000750"/>
                </a:moveTo>
                <a:lnTo>
                  <a:pt x="16230600" y="6000750"/>
                </a:lnTo>
                <a:moveTo>
                  <a:pt x="0" y="7086600"/>
                </a:moveTo>
                <a:lnTo>
                  <a:pt x="16230600" y="7086600"/>
                </a:lnTo>
                <a:moveTo>
                  <a:pt x="3829050" y="0"/>
                </a:moveTo>
                <a:lnTo>
                  <a:pt x="3829050" y="7162800"/>
                </a:lnTo>
                <a:moveTo>
                  <a:pt x="7886700" y="0"/>
                </a:moveTo>
                <a:lnTo>
                  <a:pt x="7886700" y="7162800"/>
                </a:lnTo>
                <a:moveTo>
                  <a:pt x="11944350" y="0"/>
                </a:moveTo>
                <a:lnTo>
                  <a:pt x="11944350" y="7162800"/>
                </a:lnTo>
              </a:path>
            </a:pathLst>
          </a:custGeom>
          <a:noFill/>
          <a:ln w="14288">
            <a:solidFill>
              <a:srgbClr val="EAF1FB"/>
            </a:solidFill>
          </a:ln>
        </p:spPr>
      </p:sp>
      <p:sp>
        <p:nvSpPr>
          <p:cNvPr id="3" name="frame-orbit"/>
          <p:cNvSpPr/>
          <p:nvPr/>
        </p:nvSpPr>
        <p:spPr>
          <a:xfrm>
            <a:off x="14458950" y="-2857500"/>
            <a:ext cx="6286500" cy="6286500"/>
          </a:xfrm>
          <a:prstGeom prst="ellipse">
            <a:avLst/>
          </a:prstGeom>
          <a:noFill/>
          <a:ln w="14288">
            <a:solidFill>
              <a:srgbClr val="DCE9F8"/>
            </a:solidFill>
          </a:ln>
        </p:spPr>
      </p:sp>
      <p:grpSp>
        <p:nvGrpSpPr>
          <p:cNvPr id="7" name="frame-title"/>
          <p:cNvGrpSpPr/>
          <p:nvPr/>
        </p:nvGrpSpPr>
        <p:grpSpPr>
          <a:xfrm>
            <a:off x="1009650" y="457200"/>
            <a:ext cx="11164443" cy="1441037"/>
            <a:chOff x="1009650" y="457200"/>
            <a:chExt cx="11164443" cy="1441037"/>
          </a:xfrm>
        </p:grpSpPr>
        <p:sp>
          <p:nvSpPr>
            <p:cNvPr id="4" name="TextBox 4"/>
            <p:cNvSpPr/>
            <p:nvPr/>
          </p:nvSpPr>
          <p:spPr>
            <a:xfrm>
              <a:off x="1019556" y="457200"/>
              <a:ext cx="40955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Arial"/>
                  <a:ea typeface="Arial"/>
                  <a:cs typeface="Arial"/>
                </a:rPr>
                <a:t>06 / VALUE SHIFT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1009650" y="762000"/>
              <a:ext cx="1116444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8100" rIns="0" bIns="0" anchor="t" anchorCtr="0">
              <a:noAutofit/>
            </a:bodyPr>
            <a:lstStyle/>
            <a:p>
              <a:pPr algn="l"/>
              <a:r>
                <a:rPr lang="zh-CN" sz="40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价值重构：不是更快，而是价值方程变了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1019556" y="1546193"/>
              <a:ext cx="108694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技术赋能让某个环节更快；价值重构改变价值单位、成本结构、稀缺能力与能力资产。</a:t>
              </a:r>
            </a:p>
          </p:txBody>
        </p:sp>
      </p:grpSp>
      <p:grpSp>
        <p:nvGrpSpPr>
          <p:cNvPr id="20" name="frame-harness"/>
          <p:cNvGrpSpPr/>
          <p:nvPr/>
        </p:nvGrpSpPr>
        <p:grpSpPr>
          <a:xfrm>
            <a:off x="1028700" y="2019300"/>
            <a:ext cx="3714750" cy="3543300"/>
            <a:chOff x="1028700" y="2019300"/>
            <a:chExt cx="3714750" cy="3543300"/>
          </a:xfrm>
        </p:grpSpPr>
        <p:sp>
          <p:nvSpPr>
            <p:cNvPr id="8" name="Rectangle 8"/>
            <p:cNvSpPr/>
            <p:nvPr/>
          </p:nvSpPr>
          <p:spPr>
            <a:xfrm>
              <a:off x="1028700" y="2019300"/>
              <a:ext cx="3714750" cy="354330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 w="17145">
              <a:solidFill>
                <a:srgbClr val="BBD4F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28700" y="2019300"/>
              <a:ext cx="3714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/>
            <p:nvPr/>
          </p:nvSpPr>
          <p:spPr>
            <a:xfrm>
              <a:off x="1307973" y="2276475"/>
              <a:ext cx="14137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1459D0"/>
                  </a:solidFill>
                  <a:latin typeface="Arial"/>
                  <a:ea typeface="Arial"/>
                  <a:cs typeface="Arial"/>
                </a:rPr>
                <a:t>01 / VALUE UNIT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303020" y="2559082"/>
              <a:ext cx="27729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价值单位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307211" y="2984468"/>
              <a:ext cx="17746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人天 → 可验收结果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14450" y="33528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1307973" y="3552825"/>
              <a:ext cx="20637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功能交付、人天计费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1307973" y="3876675"/>
              <a:ext cx="212407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结果可验收、过程可追溯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307973" y="4200525"/>
              <a:ext cx="14348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责任边界清晰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1307973" y="4524375"/>
              <a:ext cx="26033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不再只数“做了多少”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314450" y="4933950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9" name="TextBox 19"/>
            <p:cNvSpPr/>
            <p:nvPr/>
          </p:nvSpPr>
          <p:spPr>
            <a:xfrm>
              <a:off x="1460754" y="50387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先定义“完成”，再谈自动化</a:t>
              </a:r>
            </a:p>
          </p:txBody>
        </p:sp>
      </p:grpSp>
      <p:grpSp>
        <p:nvGrpSpPr>
          <p:cNvPr id="33" name="frame-langchain"/>
          <p:cNvGrpSpPr/>
          <p:nvPr/>
        </p:nvGrpSpPr>
        <p:grpSpPr>
          <a:xfrm>
            <a:off x="5086350" y="2019300"/>
            <a:ext cx="3714750" cy="3543300"/>
            <a:chOff x="5086350" y="2019300"/>
            <a:chExt cx="3714750" cy="3543300"/>
          </a:xfrm>
        </p:grpSpPr>
        <p:sp>
          <p:nvSpPr>
            <p:cNvPr id="21" name="Rectangle 21"/>
            <p:cNvSpPr/>
            <p:nvPr/>
          </p:nvSpPr>
          <p:spPr>
            <a:xfrm>
              <a:off x="5086350" y="2019300"/>
              <a:ext cx="3714750" cy="354330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 w="17145">
              <a:solidFill>
                <a:srgbClr val="CFE0F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86350" y="2019300"/>
              <a:ext cx="3714750" cy="76200"/>
            </a:xfrm>
            <a:prstGeom prst="roundRect">
              <a:avLst>
                <a:gd name="adj" fmla="val 50000"/>
              </a:avLst>
            </a:prstGeom>
            <a:solidFill>
              <a:srgbClr val="087F9C"/>
            </a:solidFill>
            <a:ln>
              <a:noFill/>
            </a:ln>
          </p:spPr>
        </p:sp>
        <p:sp>
          <p:nvSpPr>
            <p:cNvPr id="23" name="TextBox 23"/>
            <p:cNvSpPr/>
            <p:nvPr/>
          </p:nvSpPr>
          <p:spPr>
            <a:xfrm>
              <a:off x="5365623" y="2276475"/>
              <a:ext cx="23809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087F9C"/>
                  </a:solidFill>
                  <a:latin typeface="Arial"/>
                  <a:ea typeface="Arial"/>
                  <a:cs typeface="Arial"/>
                </a:rPr>
                <a:t>02 / COST STRUCTURE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360670" y="2559082"/>
              <a:ext cx="153647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成本结构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5364861" y="2984468"/>
              <a:ext cx="233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087F9C"/>
                  </a:solidFill>
                  <a:latin typeface="Arial"/>
                  <a:ea typeface="Microsoft YaHei"/>
                  <a:cs typeface="Arial"/>
                </a:rPr>
                <a:t>重复执行 → 工程化产能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372100" y="33528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27" name="TextBox 27"/>
            <p:cNvSpPr/>
            <p:nvPr/>
          </p:nvSpPr>
          <p:spPr>
            <a:xfrm>
              <a:off x="5365623" y="3552825"/>
              <a:ext cx="18742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人力检索、复制、核对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5365623" y="3876675"/>
              <a:ext cx="18742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上下文装配、工具调用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5365623" y="4200525"/>
              <a:ext cx="18764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验证、回滚、审计内建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5365623" y="4524375"/>
              <a:ext cx="22122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生成越便宜，验证越值钱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72100" y="4933950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EDF7FA"/>
            </a:solidFill>
            <a:ln>
              <a:noFill/>
            </a:ln>
          </p:spPr>
        </p:sp>
        <p:sp>
          <p:nvSpPr>
            <p:cNvPr id="32" name="TextBox 32"/>
            <p:cNvSpPr/>
            <p:nvPr/>
          </p:nvSpPr>
          <p:spPr>
            <a:xfrm>
              <a:off x="5518404" y="50387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087F9C"/>
                  </a:solidFill>
                  <a:latin typeface="Arial"/>
                  <a:ea typeface="Microsoft YaHei"/>
                  <a:cs typeface="Arial"/>
                </a:rPr>
                <a:t>优化链条，而不是堆人</a:t>
              </a:r>
            </a:p>
          </p:txBody>
        </p:sp>
      </p:grpSp>
      <p:grpSp>
        <p:nvGrpSpPr>
          <p:cNvPr id="46" name="frame-agentscope"/>
          <p:cNvGrpSpPr/>
          <p:nvPr/>
        </p:nvGrpSpPr>
        <p:grpSpPr>
          <a:xfrm>
            <a:off x="9144000" y="2019300"/>
            <a:ext cx="3714750" cy="3543300"/>
            <a:chOff x="9144000" y="2019300"/>
            <a:chExt cx="3714750" cy="3543300"/>
          </a:xfrm>
        </p:grpSpPr>
        <p:sp>
          <p:nvSpPr>
            <p:cNvPr id="34" name="Rectangle 34"/>
            <p:cNvSpPr/>
            <p:nvPr/>
          </p:nvSpPr>
          <p:spPr>
            <a:xfrm>
              <a:off x="9144000" y="2019300"/>
              <a:ext cx="3714750" cy="354330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 w="17145">
              <a:solidFill>
                <a:srgbClr val="D7B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44000" y="2019300"/>
              <a:ext cx="3714750" cy="76200"/>
            </a:xfrm>
            <a:prstGeom prst="roundRect">
              <a:avLst>
                <a:gd name="adj" fmla="val 50000"/>
              </a:avLst>
            </a:prstGeom>
            <a:solidFill>
              <a:srgbClr val="6C3D91"/>
            </a:solidFill>
            <a:ln>
              <a:noFill/>
            </a:ln>
          </p:spPr>
        </p:sp>
        <p:sp>
          <p:nvSpPr>
            <p:cNvPr id="36" name="TextBox 36"/>
            <p:cNvSpPr/>
            <p:nvPr/>
          </p:nvSpPr>
          <p:spPr>
            <a:xfrm>
              <a:off x="9423273" y="2276475"/>
              <a:ext cx="21186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6C3D91"/>
                  </a:solidFill>
                  <a:latin typeface="Arial"/>
                  <a:ea typeface="Arial"/>
                  <a:cs typeface="Arial"/>
                </a:rPr>
                <a:t>03 / SCARCITY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9418320" y="2559082"/>
              <a:ext cx="179184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稀缺能力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9422511" y="2984468"/>
              <a:ext cx="233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6C3D91"/>
                  </a:solidFill>
                  <a:latin typeface="Arial"/>
                  <a:ea typeface="Microsoft YaHei"/>
                  <a:cs typeface="Arial"/>
                </a:rPr>
                <a:t>会写会查 → 会定义会判断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429750" y="33528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40" name="TextBox 40"/>
            <p:cNvSpPr/>
            <p:nvPr/>
          </p:nvSpPr>
          <p:spPr>
            <a:xfrm>
              <a:off x="9423273" y="3552825"/>
              <a:ext cx="226237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写材料、写代码、查资料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9423273" y="3876675"/>
              <a:ext cx="18564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定义问题、设定边界</a:t>
              </a:r>
            </a:p>
          </p:txBody>
        </p:sp>
        <p:sp>
          <p:nvSpPr>
            <p:cNvPr id="42" name="TextBox 42"/>
            <p:cNvSpPr/>
            <p:nvPr/>
          </p:nvSpPr>
          <p:spPr>
            <a:xfrm>
              <a:off x="9423273" y="4200525"/>
              <a:ext cx="18138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设计验收与熔断规则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9423273" y="4524375"/>
              <a:ext cx="256755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判断例外、承担责任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429750" y="4933950"/>
              <a:ext cx="3143250" cy="400050"/>
            </a:xfrm>
            <a:prstGeom prst="roundRect">
              <a:avLst>
                <a:gd name="adj" fmla="val 19048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45" name="TextBox 45"/>
            <p:cNvSpPr/>
            <p:nvPr/>
          </p:nvSpPr>
          <p:spPr>
            <a:xfrm>
              <a:off x="9576054" y="5038725"/>
              <a:ext cx="2099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6C3D91"/>
                  </a:solidFill>
                  <a:latin typeface="Arial"/>
                  <a:ea typeface="Microsoft YaHei"/>
                  <a:cs typeface="Arial"/>
                </a:rPr>
                <a:t>人的价值向判断与责任上移</a:t>
              </a:r>
            </a:p>
          </p:txBody>
        </p:sp>
      </p:grpSp>
      <p:grpSp>
        <p:nvGrpSpPr>
          <p:cNvPr id="59" name="frame-claude"/>
          <p:cNvGrpSpPr/>
          <p:nvPr/>
        </p:nvGrpSpPr>
        <p:grpSpPr>
          <a:xfrm>
            <a:off x="13201650" y="2019300"/>
            <a:ext cx="4057650" cy="3543300"/>
            <a:chOff x="13201650" y="2019300"/>
            <a:chExt cx="4057650" cy="3543300"/>
          </a:xfrm>
        </p:grpSpPr>
        <p:sp>
          <p:nvSpPr>
            <p:cNvPr id="47" name="Rectangle 47"/>
            <p:cNvSpPr/>
            <p:nvPr/>
          </p:nvSpPr>
          <p:spPr>
            <a:xfrm>
              <a:off x="13201650" y="2019300"/>
              <a:ext cx="4057650" cy="354330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 w="17145">
              <a:solidFill>
                <a:srgbClr val="F1C9C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3201650" y="2019300"/>
              <a:ext cx="4057650" cy="76200"/>
            </a:xfrm>
            <a:prstGeom prst="roundRect">
              <a:avLst>
                <a:gd name="adj" fmla="val 50000"/>
              </a:avLst>
            </a:prstGeom>
            <a:solidFill>
              <a:srgbClr val="B7394D"/>
            </a:solidFill>
            <a:ln>
              <a:noFill/>
            </a:ln>
          </p:spPr>
        </p:sp>
        <p:sp>
          <p:nvSpPr>
            <p:cNvPr id="49" name="TextBox 49"/>
            <p:cNvSpPr/>
            <p:nvPr/>
          </p:nvSpPr>
          <p:spPr>
            <a:xfrm>
              <a:off x="13480923" y="2276475"/>
              <a:ext cx="23846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B7394D"/>
                  </a:solidFill>
                  <a:latin typeface="Arial"/>
                  <a:ea typeface="Arial"/>
                  <a:cs typeface="Arial"/>
                </a:rPr>
                <a:t>04 / ASSET FORM</a:t>
              </a:r>
            </a:p>
          </p:txBody>
        </p:sp>
        <p:sp>
          <p:nvSpPr>
            <p:cNvPr id="50" name="TextBox 50"/>
            <p:cNvSpPr/>
            <p:nvPr/>
          </p:nvSpPr>
          <p:spPr>
            <a:xfrm>
              <a:off x="13475970" y="2559082"/>
              <a:ext cx="1807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能力资产</a:t>
              </a:r>
            </a:p>
          </p:txBody>
        </p:sp>
        <p:sp>
          <p:nvSpPr>
            <p:cNvPr id="51" name="TextBox 51"/>
            <p:cNvSpPr/>
            <p:nvPr/>
          </p:nvSpPr>
          <p:spPr>
            <a:xfrm>
              <a:off x="13480161" y="2984468"/>
              <a:ext cx="1864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B7394D"/>
                  </a:solidFill>
                  <a:latin typeface="Arial"/>
                  <a:ea typeface="Microsoft YaHei"/>
                  <a:cs typeface="Arial"/>
                </a:rPr>
                <a:t>文档 → 可复用资产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3487400" y="335280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14288">
              <a:solidFill>
                <a:srgbClr val="F3E3E6"/>
              </a:solidFill>
            </a:ln>
          </p:spPr>
        </p:sp>
        <p:sp>
          <p:nvSpPr>
            <p:cNvPr id="53" name="TextBox 53"/>
            <p:cNvSpPr/>
            <p:nvPr/>
          </p:nvSpPr>
          <p:spPr>
            <a:xfrm>
              <a:off x="13480923" y="3552825"/>
              <a:ext cx="20465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文档、经验、个人技巧</a:t>
              </a:r>
            </a:p>
          </p:txBody>
        </p:sp>
        <p:sp>
          <p:nvSpPr>
            <p:cNvPr id="54" name="TextBox 54"/>
            <p:cNvSpPr/>
            <p:nvPr/>
          </p:nvSpPr>
          <p:spPr>
            <a:xfrm>
              <a:off x="13480923" y="3876675"/>
              <a:ext cx="2040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上下文、技能、评测集</a:t>
              </a:r>
            </a:p>
          </p:txBody>
        </p:sp>
        <p:sp>
          <p:nvSpPr>
            <p:cNvPr id="55" name="TextBox 55"/>
            <p:cNvSpPr/>
            <p:nvPr/>
          </p:nvSpPr>
          <p:spPr>
            <a:xfrm>
              <a:off x="13480923" y="4200525"/>
              <a:ext cx="22923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证据包、连接器、门禁</a:t>
              </a:r>
            </a:p>
          </p:txBody>
        </p:sp>
        <p:sp>
          <p:nvSpPr>
            <p:cNvPr id="56" name="TextBox 56"/>
            <p:cNvSpPr/>
            <p:nvPr/>
          </p:nvSpPr>
          <p:spPr>
            <a:xfrm>
              <a:off x="13480923" y="4524375"/>
              <a:ext cx="21812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 marL="102071" indent="-102071">
                <a:buClr>
                  <a:srgbClr val="17243A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一次交付，多次复用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3487400" y="4933950"/>
              <a:ext cx="3486150" cy="400050"/>
            </a:xfrm>
            <a:prstGeom prst="roundRect">
              <a:avLst>
                <a:gd name="adj" fmla="val 19048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58" name="TextBox 58"/>
            <p:cNvSpPr/>
            <p:nvPr/>
          </p:nvSpPr>
          <p:spPr>
            <a:xfrm>
              <a:off x="13633704" y="50387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B7394D"/>
                  </a:solidFill>
                  <a:latin typeface="Arial"/>
                  <a:ea typeface="Microsoft YaHei"/>
                  <a:cs typeface="Arial"/>
                </a:rPr>
                <a:t>组织记忆成为生产力</a:t>
              </a:r>
            </a:p>
          </p:txBody>
        </p:sp>
      </p:grpSp>
      <p:grpSp>
        <p:nvGrpSpPr>
          <p:cNvPr id="77" name="frame-evolve"/>
          <p:cNvGrpSpPr/>
          <p:nvPr/>
        </p:nvGrpSpPr>
        <p:grpSpPr>
          <a:xfrm>
            <a:off x="1028700" y="5791200"/>
            <a:ext cx="16230600" cy="1790700"/>
            <a:chOff x="1028700" y="5791200"/>
            <a:chExt cx="16230600" cy="1790700"/>
          </a:xfrm>
        </p:grpSpPr>
        <p:sp>
          <p:nvSpPr>
            <p:cNvPr id="60" name="Rectangle 60"/>
            <p:cNvSpPr/>
            <p:nvPr/>
          </p:nvSpPr>
          <p:spPr>
            <a:xfrm>
              <a:off x="1028700" y="5791200"/>
              <a:ext cx="16230600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61" name="TextBox 61"/>
            <p:cNvSpPr/>
            <p:nvPr/>
          </p:nvSpPr>
          <p:spPr>
            <a:xfrm>
              <a:off x="1306830" y="5975318"/>
              <a:ext cx="3598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spc="98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VALUE EQUATION / 价值方程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2705100" y="6477000"/>
              <a:ext cx="914400" cy="914400"/>
            </a:xfrm>
            <a:prstGeom prst="ellipse">
              <a:avLst/>
            </a:prstGeom>
            <a:solidFill>
              <a:srgbClr val="EAF2FF"/>
            </a:solidFill>
            <a:ln w="19050">
              <a:solidFill>
                <a:srgbClr val="BBD4F4"/>
              </a:solidFill>
            </a:ln>
          </p:spPr>
        </p:sp>
        <p:sp>
          <p:nvSpPr>
            <p:cNvPr id="63" name="TextBox 63"/>
            <p:cNvSpPr/>
            <p:nvPr/>
          </p:nvSpPr>
          <p:spPr>
            <a:xfrm>
              <a:off x="2791968" y="67310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技术赋能</a:t>
              </a:r>
            </a:p>
          </p:txBody>
        </p:sp>
        <p:sp>
          <p:nvSpPr>
            <p:cNvPr id="64" name="TextBox 64"/>
            <p:cNvSpPr/>
            <p:nvPr/>
          </p:nvSpPr>
          <p:spPr>
            <a:xfrm>
              <a:off x="2803588" y="701678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单点更快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3733800" y="6934200"/>
              <a:ext cx="1352550" cy="1"/>
            </a:xfrm>
            <a:prstGeom prst="line">
              <a:avLst/>
            </a:prstGeom>
            <a:noFill/>
            <a:ln w="2095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6" name="Ellipse 66"/>
            <p:cNvSpPr/>
            <p:nvPr/>
          </p:nvSpPr>
          <p:spPr>
            <a:xfrm>
              <a:off x="5638800" y="6381750"/>
              <a:ext cx="1104900" cy="1104900"/>
            </a:xfrm>
            <a:prstGeom prst="ellipse">
              <a:avLst/>
            </a:prstGeom>
            <a:solidFill>
              <a:srgbClr val="F4EDFC"/>
            </a:solidFill>
            <a:ln w="19050">
              <a:solidFill>
                <a:srgbClr val="D7B8F0"/>
              </a:solidFill>
            </a:ln>
          </p:spPr>
        </p:sp>
        <p:sp>
          <p:nvSpPr>
            <p:cNvPr id="67" name="TextBox 67"/>
            <p:cNvSpPr/>
            <p:nvPr/>
          </p:nvSpPr>
          <p:spPr>
            <a:xfrm>
              <a:off x="5820918" y="67310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6C3D91"/>
                  </a:solidFill>
                  <a:latin typeface="Arial"/>
                  <a:ea typeface="Microsoft YaHei"/>
                  <a:cs typeface="Arial"/>
                </a:rPr>
                <a:t>工程化</a:t>
              </a:r>
            </a:p>
          </p:txBody>
        </p:sp>
        <p:sp>
          <p:nvSpPr>
            <p:cNvPr id="68" name="TextBox 68"/>
            <p:cNvSpPr/>
            <p:nvPr/>
          </p:nvSpPr>
          <p:spPr>
            <a:xfrm>
              <a:off x="5680615" y="7016782"/>
              <a:ext cx="1021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结果 × 可信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6858000" y="6934200"/>
              <a:ext cx="1352550" cy="1"/>
            </a:xfrm>
            <a:prstGeom prst="line">
              <a:avLst/>
            </a:prstGeom>
            <a:noFill/>
            <a:ln w="20955">
              <a:solidFill>
                <a:srgbClr val="49097F"/>
              </a:solidFill>
              <a:tailEnd type="triangle" w="lg" len="lg"/>
            </a:ln>
          </p:spPr>
        </p:sp>
        <p:sp>
          <p:nvSpPr>
            <p:cNvPr id="70" name="Ellipse 70"/>
            <p:cNvSpPr/>
            <p:nvPr/>
          </p:nvSpPr>
          <p:spPr>
            <a:xfrm>
              <a:off x="8667750" y="6286500"/>
              <a:ext cx="1295400" cy="1295400"/>
            </a:xfrm>
            <a:prstGeom prst="ellipse">
              <a:avLst/>
            </a:prstGeom>
            <a:solidFill>
              <a:srgbClr val="EDF7FA"/>
            </a:solidFill>
            <a:ln w="20955">
              <a:solidFill>
                <a:srgbClr val="BFE1E8"/>
              </a:solidFill>
            </a:ln>
          </p:spPr>
        </p:sp>
        <p:sp>
          <p:nvSpPr>
            <p:cNvPr id="71" name="TextBox 71"/>
            <p:cNvSpPr/>
            <p:nvPr/>
          </p:nvSpPr>
          <p:spPr>
            <a:xfrm>
              <a:off x="8945118" y="67310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087F9C"/>
                  </a:solidFill>
                  <a:latin typeface="Arial"/>
                  <a:ea typeface="Microsoft YaHei"/>
                  <a:cs typeface="Arial"/>
                </a:rPr>
                <a:t>价值重构</a:t>
              </a:r>
            </a:p>
          </p:txBody>
        </p:sp>
        <p:sp>
          <p:nvSpPr>
            <p:cNvPr id="72" name="TextBox 72"/>
            <p:cNvSpPr/>
            <p:nvPr/>
          </p:nvSpPr>
          <p:spPr>
            <a:xfrm>
              <a:off x="8804815" y="7016782"/>
              <a:ext cx="1021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复用 × 能力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496550" y="6343650"/>
              <a:ext cx="6400800" cy="990600"/>
            </a:xfrm>
            <a:prstGeom prst="roundRect">
              <a:avLst>
                <a:gd name="adj" fmla="val 9615"/>
              </a:avLst>
            </a:prstGeom>
            <a:gradFill>
              <a:gsLst>
                <a:gs pos="0">
                  <a:srgbClr val="EAF2FF"/>
                </a:gs>
                <a:gs pos="50000">
                  <a:srgbClr val="F4EDFC"/>
                </a:gs>
                <a:gs pos="100000">
                  <a:srgbClr val="EDF7FA"/>
                </a:gs>
              </a:gsLst>
              <a:lin ang="0" scaled="1"/>
            </a:gradFill>
            <a:ln w="9525">
              <a:solidFill>
                <a:srgbClr val="CFE0F5"/>
              </a:solidFill>
            </a:ln>
          </p:spPr>
        </p:sp>
        <p:sp>
          <p:nvSpPr>
            <p:cNvPr id="74" name="TextBox 74"/>
            <p:cNvSpPr/>
            <p:nvPr/>
          </p:nvSpPr>
          <p:spPr>
            <a:xfrm>
              <a:off x="10736580" y="6499193"/>
              <a:ext cx="4520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不是让同一件事更快，而是让价值可以重复创造</a:t>
              </a:r>
            </a:p>
          </p:txBody>
        </p:sp>
        <p:sp>
          <p:nvSpPr>
            <p:cNvPr id="75" name="TextBox 75"/>
            <p:cNvSpPr/>
            <p:nvPr/>
          </p:nvSpPr>
          <p:spPr>
            <a:xfrm>
              <a:off x="10737723" y="6848475"/>
              <a:ext cx="27699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效率红利是一次性的；</a:t>
              </a:r>
            </a:p>
          </p:txBody>
        </p:sp>
        <p:sp>
          <p:nvSpPr>
            <p:cNvPr id="76" name="TextBox 76"/>
            <p:cNvSpPr/>
            <p:nvPr/>
          </p:nvSpPr>
          <p:spPr>
            <a:xfrm>
              <a:off x="10737723" y="7086600"/>
              <a:ext cx="38038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上下文、技能、证据与连接器会持续复利。</a:t>
              </a:r>
            </a:p>
          </p:txBody>
        </p:sp>
      </p:grpSp>
      <p:grpSp>
        <p:nvGrpSpPr>
          <p:cNvPr id="82" name="frame-takeaway"/>
          <p:cNvGrpSpPr/>
          <p:nvPr/>
        </p:nvGrpSpPr>
        <p:grpSpPr>
          <a:xfrm>
            <a:off x="1028700" y="7848600"/>
            <a:ext cx="16230600" cy="819150"/>
            <a:chOff x="1028700" y="7848600"/>
            <a:chExt cx="16230600" cy="819150"/>
          </a:xfrm>
        </p:grpSpPr>
        <p:sp>
          <p:nvSpPr>
            <p:cNvPr id="78" name="Rectangle 78"/>
            <p:cNvSpPr/>
            <p:nvPr/>
          </p:nvSpPr>
          <p:spPr>
            <a:xfrm>
              <a:off x="1028700" y="7848600"/>
              <a:ext cx="16230600" cy="819150"/>
            </a:xfrm>
            <a:prstGeom prst="roundRect">
              <a:avLst>
                <a:gd name="adj" fmla="val 13953"/>
              </a:avLst>
            </a:prstGeom>
            <a:solidFill>
              <a:srgbClr val="FFF9FA"/>
            </a:solidFill>
            <a:ln w="15240">
              <a:solidFill>
                <a:srgbClr val="F1C9CF"/>
              </a:solidFill>
            </a:ln>
          </p:spPr>
        </p:sp>
        <p:sp>
          <p:nvSpPr>
            <p:cNvPr id="79" name="TextBox 79"/>
            <p:cNvSpPr/>
            <p:nvPr/>
          </p:nvSpPr>
          <p:spPr>
            <a:xfrm>
              <a:off x="1323594" y="7969282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B7394D"/>
                  </a:solidFill>
                  <a:latin typeface="Arial"/>
                  <a:ea typeface="Microsoft YaHei"/>
                  <a:cs typeface="Arial"/>
                </a:rPr>
                <a:t>对金融的含义：</a:t>
              </a:r>
            </a:p>
          </p:txBody>
        </p:sp>
        <p:sp>
          <p:nvSpPr>
            <p:cNvPr id="80" name="TextBox 80"/>
            <p:cNvSpPr/>
            <p:nvPr/>
          </p:nvSpPr>
          <p:spPr>
            <a:xfrm>
              <a:off x="3419856" y="7994618"/>
              <a:ext cx="11649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更快的代码、报表和材料只是技术赋能；能持续交付、可追溯、可审计、可复用，才是价值重构。</a:t>
              </a:r>
            </a:p>
          </p:txBody>
        </p:sp>
        <p:sp>
          <p:nvSpPr>
            <p:cNvPr id="81" name="TextBox 81"/>
            <p:cNvSpPr/>
            <p:nvPr/>
          </p:nvSpPr>
          <p:spPr>
            <a:xfrm>
              <a:off x="1327023" y="8362950"/>
              <a:ext cx="53546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Arial"/>
                  <a:ea typeface="Microsoft YaHei"/>
                  <a:cs typeface="Arial"/>
                </a:rPr>
                <a:t>这也是后文判断 EsXCode 与 EsXWork 是否真正有效的标准。</a:t>
              </a:r>
            </a:p>
          </p:txBody>
        </p:sp>
      </p:grpSp>
      <p:grpSp>
        <p:nvGrpSpPr>
          <p:cNvPr id="84" name="frame-source"/>
          <p:cNvGrpSpPr/>
          <p:nvPr/>
        </p:nvGrpSpPr>
        <p:grpSpPr>
          <a:xfrm>
            <a:off x="1023366" y="9093232"/>
            <a:ext cx="8753189" cy="205359"/>
            <a:chOff x="1023366" y="9093232"/>
            <a:chExt cx="8753189" cy="205359"/>
          </a:xfrm>
        </p:grpSpPr>
        <p:sp>
          <p:nvSpPr>
            <p:cNvPr id="83" name="TextBox 83"/>
            <p:cNvSpPr/>
            <p:nvPr/>
          </p:nvSpPr>
          <p:spPr>
            <a:xfrm>
              <a:off x="1023366" y="9093232"/>
              <a:ext cx="8753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价值重构不是否定效率，而是把效率从一次性收益，变成可持续的组织能力。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6575214" y="961072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rPr>
              <a:t>06 / 24</a:t>
            </a:r>
            <a:endParaRPr lang="zh-CN" sz="1500" dirty="0">
              <a:solidFill>
                <a:srgbClr val="5B6B8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80"/>
                            </p:stCondLst>
                            <p:childTnLst>
                              <p:par>
                                <p:cTn id="16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60"/>
                            </p:stCondLst>
                            <p:childTnLst>
                              <p:par>
                                <p:cTn id="23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40"/>
                            </p:stCondLst>
                            <p:childTnLst>
                              <p:par>
                                <p:cTn id="30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2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70"/>
                            </p:stCondLst>
                            <p:childTnLst>
                              <p:par>
                                <p:cTn id="41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92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-grid"/>
          <p:cNvSpPr/>
          <p:nvPr/>
        </p:nvSpPr>
        <p:spPr>
          <a:xfrm>
            <a:off x="1028700" y="2000250"/>
            <a:ext cx="16230600" cy="7162800"/>
          </a:xfrm>
          <a:custGeom>
            <a:avLst/>
            <a:gdLst/>
            <a:ahLst/>
            <a:cxnLst/>
            <a:rect l="l" t="t" r="r" b="b"/>
            <a:pathLst>
              <a:path w="16230600" h="7162800">
                <a:moveTo>
                  <a:pt x="0" y="133350"/>
                </a:moveTo>
                <a:lnTo>
                  <a:pt x="16230600" y="133350"/>
                </a:lnTo>
                <a:moveTo>
                  <a:pt x="0" y="6477000"/>
                </a:moveTo>
                <a:lnTo>
                  <a:pt x="16230600" y="6477000"/>
                </a:lnTo>
                <a:moveTo>
                  <a:pt x="0" y="7162800"/>
                </a:moveTo>
                <a:lnTo>
                  <a:pt x="16230600" y="7162800"/>
                </a:lnTo>
                <a:moveTo>
                  <a:pt x="5162550" y="0"/>
                </a:moveTo>
                <a:lnTo>
                  <a:pt x="5162550" y="7029450"/>
                </a:lnTo>
                <a:moveTo>
                  <a:pt x="10382250" y="0"/>
                </a:moveTo>
                <a:lnTo>
                  <a:pt x="10382250" y="702945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grpSp>
        <p:nvGrpSpPr>
          <p:cNvPr id="6" name="stage-title"/>
          <p:cNvGrpSpPr/>
          <p:nvPr/>
        </p:nvGrpSpPr>
        <p:grpSpPr>
          <a:xfrm>
            <a:off x="1009650" y="457200"/>
            <a:ext cx="12877419" cy="1441037"/>
            <a:chOff x="1009650" y="457200"/>
            <a:chExt cx="12877419" cy="1441037"/>
          </a:xfrm>
        </p:grpSpPr>
        <p:sp>
          <p:nvSpPr>
            <p:cNvPr id="3" name="TextBox 3"/>
            <p:cNvSpPr txBox="1"/>
            <p:nvPr/>
          </p:nvSpPr>
          <p:spPr>
            <a:xfrm>
              <a:off x="1019556" y="457200"/>
              <a:ext cx="45308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07 / AI AGENT MATURITY MODEL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9650" y="749300"/>
              <a:ext cx="1287741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Agent成熟度三阶：工具位、协同位、目标位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1019556" y="1546193"/>
              <a:ext cx="6293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升级的是AI的目标、控制权、责任边界与价值衡量。</a:t>
              </a:r>
            </a:p>
          </p:txBody>
        </p:sp>
      </p:grpSp>
      <p:grpSp>
        <p:nvGrpSpPr>
          <p:cNvPr id="26" name="stage-assist"/>
          <p:cNvGrpSpPr/>
          <p:nvPr/>
        </p:nvGrpSpPr>
        <p:grpSpPr>
          <a:xfrm>
            <a:off x="1028700" y="2247900"/>
            <a:ext cx="4895850" cy="6115050"/>
            <a:chOff x="1028700" y="2247900"/>
            <a:chExt cx="4895850" cy="6115050"/>
          </a:xfrm>
        </p:grpSpPr>
        <p:sp>
          <p:nvSpPr>
            <p:cNvPr id="7" name="Rectangle 7"/>
            <p:cNvSpPr/>
            <p:nvPr/>
          </p:nvSpPr>
          <p:spPr>
            <a:xfrm>
              <a:off x="1028700" y="2247900"/>
              <a:ext cx="4895850" cy="6115050"/>
            </a:xfrm>
            <a:prstGeom prst="roundRect">
              <a:avLst>
                <a:gd name="adj" fmla="val 2918"/>
              </a:avLst>
            </a:prstGeom>
            <a:gradFill>
              <a:gsLst>
                <a:gs pos="0">
                  <a:srgbClr val="EAF2FF"/>
                </a:gs>
                <a:gs pos="100000">
                  <a:srgbClr val="FFFFFF"/>
                </a:gs>
              </a:gsLst>
              <a:lin ang="5400000" scaled="1"/>
            </a:gradFill>
            <a:ln w="16192">
              <a:solidFill>
                <a:srgbClr val="CFE0F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28700" y="2247900"/>
              <a:ext cx="48958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6261" y="2508250"/>
              <a:ext cx="950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420" spc="9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ASSISTED</a:t>
              </a:r>
              <a:endParaRPr lang="en-US" sz="1420" spc="98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8641" y="2825750"/>
              <a:ext cx="171051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9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辅助型 AI</a:t>
              </a:r>
              <a:endParaRPr lang="zh-CN" sz="29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6261" y="3346450"/>
              <a:ext cx="32533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AI是工具；人是决策主体与流程主导者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3724275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3335">
              <a:solidFill>
                <a:srgbClr val="CFE0F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7023" y="3905250"/>
              <a:ext cx="5200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AI负责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6642" y="4178300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 · 摘要 · 翻译 · 公式计算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6642" y="44640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格式校验 · 初稿生成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023" y="4886325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控制权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6642" y="51593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人发起、人审核、人最终决策；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6642" y="5445125"/>
              <a:ext cx="14490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AI输出只作参考。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7023" y="5867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典型例子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6642" y="6140450"/>
              <a:ext cx="2569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RAG问答 · 报表初稿 · OCR提取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6642" y="642620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代码补全 · 会议纪要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6915150"/>
              <a:ext cx="4286250" cy="1066800"/>
            </a:xfrm>
            <a:prstGeom prst="roundRect">
              <a:avLst>
                <a:gd name="adj" fmla="val 8036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36192" y="7073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阶段特征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6192" y="73787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单向输出、无闭环、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6192" y="76358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没有独立目标。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stage-collab"/>
          <p:cNvGrpSpPr/>
          <p:nvPr/>
        </p:nvGrpSpPr>
        <p:grpSpPr>
          <a:xfrm>
            <a:off x="6305550" y="2247900"/>
            <a:ext cx="4895850" cy="6115050"/>
            <a:chOff x="6305550" y="2247900"/>
            <a:chExt cx="4895850" cy="6115050"/>
          </a:xfrm>
        </p:grpSpPr>
        <p:sp>
          <p:nvSpPr>
            <p:cNvPr id="27" name="Rectangle 27"/>
            <p:cNvSpPr/>
            <p:nvPr/>
          </p:nvSpPr>
          <p:spPr>
            <a:xfrm>
              <a:off x="6305550" y="2247900"/>
              <a:ext cx="4895850" cy="6115050"/>
            </a:xfrm>
            <a:prstGeom prst="roundRect">
              <a:avLst>
                <a:gd name="adj" fmla="val 2918"/>
              </a:avLst>
            </a:prstGeom>
            <a:gradFill>
              <a:gsLst>
                <a:gs pos="0">
                  <a:srgbClr val="EDF7FA"/>
                </a:gs>
                <a:gs pos="100000">
                  <a:srgbClr val="FFFFFF"/>
                </a:gs>
              </a:gsLst>
              <a:lin ang="5400000" scaled="1"/>
            </a:gradFill>
            <a:ln w="17145">
              <a:solidFill>
                <a:srgbClr val="BFE1E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305550" y="2247900"/>
              <a:ext cx="4895850" cy="76200"/>
            </a:xfrm>
            <a:prstGeom prst="roundRect">
              <a:avLst>
                <a:gd name="adj" fmla="val 50000"/>
              </a:avLst>
            </a:prstGeom>
            <a:solidFill>
              <a:srgbClr val="087F9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03111" y="2508250"/>
              <a:ext cx="29608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420" spc="98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COLLABORATIVE / CO-PILOT</a:t>
              </a:r>
              <a:endParaRPr lang="en-US" sz="1420" spc="98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95491" y="2825750"/>
              <a:ext cx="171051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9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协同型 AI</a:t>
              </a:r>
              <a:endParaRPr lang="zh-CN" sz="29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3111" y="3346450"/>
              <a:ext cx="3635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AI是对等协作者；人机双向交互、分工完成</a:t>
              </a:r>
              <a:endParaRPr lang="zh-CN" sz="142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6610350" y="3724275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3335">
              <a:solidFill>
                <a:srgbClr val="BFE1E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03873" y="3905250"/>
              <a:ext cx="6923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AI能主动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3492" y="4178300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提子方案 · 调工具 · 发现异常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03492" y="4464050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追问信息 · 阶段性汇报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3873" y="4886325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控制权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3492" y="51593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人保留全局目标审批与关键节点拦截；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3492" y="5445125"/>
              <a:ext cx="1630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AI自主执行子任务。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3873" y="5867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典型例子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3492" y="6140450"/>
              <a:ext cx="2615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带Agent Loop的监管报送智能体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3492" y="64262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数据治理核查智能体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10350" y="6915150"/>
              <a:ext cx="4286250" cy="1066800"/>
            </a:xfrm>
            <a:prstGeom prst="roundRect">
              <a:avLst>
                <a:gd name="adj" fmla="val 8036"/>
              </a:avLst>
            </a:prstGeom>
            <a:solidFill>
              <a:srgbClr val="FFFFFF"/>
            </a:solidFill>
            <a:ln w="9525">
              <a:solidFill>
                <a:srgbClr val="BFE1E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13042" y="7073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阶段特征</a:t>
              </a:r>
              <a:endParaRPr lang="zh-CN" sz="135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13042" y="73787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有循环、有工具、有中间状态，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13042" y="76358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但不脱离人的关键节点审批。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stage-auto"/>
          <p:cNvGrpSpPr/>
          <p:nvPr/>
        </p:nvGrpSpPr>
        <p:grpSpPr>
          <a:xfrm>
            <a:off x="11582400" y="2247900"/>
            <a:ext cx="5676900" cy="6115050"/>
            <a:chOff x="11582400" y="2247900"/>
            <a:chExt cx="5676900" cy="6115050"/>
          </a:xfrm>
        </p:grpSpPr>
        <p:sp>
          <p:nvSpPr>
            <p:cNvPr id="47" name="Rectangle 47"/>
            <p:cNvSpPr/>
            <p:nvPr/>
          </p:nvSpPr>
          <p:spPr>
            <a:xfrm>
              <a:off x="11582400" y="2247900"/>
              <a:ext cx="5676900" cy="6115050"/>
            </a:xfrm>
            <a:prstGeom prst="roundRect">
              <a:avLst>
                <a:gd name="adj" fmla="val 2517"/>
              </a:avLst>
            </a:prstGeom>
            <a:gradFill>
              <a:gsLst>
                <a:gs pos="0">
                  <a:srgbClr val="F4EDFC"/>
                </a:gs>
                <a:gs pos="100000">
                  <a:srgbClr val="FFFFFF"/>
                </a:gs>
              </a:gsLst>
              <a:lin ang="5400000" scaled="1"/>
            </a:gradFill>
            <a:ln w="19050">
              <a:solidFill>
                <a:srgbClr val="D7B8F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1582400" y="2247900"/>
              <a:ext cx="5676900" cy="76200"/>
            </a:xfrm>
            <a:prstGeom prst="roundRect">
              <a:avLst>
                <a:gd name="adj" fmla="val 50000"/>
              </a:avLst>
            </a:prstGeom>
            <a:solidFill>
              <a:srgbClr val="49097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879961" y="2508250"/>
              <a:ext cx="21120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420" spc="98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AUTONOMOUS AGENT</a:t>
              </a:r>
              <a:endParaRPr lang="en-US" sz="1420" spc="98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872341" y="2825750"/>
              <a:ext cx="171051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9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自主型 AI</a:t>
              </a:r>
              <a:endParaRPr lang="zh-CN" sz="29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879961" y="3346450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完整目标闭环；在预设约束与权限边界内自主</a:t>
              </a:r>
              <a:endParaRPr lang="zh-CN" sz="142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Line 52"/>
            <p:cNvSpPr/>
            <p:nvPr/>
          </p:nvSpPr>
          <p:spPr>
            <a:xfrm>
              <a:off x="11887200" y="3724275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13335">
              <a:solidFill>
                <a:srgbClr val="D7B8F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880723" y="3905250"/>
              <a:ext cx="6923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AI能独立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880342" y="4178300"/>
              <a:ext cx="3212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拆解目标 · 规划 · 执行 · 自校验 · 重试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880342" y="4464050"/>
              <a:ext cx="2518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多子Agent协同，持续完成任务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880723" y="4886325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控制权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880342" y="515937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人负责事前目标、规则边界与熔断策略；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880342" y="54451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仅在异常阈值触发时上报人。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880723" y="5867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典型形态</a:t>
              </a:r>
              <a:endParaRPr lang="zh-CN" sz="12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880342" y="6140450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长任务监测预警 · 跨系统异常闭环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880342" y="6426200"/>
              <a:ext cx="254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多Agent持续协作 · 动态重规划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887200" y="6838950"/>
              <a:ext cx="5067300" cy="1219200"/>
            </a:xfrm>
            <a:prstGeom prst="roundRect">
              <a:avLst>
                <a:gd name="adj" fmla="val 7031"/>
              </a:avLst>
            </a:prstGeom>
            <a:solidFill>
              <a:srgbClr val="FFFFFF"/>
            </a:solidFill>
            <a:ln w="9525">
              <a:solidFill>
                <a:srgbClr val="D7B8F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2089892" y="6978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金融重点：约束下自主</a:t>
              </a:r>
              <a:endParaRPr lang="zh-CN" sz="135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90273" y="7296150"/>
              <a:ext cx="262350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自主 ≠ 无监管、无审计、无熔断。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090273" y="7553325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是长任务闭环、自我反思、动态规划，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2090273" y="781050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不是脱离人的黑盒运行。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stage-axis"/>
          <p:cNvGrpSpPr/>
          <p:nvPr/>
        </p:nvGrpSpPr>
        <p:grpSpPr>
          <a:xfrm>
            <a:off x="1021461" y="8661400"/>
            <a:ext cx="16245078" cy="368301"/>
            <a:chOff x="1021461" y="8661400"/>
            <a:chExt cx="16245078" cy="368301"/>
          </a:xfrm>
        </p:grpSpPr>
        <p:sp>
          <p:nvSpPr>
            <p:cNvPr id="68" name="Line 68"/>
            <p:cNvSpPr/>
            <p:nvPr/>
          </p:nvSpPr>
          <p:spPr>
            <a:xfrm>
              <a:off x="1905000" y="9029700"/>
              <a:ext cx="14401800" cy="1"/>
            </a:xfrm>
            <a:prstGeom prst="line">
              <a:avLst/>
            </a:prstGeom>
            <a:noFill/>
            <a:ln w="2286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21461" y="8661400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工具位</a:t>
              </a:r>
              <a:endParaRPr lang="zh-CN" sz="14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6678580" y="8661400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4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目标位</a:t>
              </a:r>
              <a:endParaRPr lang="zh-CN" sz="14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31553" y="8661400"/>
              <a:ext cx="3024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AI承担的目标、控制权与责任边界 →</a:t>
              </a:r>
              <a:endParaRPr lang="zh-CN" sz="14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6" name="stage-note"/>
          <p:cNvGrpSpPr/>
          <p:nvPr/>
        </p:nvGrpSpPr>
        <p:grpSpPr>
          <a:xfrm>
            <a:off x="1019556" y="9213850"/>
            <a:ext cx="16246983" cy="352044"/>
            <a:chOff x="1019556" y="9213850"/>
            <a:chExt cx="16246983" cy="352044"/>
          </a:xfrm>
        </p:grpSpPr>
        <p:sp>
          <p:nvSpPr>
            <p:cNvPr id="73" name="TextBox 73"/>
            <p:cNvSpPr txBox="1"/>
            <p:nvPr/>
          </p:nvSpPr>
          <p:spPr>
            <a:xfrm>
              <a:off x="1019556" y="92138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请问各位：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315718" y="9226550"/>
              <a:ext cx="8879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贵机构现在把AI放在工具位、协同位，还是目标位？不用回答，带着这个判断继续往下看。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6611674" y="9251950"/>
              <a:ext cx="654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07 / 24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:push/>
      </p:transition>
    </mc:Choice>
    <mc:Fallback>
      <p:transition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63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68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6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76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360"/>
                            </p:stCondLst>
                            <p:childTnLst>
                              <p:par>
                                <p:cTn id="32" presetID="2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4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0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s-grid"/>
          <p:cNvSpPr/>
          <p:nvPr/>
        </p:nvSpPr>
        <p:spPr>
          <a:xfrm>
            <a:off x="1028700" y="1981200"/>
            <a:ext cx="16230600" cy="7239000"/>
          </a:xfrm>
          <a:custGeom>
            <a:avLst/>
            <a:gdLst/>
            <a:ahLst/>
            <a:cxnLst/>
            <a:rect l="l" t="t" r="r" b="b"/>
            <a:pathLst>
              <a:path w="16230600" h="7239000">
                <a:moveTo>
                  <a:pt x="0" y="133350"/>
                </a:moveTo>
                <a:lnTo>
                  <a:pt x="16230600" y="133350"/>
                </a:lnTo>
                <a:moveTo>
                  <a:pt x="0" y="6610350"/>
                </a:moveTo>
                <a:lnTo>
                  <a:pt x="16230600" y="6610350"/>
                </a:lnTo>
                <a:moveTo>
                  <a:pt x="0" y="7239000"/>
                </a:moveTo>
                <a:lnTo>
                  <a:pt x="16230600" y="7239000"/>
                </a:lnTo>
                <a:moveTo>
                  <a:pt x="5257800" y="0"/>
                </a:moveTo>
                <a:lnTo>
                  <a:pt x="5257800" y="7124700"/>
                </a:lnTo>
                <a:moveTo>
                  <a:pt x="10401300" y="0"/>
                </a:moveTo>
                <a:lnTo>
                  <a:pt x="10401300" y="71247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grpSp>
        <p:nvGrpSpPr>
          <p:cNvPr id="6" name="cases-title"/>
          <p:cNvGrpSpPr/>
          <p:nvPr/>
        </p:nvGrpSpPr>
        <p:grpSpPr>
          <a:xfrm>
            <a:off x="1009650" y="495300"/>
            <a:ext cx="14542541" cy="1488694"/>
            <a:chOff x="1009650" y="495300"/>
            <a:chExt cx="14542541" cy="1488694"/>
          </a:xfrm>
        </p:grpSpPr>
        <p:sp>
          <p:nvSpPr>
            <p:cNvPr id="3" name="TextBox 3"/>
            <p:cNvSpPr txBox="1"/>
            <p:nvPr/>
          </p:nvSpPr>
          <p:spPr>
            <a:xfrm>
              <a:off x="1019556" y="495300"/>
              <a:ext cx="5574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08 / PUBLIC PRACTICE, AS OF 2026.10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9650" y="806450"/>
              <a:ext cx="1454254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头部机构走到哪里：AI已进流程，但自主带着治理边界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9556" y="1631950"/>
              <a:ext cx="93232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只采用机构公告、年报刊载或高可信公开报道中的“已部署 / 已上线 / 公开试点”表述。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cases-assist"/>
          <p:cNvGrpSpPr/>
          <p:nvPr/>
        </p:nvGrpSpPr>
        <p:grpSpPr>
          <a:xfrm>
            <a:off x="1028700" y="2228850"/>
            <a:ext cx="4705350" cy="6038850"/>
            <a:chOff x="1028700" y="2228850"/>
            <a:chExt cx="4705350" cy="6038850"/>
          </a:xfrm>
        </p:grpSpPr>
        <p:sp>
          <p:nvSpPr>
            <p:cNvPr id="7" name="Rectangle 7"/>
            <p:cNvSpPr/>
            <p:nvPr/>
          </p:nvSpPr>
          <p:spPr>
            <a:xfrm>
              <a:off x="1028700" y="2228850"/>
              <a:ext cx="4705350" cy="6038850"/>
            </a:xfrm>
            <a:prstGeom prst="roundRect">
              <a:avLst>
                <a:gd name="adj" fmla="val 3036"/>
              </a:avLst>
            </a:prstGeom>
            <a:solidFill>
              <a:srgbClr val="FFFFFF"/>
            </a:solidFill>
            <a:ln w="16192">
              <a:solidFill>
                <a:srgbClr val="CFE0F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28700" y="2228850"/>
              <a:ext cx="4705350" cy="704850"/>
            </a:xfrm>
            <a:prstGeom prst="roundRect">
              <a:avLst>
                <a:gd name="adj" fmla="val 2027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41501" y="2400300"/>
              <a:ext cx="362471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辅助型 AI｜个人与岗位提效</a:t>
              </a:r>
              <a:endParaRPr lang="zh-CN" sz="21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4168" y="3016250"/>
              <a:ext cx="17576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Morgan Stanley</a:t>
              </a:r>
              <a:endParaRPr lang="en-US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4930" y="3362325"/>
              <a:ext cx="1936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Assistant + Debrief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5692" y="37115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财富顾问会前检索、会后总结；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5692" y="3987800"/>
              <a:ext cx="1812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AI出草稿，顾问确认。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1352550" y="44386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44168" y="4654550"/>
              <a:ext cx="681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BBVA</a:t>
              </a:r>
              <a:endParaRPr lang="en-US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44930" y="5000625"/>
              <a:ext cx="1944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Enterprise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5692" y="5349875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扩展至11,000席，用于内容、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5692" y="56261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分析与日常办公。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52550" y="6238875"/>
              <a:ext cx="4057650" cy="1657350"/>
            </a:xfrm>
            <a:prstGeom prst="roundRect">
              <a:avLst>
                <a:gd name="adj" fmla="val 5172"/>
              </a:avLst>
            </a:prstGeom>
            <a:solidFill>
              <a:schemeClr val="lt1"/>
            </a:solidFill>
            <a:ln w="9525">
              <a:solidFill>
                <a:srgbClr val="DFEAF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93342" y="6426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阶段特征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92961" y="6765925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工作入口变了，责任链没变。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92961" y="7089775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价值先在个人效率体现。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93723" y="7477125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公开部署口径，不代表全流程自动化。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cases-collab"/>
          <p:cNvGrpSpPr/>
          <p:nvPr/>
        </p:nvGrpSpPr>
        <p:grpSpPr>
          <a:xfrm>
            <a:off x="6038850" y="2228850"/>
            <a:ext cx="4705350" cy="6038850"/>
            <a:chOff x="6038850" y="2228850"/>
            <a:chExt cx="4705350" cy="6038850"/>
          </a:xfrm>
        </p:grpSpPr>
        <p:sp>
          <p:nvSpPr>
            <p:cNvPr id="25" name="Rectangle 25"/>
            <p:cNvSpPr/>
            <p:nvPr/>
          </p:nvSpPr>
          <p:spPr>
            <a:xfrm>
              <a:off x="6038850" y="2228850"/>
              <a:ext cx="4705350" cy="6038850"/>
            </a:xfrm>
            <a:prstGeom prst="roundRect">
              <a:avLst>
                <a:gd name="adj" fmla="val 3036"/>
              </a:avLst>
            </a:prstGeom>
            <a:solidFill>
              <a:srgbClr val="FFFFFF"/>
            </a:solidFill>
            <a:ln w="18098">
              <a:solidFill>
                <a:srgbClr val="BBD4F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38850" y="2228850"/>
              <a:ext cx="4705350" cy="704850"/>
            </a:xfrm>
            <a:prstGeom prst="roundRect">
              <a:avLst>
                <a:gd name="adj" fmla="val 20270"/>
              </a:avLst>
            </a:prstGeom>
            <a:solidFill>
              <a:srgbClr val="EDF7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1651" y="2400300"/>
              <a:ext cx="333123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协同型 AI｜进入业务流程</a:t>
              </a:r>
              <a:endParaRPr lang="zh-CN" sz="218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4318" y="3016250"/>
              <a:ext cx="18320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JPMorgan Chase</a:t>
              </a:r>
              <a:endParaRPr lang="en-US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5080" y="3362325"/>
              <a:ext cx="980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Suite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5842" y="3711575"/>
              <a:ext cx="2757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公开报道梳理450+生成式AI用例，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5842" y="39878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覆盖写作、分析、编码等场景。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6362700" y="44386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4318" y="46545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中国工商银行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5080" y="5013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工银智涌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5842" y="5349875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公开报道援引年报：已在30余个业务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5842" y="5626100"/>
              <a:ext cx="2112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领域落地500余个AI场景。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62700" y="6238875"/>
              <a:ext cx="4057650" cy="1657350"/>
            </a:xfrm>
            <a:prstGeom prst="roundRect">
              <a:avLst>
                <a:gd name="adj" fmla="val 5172"/>
              </a:avLst>
            </a:prstGeom>
            <a:solidFill>
              <a:srgbClr val="F3FAFC"/>
            </a:solidFill>
            <a:ln w="9525">
              <a:solidFill>
                <a:srgbClr val="CFE6E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03492" y="6426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阶段特征</a:t>
              </a:r>
              <a:endParaRPr lang="zh-CN" sz="135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3111" y="6765925"/>
              <a:ext cx="2862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AI嵌入流程节点，与人共同完成。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3111" y="7089775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价值转向周期、质量与一致性。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3873" y="7477125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规模大，但仍以人机协同为主。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cases-auto"/>
          <p:cNvGrpSpPr/>
          <p:nvPr/>
        </p:nvGrpSpPr>
        <p:grpSpPr>
          <a:xfrm>
            <a:off x="11049000" y="2228850"/>
            <a:ext cx="6210300" cy="6038850"/>
            <a:chOff x="11049000" y="2228850"/>
            <a:chExt cx="6210300" cy="6038850"/>
          </a:xfrm>
        </p:grpSpPr>
        <p:sp>
          <p:nvSpPr>
            <p:cNvPr id="43" name="Rectangle 43"/>
            <p:cNvSpPr/>
            <p:nvPr/>
          </p:nvSpPr>
          <p:spPr>
            <a:xfrm>
              <a:off x="11049000" y="2228850"/>
              <a:ext cx="6210300" cy="6038850"/>
            </a:xfrm>
            <a:prstGeom prst="roundRect">
              <a:avLst>
                <a:gd name="adj" fmla="val 2366"/>
              </a:avLst>
            </a:prstGeom>
            <a:solidFill>
              <a:srgbClr val="FFFFFF"/>
            </a:solidFill>
            <a:ln w="19050">
              <a:solidFill>
                <a:srgbClr val="D7B8F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1049000" y="2228850"/>
              <a:ext cx="6210300" cy="704850"/>
            </a:xfrm>
            <a:prstGeom prst="roundRect">
              <a:avLst>
                <a:gd name="adj" fmla="val 2027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361801" y="2400300"/>
              <a:ext cx="442417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自主型方向｜公开试点与受控推进</a:t>
              </a:r>
              <a:endParaRPr lang="zh-CN" sz="218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64468" y="3016250"/>
              <a:ext cx="4188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Citi</a:t>
              </a:r>
              <a:endParaRPr lang="en-US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65230" y="3362325"/>
              <a:ext cx="3389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Stylus Workspaces with Agentic AI</a:t>
              </a:r>
              <a:endPara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65992" y="3711575"/>
              <a:ext cx="3372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将多个企业级API封装成代理式工作空间，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65992" y="39878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公开口径为受控试点，不是脱离人的全自动。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Line 50"/>
            <p:cNvSpPr/>
            <p:nvPr/>
          </p:nvSpPr>
          <p:spPr>
            <a:xfrm>
              <a:off x="11372850" y="443865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14288">
              <a:solidFill>
                <a:srgbClr val="F0E8F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364468" y="4654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平安租赁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365230" y="5013325"/>
              <a:ext cx="2650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AI数字助手 + 租赁智能体平台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365992" y="53498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已建成大模型平台，覆盖销售、风控、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65992" y="5626100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运营；60余个助手，调用超百万次。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372850" y="6238875"/>
              <a:ext cx="5562600" cy="1657350"/>
            </a:xfrm>
            <a:prstGeom prst="roundRect">
              <a:avLst>
                <a:gd name="adj" fmla="val 5172"/>
              </a:avLst>
            </a:prstGeom>
            <a:solidFill>
              <a:srgbClr val="FAF7FE"/>
            </a:solidFill>
            <a:ln w="9525">
              <a:solidFill>
                <a:srgbClr val="E2D4F3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613642" y="6426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阶段特征</a:t>
              </a:r>
              <a:endParaRPr lang="zh-CN" sz="135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613261" y="6765925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已进入多步任务，但并非完整目标闭环。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613261" y="7089775"/>
              <a:ext cx="4325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公开边界：试点/受控部署，不是脱离人的全自动。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614023" y="7477125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自主程度取决于流程闭环与治理成熟度。</a:t>
              </a:r>
              <a:endParaRPr lang="zh-CN" sz="128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cases-implication"/>
          <p:cNvGrpSpPr/>
          <p:nvPr/>
        </p:nvGrpSpPr>
        <p:grpSpPr>
          <a:xfrm>
            <a:off x="1028700" y="8572500"/>
            <a:ext cx="16230600" cy="514350"/>
            <a:chOff x="1028700" y="8572500"/>
            <a:chExt cx="16230600" cy="514350"/>
          </a:xfrm>
        </p:grpSpPr>
        <p:sp>
          <p:nvSpPr>
            <p:cNvPr id="61" name="Rectangle 61"/>
            <p:cNvSpPr/>
            <p:nvPr/>
          </p:nvSpPr>
          <p:spPr>
            <a:xfrm>
              <a:off x="1028700" y="8572500"/>
              <a:ext cx="16230600" cy="514350"/>
            </a:xfrm>
            <a:prstGeom prst="roundRect">
              <a:avLst>
                <a:gd name="adj" fmla="val 20370"/>
              </a:avLst>
            </a:prstGeom>
            <a:gradFill>
              <a:gsLst>
                <a:gs pos="0">
                  <a:srgbClr val="EAF2FF"/>
                </a:gs>
                <a:gs pos="50000">
                  <a:srgbClr val="EDF7FA"/>
                </a:gs>
                <a:gs pos="100000">
                  <a:srgbClr val="F4EDFC"/>
                </a:gs>
              </a:gsLst>
              <a:lin ang="0" scaled="1"/>
            </a:gradFill>
            <a:ln w="13335">
              <a:solidFill>
                <a:srgbClr val="CFE0F5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325118" y="871220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对租赁与证券的启示：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973449" y="8724900"/>
              <a:ext cx="87579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先选高价值场景，把知识、数据、系统、验证四层补齐；不要用“自主”包装尚未闭环的业务。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cases-source"/>
          <p:cNvGrpSpPr/>
          <p:nvPr/>
        </p:nvGrpSpPr>
        <p:grpSpPr>
          <a:xfrm>
            <a:off x="1022985" y="9242425"/>
            <a:ext cx="9946582" cy="220028"/>
            <a:chOff x="1022985" y="9242425"/>
            <a:chExt cx="9946582" cy="220028"/>
          </a:xfrm>
        </p:grpSpPr>
        <p:sp>
          <p:nvSpPr>
            <p:cNvPr id="65" name="TextBox 65"/>
            <p:cNvSpPr txBox="1"/>
            <p:nvPr/>
          </p:nvSpPr>
          <p:spPr>
            <a:xfrm>
              <a:off x="1022985" y="9242425"/>
              <a:ext cx="99465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公开资料整理，截至2026.10；来源含Morgan Stanley、BBVA、Citi公告/新闻稿，Tearsheet与中国日报网报道；仅作行业观察，不构成效果承诺。</a:t>
              </a:r>
              <a:endParaRPr lang="zh-CN" sz="11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cases-footer"/>
          <p:cNvGrpSpPr/>
          <p:nvPr/>
        </p:nvGrpSpPr>
        <p:grpSpPr>
          <a:xfrm>
            <a:off x="1021461" y="9680575"/>
            <a:ext cx="16245078" cy="278702"/>
            <a:chOff x="1021461" y="9680575"/>
            <a:chExt cx="16245078" cy="278702"/>
          </a:xfrm>
        </p:grpSpPr>
        <p:sp>
          <p:nvSpPr>
            <p:cNvPr id="67" name="TextBox 67"/>
            <p:cNvSpPr txBox="1"/>
            <p:nvPr/>
          </p:nvSpPr>
          <p:spPr>
            <a:xfrm>
              <a:off x="1021461" y="9680575"/>
              <a:ext cx="42068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金融Agent工程化应用的公开实践观察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6611674" y="9680575"/>
              <a:ext cx="654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08 / 24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50">
        <p14:reveal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30"/>
                            </p:stCondLst>
                            <p:childTnLst>
                              <p:par>
                                <p:cTn id="17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18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6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-grid"/>
          <p:cNvSpPr/>
          <p:nvPr/>
        </p:nvSpPr>
        <p:spPr>
          <a:xfrm>
            <a:off x="1028700" y="2114550"/>
            <a:ext cx="16230600" cy="6915150"/>
          </a:xfrm>
          <a:custGeom>
            <a:avLst/>
            <a:gdLst/>
            <a:ahLst/>
            <a:cxnLst/>
            <a:rect l="l" t="t" r="r" b="b"/>
            <a:pathLst>
              <a:path w="16230600" h="6915150">
                <a:moveTo>
                  <a:pt x="0" y="228600"/>
                </a:moveTo>
                <a:lnTo>
                  <a:pt x="16230600" y="228600"/>
                </a:lnTo>
                <a:moveTo>
                  <a:pt x="0" y="5905500"/>
                </a:moveTo>
                <a:lnTo>
                  <a:pt x="16230600" y="5905500"/>
                </a:lnTo>
                <a:moveTo>
                  <a:pt x="0" y="6915150"/>
                </a:moveTo>
                <a:lnTo>
                  <a:pt x="16230600" y="6915150"/>
                </a:lnTo>
                <a:moveTo>
                  <a:pt x="5143500" y="0"/>
                </a:moveTo>
                <a:lnTo>
                  <a:pt x="5143500" y="6781800"/>
                </a:lnTo>
                <a:moveTo>
                  <a:pt x="10287000" y="0"/>
                </a:moveTo>
                <a:lnTo>
                  <a:pt x="10287000" y="67818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grpSp>
        <p:nvGrpSpPr>
          <p:cNvPr id="6" name="build-title"/>
          <p:cNvGrpSpPr/>
          <p:nvPr/>
        </p:nvGrpSpPr>
        <p:grpSpPr>
          <a:xfrm>
            <a:off x="1009650" y="495300"/>
            <a:ext cx="12309424" cy="1492631"/>
            <a:chOff x="1009650" y="495300"/>
            <a:chExt cx="12309424" cy="1492631"/>
          </a:xfrm>
        </p:grpSpPr>
        <p:sp>
          <p:nvSpPr>
            <p:cNvPr id="3" name="TextBox 3"/>
            <p:cNvSpPr txBox="1"/>
            <p:nvPr/>
          </p:nvSpPr>
          <p:spPr>
            <a:xfrm>
              <a:off x="1019556" y="4953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09 / WHAT TO BUILD AT EACH STAGE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9650" y="806450"/>
              <a:ext cx="91249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每个阶段，建设的不是同一个东西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8794" y="1606550"/>
              <a:ext cx="123002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Agent不是买一个模型；从辅助走向自主，要同时补场景、上下文、运行连接、证据治理与组织运营能力。</a:t>
              </a:r>
              <a:endParaRPr lang="zh-CN" sz="19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build-head"/>
          <p:cNvGrpSpPr/>
          <p:nvPr/>
        </p:nvGrpSpPr>
        <p:grpSpPr>
          <a:xfrm>
            <a:off x="1028700" y="2171700"/>
            <a:ext cx="16230600" cy="666750"/>
            <a:chOff x="1028700" y="2171700"/>
            <a:chExt cx="16230600" cy="666750"/>
          </a:xfrm>
        </p:grpSpPr>
        <p:sp>
          <p:nvSpPr>
            <p:cNvPr id="7" name="Rectangle 7"/>
            <p:cNvSpPr/>
            <p:nvPr/>
          </p:nvSpPr>
          <p:spPr>
            <a:xfrm>
              <a:off x="1028700" y="2171700"/>
              <a:ext cx="3619500" cy="666750"/>
            </a:xfrm>
            <a:prstGeom prst="roundRect">
              <a:avLst>
                <a:gd name="adj" fmla="val 1285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5875" y="23622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建设维度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4838700" y="2171700"/>
              <a:ext cx="3429000" cy="666750"/>
            </a:xfrm>
            <a:prstGeom prst="roundRect">
              <a:avLst>
                <a:gd name="adj" fmla="val 12857"/>
              </a:avLst>
            </a:prstGeom>
            <a:solidFill>
              <a:srgbClr val="EAF2FF"/>
            </a:solidFill>
            <a:ln w="9525">
              <a:solidFill>
                <a:srgbClr val="CFE0F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49530" y="23495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辅助型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58200" y="2171700"/>
              <a:ext cx="3429000" cy="666750"/>
            </a:xfrm>
            <a:prstGeom prst="roundRect">
              <a:avLst>
                <a:gd name="adj" fmla="val 12857"/>
              </a:avLst>
            </a:prstGeom>
            <a:solidFill>
              <a:srgbClr val="EDF7FA"/>
            </a:solidFill>
            <a:ln w="9525">
              <a:solidFill>
                <a:srgbClr val="CFE6E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69031" y="23495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协同型</a:t>
              </a:r>
              <a:endParaRPr lang="zh-CN" sz="195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077700" y="2171700"/>
              <a:ext cx="5181600" cy="666750"/>
            </a:xfrm>
            <a:prstGeom prst="roundRect">
              <a:avLst>
                <a:gd name="adj" fmla="val 12857"/>
              </a:avLst>
            </a:prstGeom>
            <a:solidFill>
              <a:srgbClr val="F4EDFC"/>
            </a:solidFill>
            <a:ln w="9525">
              <a:solidFill>
                <a:srgbClr val="D7B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64831" y="23495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95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自主型</a:t>
              </a:r>
              <a:endParaRPr lang="zh-CN" sz="195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build-row-1"/>
          <p:cNvGrpSpPr/>
          <p:nvPr/>
        </p:nvGrpSpPr>
        <p:grpSpPr>
          <a:xfrm>
            <a:off x="1028700" y="3028950"/>
            <a:ext cx="16230600" cy="895350"/>
            <a:chOff x="1028700" y="3028950"/>
            <a:chExt cx="16230600" cy="895350"/>
          </a:xfrm>
        </p:grpSpPr>
        <p:sp>
          <p:nvSpPr>
            <p:cNvPr id="16" name="Rectangle 16"/>
            <p:cNvSpPr/>
            <p:nvPr/>
          </p:nvSpPr>
          <p:spPr>
            <a:xfrm>
              <a:off x="1028700" y="3028950"/>
              <a:ext cx="3619500" cy="895350"/>
            </a:xfrm>
            <a:prstGeom prst="roundRect">
              <a:avLst>
                <a:gd name="adj" fmla="val 7447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87018" y="32067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业务场景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88923" y="3552825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从哪里开始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838700" y="30289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78730" y="3222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知识助手、文档摘要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79492" y="35210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高频、低风险、可人工复核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458200" y="30289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98230" y="3222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业务流程中的一个节点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8992" y="3521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风险、投研、合同、研发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2077700" y="3028950"/>
              <a:ext cx="51816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E2D4F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17730" y="32226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跨步骤任务、异常监测、自动闭环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18492" y="3521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目标明确，但路径可编排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build-row-2"/>
          <p:cNvGrpSpPr/>
          <p:nvPr/>
        </p:nvGrpSpPr>
        <p:grpSpPr>
          <a:xfrm>
            <a:off x="1028700" y="4057650"/>
            <a:ext cx="16230600" cy="895350"/>
            <a:chOff x="1028700" y="4057650"/>
            <a:chExt cx="16230600" cy="895350"/>
          </a:xfrm>
        </p:grpSpPr>
        <p:sp>
          <p:nvSpPr>
            <p:cNvPr id="29" name="Rectangle 29"/>
            <p:cNvSpPr/>
            <p:nvPr/>
          </p:nvSpPr>
          <p:spPr>
            <a:xfrm>
              <a:off x="1028700" y="4057650"/>
              <a:ext cx="3619500" cy="895350"/>
            </a:xfrm>
            <a:prstGeom prst="roundRect">
              <a:avLst>
                <a:gd name="adj" fmla="val 7447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87018" y="42354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数据与上下文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8923" y="45815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答案凭什么可信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38700" y="40576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78730" y="42513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企业知识库、文档权限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79492" y="45497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有出处、可检索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458200" y="40576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98230" y="4251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数据产品、语义层、状态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98992" y="45497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业务口径可解释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2077700" y="4057650"/>
              <a:ext cx="51816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E2D4F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317730" y="42513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实时状态、记忆、版本、知识更新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318492" y="45497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运行中不丢上下文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build-row-3"/>
          <p:cNvGrpSpPr/>
          <p:nvPr/>
        </p:nvGrpSpPr>
        <p:grpSpPr>
          <a:xfrm>
            <a:off x="1028700" y="5086350"/>
            <a:ext cx="16230600" cy="895350"/>
            <a:chOff x="1028700" y="5086350"/>
            <a:chExt cx="16230600" cy="895350"/>
          </a:xfrm>
        </p:grpSpPr>
        <p:sp>
          <p:nvSpPr>
            <p:cNvPr id="42" name="Rectangle 42"/>
            <p:cNvSpPr/>
            <p:nvPr/>
          </p:nvSpPr>
          <p:spPr>
            <a:xfrm>
              <a:off x="1028700" y="5086350"/>
              <a:ext cx="3619500" cy="895350"/>
            </a:xfrm>
            <a:prstGeom prst="roundRect">
              <a:avLst>
                <a:gd name="adj" fmla="val 7447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87018" y="5264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系统连接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88923" y="56102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能不能真正办事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838700" y="50863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078730" y="5280025"/>
              <a:ext cx="1727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轻量API、单点工具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79492" y="55784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读多写少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458200" y="50863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98230" y="5280025"/>
              <a:ext cx="2122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系统API、MCP、工作流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98992" y="55784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受控写入与回退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2077700" y="5086350"/>
              <a:ext cx="51816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E2D4F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317730" y="52800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多工具组合、任务编排、事件触发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318492" y="557847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权限、沙箱、停止条件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build-row-4"/>
          <p:cNvGrpSpPr/>
          <p:nvPr/>
        </p:nvGrpSpPr>
        <p:grpSpPr>
          <a:xfrm>
            <a:off x="1028700" y="6115050"/>
            <a:ext cx="16230600" cy="895350"/>
            <a:chOff x="1028700" y="6115050"/>
            <a:chExt cx="16230600" cy="895350"/>
          </a:xfrm>
        </p:grpSpPr>
        <p:sp>
          <p:nvSpPr>
            <p:cNvPr id="55" name="Rectangle 55"/>
            <p:cNvSpPr/>
            <p:nvPr/>
          </p:nvSpPr>
          <p:spPr>
            <a:xfrm>
              <a:off x="1028700" y="6115050"/>
              <a:ext cx="3619500" cy="895350"/>
            </a:xfrm>
            <a:prstGeom prst="roundRect">
              <a:avLst>
                <a:gd name="adj" fmla="val 7447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287018" y="62928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验证与治理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88923" y="6638925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错了怎么办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838700" y="61150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078730" y="6308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人工复核、基础审计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79492" y="6607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先保证可见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58200" y="6115050"/>
              <a:ext cx="34290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698230" y="6308725"/>
              <a:ext cx="2141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Evals、回归、人工卡点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98992" y="6607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质量可度量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2077700" y="6115050"/>
              <a:ext cx="5181600" cy="89535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9525">
              <a:solidFill>
                <a:srgbClr val="E2D4F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2317730" y="63087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可观测、停止、回退、审计、责任边界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2318492" y="66071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异常可解释、可接管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0" name="build-row-5"/>
          <p:cNvGrpSpPr/>
          <p:nvPr/>
        </p:nvGrpSpPr>
        <p:grpSpPr>
          <a:xfrm>
            <a:off x="1028700" y="7143750"/>
            <a:ext cx="16230600" cy="876300"/>
            <a:chOff x="1028700" y="7143750"/>
            <a:chExt cx="16230600" cy="876300"/>
          </a:xfrm>
        </p:grpSpPr>
        <p:sp>
          <p:nvSpPr>
            <p:cNvPr id="68" name="Rectangle 68"/>
            <p:cNvSpPr/>
            <p:nvPr/>
          </p:nvSpPr>
          <p:spPr>
            <a:xfrm>
              <a:off x="1028700" y="7143750"/>
              <a:ext cx="3619500" cy="876300"/>
            </a:xfrm>
            <a:prstGeom prst="roundRect">
              <a:avLst>
                <a:gd name="adj" fmla="val 7609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87018" y="7321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组织能力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288923" y="7667625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谁来持续运营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838700" y="7143750"/>
              <a:ext cx="3429000" cy="87630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078730" y="7337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个人采用、工具培训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079492" y="76358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从会用开始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458200" y="7143750"/>
              <a:ext cx="3429000" cy="87630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9525">
              <a:solidFill>
                <a:srgbClr val="D8E3F3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98230" y="7337425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业务+科技+风险共创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98992" y="7635875"/>
              <a:ext cx="1486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产品经理与AI Ops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2077700" y="7143750"/>
              <a:ext cx="5181600" cy="87630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9525">
              <a:solidFill>
                <a:srgbClr val="E2D4F3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2317730" y="7337425"/>
              <a:ext cx="3629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AI治理委员会、运营团队、定期重估边界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2318492" y="763587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自主边界随成熟度移动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build-question"/>
          <p:cNvGrpSpPr/>
          <p:nvPr/>
        </p:nvGrpSpPr>
        <p:grpSpPr>
          <a:xfrm>
            <a:off x="1028700" y="8134350"/>
            <a:ext cx="16230600" cy="766318"/>
            <a:chOff x="1028700" y="8134350"/>
            <a:chExt cx="16230600" cy="766318"/>
          </a:xfrm>
        </p:grpSpPr>
        <p:sp>
          <p:nvSpPr>
            <p:cNvPr id="81" name="Rectangle 81"/>
            <p:cNvSpPr/>
            <p:nvPr/>
          </p:nvSpPr>
          <p:spPr>
            <a:xfrm>
              <a:off x="1028700" y="8134350"/>
              <a:ext cx="16230600" cy="762000"/>
            </a:xfrm>
            <a:prstGeom prst="roundRect">
              <a:avLst>
                <a:gd name="adj" fmla="val 16250"/>
              </a:avLst>
            </a:prstGeom>
            <a:gradFill>
              <a:gsLst>
                <a:gs pos="0">
                  <a:srgbClr val="EAF2FF"/>
                </a:gs>
                <a:gs pos="50000">
                  <a:srgbClr val="EDF7FA"/>
                </a:gs>
                <a:gs pos="100000">
                  <a:srgbClr val="F4EDFC"/>
                </a:gs>
              </a:gsLst>
              <a:lin ang="0" scaled="1"/>
            </a:gradFill>
            <a:ln w="14288">
              <a:solidFill>
                <a:srgbClr val="CFE0F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344549" y="8267700"/>
              <a:ext cx="89709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spc="7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现场提问</a:t>
              </a:r>
              <a:endParaRPr lang="zh-CN" sz="1580" spc="7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41882" y="8489950"/>
              <a:ext cx="11329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在座各位，贵机构现在处在哪一阶段？下一阶段最缺的，是场景、数据、系统，还是验证？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build-note"/>
          <p:cNvGrpSpPr/>
          <p:nvPr/>
        </p:nvGrpSpPr>
        <p:grpSpPr>
          <a:xfrm>
            <a:off x="1020318" y="9188450"/>
            <a:ext cx="10678249" cy="322707"/>
            <a:chOff x="1020318" y="9188450"/>
            <a:chExt cx="10678249" cy="322707"/>
          </a:xfrm>
        </p:grpSpPr>
        <p:sp>
          <p:nvSpPr>
            <p:cNvPr id="85" name="TextBox 85"/>
            <p:cNvSpPr txBox="1"/>
            <p:nvPr/>
          </p:nvSpPr>
          <p:spPr>
            <a:xfrm>
              <a:off x="1020318" y="9188450"/>
              <a:ext cx="10678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阶段判断不看“买了什么模型”，而看：AI在哪个流程里、承担什么动作、错了谁能在多长时间内发现并接管。</a:t>
              </a:r>
              <a:endParaRPr lang="zh-CN" sz="16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9" name="build-footer"/>
          <p:cNvGrpSpPr/>
          <p:nvPr/>
        </p:nvGrpSpPr>
        <p:grpSpPr>
          <a:xfrm>
            <a:off x="1021080" y="9677400"/>
            <a:ext cx="16245840" cy="306070"/>
            <a:chOff x="1021080" y="9677400"/>
            <a:chExt cx="16245840" cy="306070"/>
          </a:xfrm>
        </p:grpSpPr>
        <p:sp>
          <p:nvSpPr>
            <p:cNvPr id="87" name="TextBox 87"/>
            <p:cNvSpPr txBox="1"/>
            <p:nvPr/>
          </p:nvSpPr>
          <p:spPr>
            <a:xfrm>
              <a:off x="1021080" y="9690100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分阶段建设清单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6575214" y="9677400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09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:wipe/>
      </p:transition>
    </mc:Choice>
    <mc:Fallback>
      <p:transition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6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4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2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4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980"/>
                            </p:stCondLst>
                            <p:childTnLst>
                              <p:par>
                                <p:cTn id="38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30"/>
                            </p:stCondLst>
                            <p:childTnLst>
                              <p:par>
                                <p:cTn id="43" presetID="2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0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63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s-grid"/>
          <p:cNvSpPr/>
          <p:nvPr/>
        </p:nvSpPr>
        <p:spPr>
          <a:xfrm>
            <a:off x="1028700" y="2019300"/>
            <a:ext cx="16230600" cy="7124700"/>
          </a:xfrm>
          <a:custGeom>
            <a:avLst/>
            <a:gdLst/>
            <a:ahLst/>
            <a:cxnLst/>
            <a:rect l="l" t="t" r="r" b="b"/>
            <a:pathLst>
              <a:path w="16230600" h="7124700">
                <a:moveTo>
                  <a:pt x="0" y="133350"/>
                </a:moveTo>
                <a:lnTo>
                  <a:pt x="16230600" y="133350"/>
                </a:lnTo>
                <a:moveTo>
                  <a:pt x="0" y="2857500"/>
                </a:moveTo>
                <a:lnTo>
                  <a:pt x="16230600" y="2857500"/>
                </a:lnTo>
                <a:moveTo>
                  <a:pt x="0" y="5410200"/>
                </a:moveTo>
                <a:lnTo>
                  <a:pt x="16230600" y="5410200"/>
                </a:lnTo>
                <a:moveTo>
                  <a:pt x="0" y="6838950"/>
                </a:moveTo>
                <a:lnTo>
                  <a:pt x="16230600" y="6838950"/>
                </a:lnTo>
                <a:moveTo>
                  <a:pt x="3543300" y="0"/>
                </a:moveTo>
                <a:lnTo>
                  <a:pt x="3543300" y="7124700"/>
                </a:lnTo>
                <a:moveTo>
                  <a:pt x="8115300" y="0"/>
                </a:moveTo>
                <a:lnTo>
                  <a:pt x="8115300" y="7124700"/>
                </a:lnTo>
                <a:moveTo>
                  <a:pt x="12687300" y="0"/>
                </a:moveTo>
                <a:lnTo>
                  <a:pt x="12687300" y="71247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grpSp>
        <p:nvGrpSpPr>
          <p:cNvPr id="6" name="paths-title"/>
          <p:cNvGrpSpPr/>
          <p:nvPr/>
        </p:nvGrpSpPr>
        <p:grpSpPr>
          <a:xfrm>
            <a:off x="1009650" y="495300"/>
            <a:ext cx="9696260" cy="1492663"/>
            <a:chOff x="1009650" y="495300"/>
            <a:chExt cx="9696260" cy="1492663"/>
          </a:xfrm>
        </p:grpSpPr>
        <p:sp>
          <p:nvSpPr>
            <p:cNvPr id="3" name="TextBox 3"/>
            <p:cNvSpPr txBox="1"/>
            <p:nvPr/>
          </p:nvSpPr>
          <p:spPr>
            <a:xfrm>
              <a:off x="1019556" y="495300"/>
              <a:ext cx="4198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10 / TWO ENGINEERING PATHS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/>
            <p:nvPr/>
          </p:nvSpPr>
          <p:spPr>
            <a:xfrm>
              <a:off x="1009650" y="806482"/>
              <a:ext cx="969626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两条价值重构路径：系统建设与AI办公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1018794" y="1606582"/>
              <a:ext cx="81001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技术赋能让局部更快；价值重构，改变系统怎么改、工作怎么变。</a:t>
              </a:r>
            </a:p>
          </p:txBody>
        </p:sp>
      </p:grpSp>
      <p:grpSp>
        <p:nvGrpSpPr>
          <p:cNvPr id="15" name="paths-question"/>
          <p:cNvGrpSpPr/>
          <p:nvPr/>
        </p:nvGrpSpPr>
        <p:grpSpPr>
          <a:xfrm>
            <a:off x="1028700" y="2247900"/>
            <a:ext cx="16230600" cy="1981200"/>
            <a:chOff x="1028700" y="2247900"/>
            <a:chExt cx="16230600" cy="1981200"/>
          </a:xfrm>
        </p:grpSpPr>
        <p:sp>
          <p:nvSpPr>
            <p:cNvPr id="7" name="Rectangle 7"/>
            <p:cNvSpPr/>
            <p:nvPr/>
          </p:nvSpPr>
          <p:spPr>
            <a:xfrm>
              <a:off x="1028700" y="2247900"/>
              <a:ext cx="16230600" cy="1981200"/>
            </a:xfrm>
            <a:prstGeom prst="roundRect">
              <a:avLst>
                <a:gd name="adj" fmla="val 7212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8" name="TextBox 8"/>
            <p:cNvSpPr/>
            <p:nvPr/>
          </p:nvSpPr>
          <p:spPr>
            <a:xfrm>
              <a:off x="1343787" y="2479643"/>
              <a:ext cx="511159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不是两个产品介绍，而是两类价值重构的工程回答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352550" y="2971800"/>
              <a:ext cx="7353300" cy="952500"/>
            </a:xfrm>
            <a:prstGeom prst="roundRect">
              <a:avLst>
                <a:gd name="adj" fmla="val 1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8968" y="31305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系统怎么改？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9349" y="3486150"/>
              <a:ext cx="68223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存量系统二开、系统改造、新系统建设；要接上下文、控影响、留证据。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010650" y="2971800"/>
              <a:ext cx="7924800" cy="952500"/>
            </a:xfrm>
            <a:prstGeom prst="roundRect">
              <a:avLst>
                <a:gd name="adj" fmla="val 1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07068" y="31305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工作怎么变？</a:t>
              </a:r>
              <a:endParaRPr lang="zh-CN" sz="165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07449" y="3486150"/>
              <a:ext cx="724778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知识检索、内容生成、数据分析、流程审批；要把任务做完、交清、可追溯。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paths-esxcode"/>
          <p:cNvGrpSpPr/>
          <p:nvPr/>
        </p:nvGrpSpPr>
        <p:grpSpPr>
          <a:xfrm>
            <a:off x="1028700" y="4495800"/>
            <a:ext cx="7239000" cy="2781300"/>
            <a:chOff x="1028700" y="4495800"/>
            <a:chExt cx="7239000" cy="2781300"/>
          </a:xfrm>
        </p:grpSpPr>
        <p:sp>
          <p:nvSpPr>
            <p:cNvPr id="16" name="Rectangle 16"/>
            <p:cNvSpPr/>
            <p:nvPr/>
          </p:nvSpPr>
          <p:spPr>
            <a:xfrm>
              <a:off x="1028700" y="4495800"/>
              <a:ext cx="7239000" cy="2781300"/>
            </a:xfrm>
            <a:prstGeom prst="roundRect">
              <a:avLst>
                <a:gd name="adj" fmla="val 5137"/>
              </a:avLst>
            </a:prstGeom>
            <a:solidFill>
              <a:srgbClr val="FFFFFF"/>
            </a:solidFill>
            <a:ln w="19050">
              <a:solidFill>
                <a:srgbClr val="BBD4F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28700" y="4495800"/>
              <a:ext cx="7239000" cy="8572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41882" y="4718050"/>
              <a:ext cx="42854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EsXCode｜面向研发的AI应用平台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4930" y="5146675"/>
              <a:ext cx="4272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自研 · 按Agent工程化原则设计 · 连接现有系统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1352550" y="5524500"/>
              <a:ext cx="6591300" cy="9525"/>
            </a:xfrm>
            <a:custGeom>
              <a:avLst/>
              <a:gdLst/>
              <a:ahLst/>
              <a:cxnLst/>
              <a:rect l="l" t="t" r="r" b="b"/>
              <a:pathLst>
                <a:path w="6591300" h="9525">
                  <a:moveTo>
                    <a:pt x="0" y="0"/>
                  </a:moveTo>
                  <a:lnTo>
                    <a:pt x="659130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44549" y="5705475"/>
              <a:ext cx="338729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需求上下文 → 原型/设计 → 系统变更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4549" y="6067425"/>
              <a:ext cx="359999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影响分析 → 自动测试 → 人审发布/回退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52550" y="6534150"/>
              <a:ext cx="6591300" cy="495300"/>
            </a:xfrm>
            <a:prstGeom prst="roundRect">
              <a:avLst>
                <a:gd name="adj" fmla="val 17308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12011" y="6670675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核心：接入、理解、变更、验证、证据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paths-esxwork"/>
          <p:cNvGrpSpPr/>
          <p:nvPr/>
        </p:nvGrpSpPr>
        <p:grpSpPr>
          <a:xfrm>
            <a:off x="9906000" y="4495800"/>
            <a:ext cx="7353300" cy="2781300"/>
            <a:chOff x="9906000" y="4495800"/>
            <a:chExt cx="7353300" cy="2781300"/>
          </a:xfrm>
        </p:grpSpPr>
        <p:sp>
          <p:nvSpPr>
            <p:cNvPr id="26" name="Rectangle 26"/>
            <p:cNvSpPr/>
            <p:nvPr/>
          </p:nvSpPr>
          <p:spPr>
            <a:xfrm>
              <a:off x="9906000" y="4495800"/>
              <a:ext cx="7353300" cy="2781300"/>
            </a:xfrm>
            <a:prstGeom prst="roundRect">
              <a:avLst>
                <a:gd name="adj" fmla="val 5137"/>
              </a:avLst>
            </a:prstGeom>
            <a:solidFill>
              <a:srgbClr val="FFFFFF"/>
            </a:solidFill>
            <a:ln w="19050">
              <a:solidFill>
                <a:srgbClr val="D7B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906000" y="4495800"/>
              <a:ext cx="7353300" cy="85725"/>
            </a:xfrm>
            <a:prstGeom prst="roundRect">
              <a:avLst>
                <a:gd name="adj" fmla="val 50000"/>
              </a:avLst>
            </a:prstGeom>
            <a:solidFill>
              <a:srgbClr val="49097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19182" y="4718050"/>
              <a:ext cx="43463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EsXWork｜面向办公的AI应用平台</a:t>
              </a:r>
              <a:endParaRPr lang="zh-CN" sz="210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2230" y="5146675"/>
              <a:ext cx="44740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自研 · 按Agent工程化原则设计 · 任务与专业交付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10229850" y="5524500"/>
              <a:ext cx="6705600" cy="9525"/>
            </a:xfrm>
            <a:custGeom>
              <a:avLst/>
              <a:gdLst/>
              <a:ahLst/>
              <a:cxnLst/>
              <a:rect l="l" t="t" r="r" b="b"/>
              <a:pathLst>
                <a:path w="6705600" h="9525">
                  <a:moveTo>
                    <a:pt x="0" y="0"/>
                  </a:moveTo>
                  <a:lnTo>
                    <a:pt x="6705600" y="0"/>
                  </a:lnTo>
                </a:path>
              </a:pathLst>
            </a:custGeom>
            <a:noFill/>
            <a:ln w="14288">
              <a:solidFill>
                <a:srgbClr val="F0E8F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21849" y="5705475"/>
              <a:ext cx="417608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 / 数据 → 任务拆解 → 文档 / 表格 / PPT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21849" y="6067425"/>
              <a:ext cx="38965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连接器 / 多Agent → 审批卡点 → 归档留痕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229850" y="6534150"/>
              <a:ext cx="6705600" cy="495300"/>
            </a:xfrm>
            <a:prstGeom prst="roundRect">
              <a:avLst>
                <a:gd name="adj" fmla="val 17308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89311" y="6670675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核心：知识、任务、流程、协作、责任</a:t>
              </a:r>
              <a:endParaRPr lang="zh-CN" sz="142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paths-stage"/>
          <p:cNvGrpSpPr/>
          <p:nvPr/>
        </p:nvGrpSpPr>
        <p:grpSpPr>
          <a:xfrm>
            <a:off x="1028700" y="7524750"/>
            <a:ext cx="16230600" cy="1638300"/>
            <a:chOff x="1028700" y="7524750"/>
            <a:chExt cx="16230600" cy="1638300"/>
          </a:xfrm>
        </p:grpSpPr>
        <p:sp>
          <p:nvSpPr>
            <p:cNvPr id="36" name="Rectangle 36"/>
            <p:cNvSpPr/>
            <p:nvPr/>
          </p:nvSpPr>
          <p:spPr>
            <a:xfrm>
              <a:off x="1028700" y="7524750"/>
              <a:ext cx="16230600" cy="1638300"/>
            </a:xfrm>
            <a:prstGeom prst="roundRect">
              <a:avLst>
                <a:gd name="adj" fmla="val 8721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43406" y="7718425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它们在成熟度模型中的位置：不是一个标签，而是一组能力载体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1657350" y="8343900"/>
              <a:ext cx="15125700" cy="9525"/>
            </a:xfrm>
            <a:custGeom>
              <a:avLst/>
              <a:gdLst/>
              <a:ahLst/>
              <a:cxnLst/>
              <a:rect l="l" t="t" r="r" b="b"/>
              <a:pathLst>
                <a:path w="15125700" h="9525">
                  <a:moveTo>
                    <a:pt x="0" y="0"/>
                  </a:moveTo>
                  <a:lnTo>
                    <a:pt x="15125700" y="0"/>
                  </a:lnTo>
                </a:path>
              </a:pathLst>
            </a:custGeom>
            <a:noFill/>
            <a:ln w="20955">
              <a:solidFill>
                <a:srgbClr val="CFE0F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2762250" y="82486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85471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辅助型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Ellipse 41"/>
            <p:cNvSpPr/>
            <p:nvPr/>
          </p:nvSpPr>
          <p:spPr>
            <a:xfrm>
              <a:off x="15335250" y="8248650"/>
              <a:ext cx="190500" cy="190500"/>
            </a:xfrm>
            <a:prstGeom prst="ellipse">
              <a:avLst/>
            </a:prstGeom>
            <a:solidFill>
              <a:srgbClr val="6C3D9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119985" y="85471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自主型</a:t>
              </a:r>
              <a:endParaRPr lang="zh-CN" sz="150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53150" y="8001000"/>
              <a:ext cx="5981700" cy="514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5493" y="8143875"/>
              <a:ext cx="405701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EsXCode / EsXWork 的主战场：协同型AI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45311" y="8842375"/>
              <a:ext cx="111621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同时具备Agent Loop、工具调用、状态与自动执行等自主型要素；但能否真正自主，仍取决于业务闭环、数据、权限与治理成熟度。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paths-footer"/>
          <p:cNvGrpSpPr/>
          <p:nvPr/>
        </p:nvGrpSpPr>
        <p:grpSpPr>
          <a:xfrm>
            <a:off x="1020318" y="9598025"/>
            <a:ext cx="16247364" cy="322707"/>
            <a:chOff x="1020318" y="9598025"/>
            <a:chExt cx="16247364" cy="322707"/>
          </a:xfrm>
        </p:grpSpPr>
        <p:sp>
          <p:nvSpPr>
            <p:cNvPr id="47" name="TextBox 47"/>
            <p:cNvSpPr txBox="1"/>
            <p:nvPr/>
          </p:nvSpPr>
          <p:spPr>
            <a:xfrm>
              <a:off x="1020318" y="9598025"/>
              <a:ext cx="3333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两条Agent工程化路径</a:t>
              </a:r>
              <a:endParaRPr lang="zh-CN" sz="16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506806" y="9598025"/>
              <a:ext cx="760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6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10 / 24</a:t>
              </a:r>
              <a:endParaRPr lang="zh-CN" sz="16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95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" accel="100000" fill="hold">
                                          <p:stCondLst>
                                            <p:cond delay="49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8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6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4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6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db-grid"/>
          <p:cNvSpPr/>
          <p:nvPr/>
        </p:nvSpPr>
        <p:spPr>
          <a:xfrm>
            <a:off x="1028700" y="1866900"/>
            <a:ext cx="16230600" cy="7277100"/>
          </a:xfrm>
          <a:custGeom>
            <a:avLst/>
            <a:gdLst/>
            <a:ahLst/>
            <a:cxnLst/>
            <a:rect l="l" t="t" r="r" b="b"/>
            <a:pathLst>
              <a:path w="16230600" h="7277100">
                <a:moveTo>
                  <a:pt x="0" y="133350"/>
                </a:moveTo>
                <a:lnTo>
                  <a:pt x="16230600" y="133350"/>
                </a:lnTo>
                <a:moveTo>
                  <a:pt x="0" y="1866900"/>
                </a:moveTo>
                <a:lnTo>
                  <a:pt x="16230600" y="1866900"/>
                </a:lnTo>
                <a:moveTo>
                  <a:pt x="0" y="4152900"/>
                </a:moveTo>
                <a:lnTo>
                  <a:pt x="16230600" y="4152900"/>
                </a:lnTo>
                <a:moveTo>
                  <a:pt x="0" y="6724650"/>
                </a:moveTo>
                <a:lnTo>
                  <a:pt x="16230600" y="6724650"/>
                </a:lnTo>
                <a:moveTo>
                  <a:pt x="2971800" y="0"/>
                </a:moveTo>
                <a:lnTo>
                  <a:pt x="2971800" y="7277100"/>
                </a:lnTo>
                <a:moveTo>
                  <a:pt x="6972300" y="0"/>
                </a:moveTo>
                <a:lnTo>
                  <a:pt x="6972300" y="7277100"/>
                </a:lnTo>
                <a:moveTo>
                  <a:pt x="10972800" y="0"/>
                </a:moveTo>
                <a:lnTo>
                  <a:pt x="10972800" y="7277100"/>
                </a:lnTo>
                <a:moveTo>
                  <a:pt x="14592300" y="0"/>
                </a:moveTo>
                <a:lnTo>
                  <a:pt x="14592300" y="72771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rdb-accent"/>
          <p:cNvSpPr/>
          <p:nvPr/>
        </p:nvSpPr>
        <p:spPr>
          <a:xfrm>
            <a:off x="1028700" y="18669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rdb-title"/>
          <p:cNvGrpSpPr/>
          <p:nvPr/>
        </p:nvGrpSpPr>
        <p:grpSpPr>
          <a:xfrm>
            <a:off x="1009650" y="457200"/>
            <a:ext cx="13971270" cy="1491615"/>
            <a:chOff x="1009650" y="457200"/>
            <a:chExt cx="13971270" cy="1491615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57200"/>
              <a:ext cx="46524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11 / SYSTEM BUILDING · BEFORE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68350"/>
              <a:ext cx="1397127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过去做系统：慢的不是代码，而是长链上的人与证据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175" y="1581150"/>
              <a:ext cx="1191407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新建系统与存量改造都必须先立项；真正的交付，是把需求、架构、接口、数据、测试和上线责任串起来。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rdb-entry-new"/>
          <p:cNvGrpSpPr/>
          <p:nvPr/>
        </p:nvGrpSpPr>
        <p:grpSpPr>
          <a:xfrm>
            <a:off x="1028700" y="2152650"/>
            <a:ext cx="3333750" cy="1257300"/>
            <a:chOff x="1028700" y="2152650"/>
            <a:chExt cx="3333750" cy="1257300"/>
          </a:xfrm>
        </p:grpSpPr>
        <p:sp>
          <p:nvSpPr>
            <p:cNvPr id="8" name="Rectangle 8"/>
            <p:cNvSpPr/>
            <p:nvPr/>
          </p:nvSpPr>
          <p:spPr>
            <a:xfrm>
              <a:off x="1028700" y="2152650"/>
              <a:ext cx="333375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7145">
              <a:solidFill>
                <a:srgbClr val="BBD4F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28700" y="2152650"/>
              <a:ext cx="3333750" cy="666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88542" y="2359025"/>
              <a:ext cx="794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0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ENTRY A</a:t>
              </a:r>
              <a:endParaRPr lang="en-US" sz="1350" spc="10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4351" y="26384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新建系统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8542" y="30448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新业务、新平台、替换旧系统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rdb-entry-change"/>
          <p:cNvGrpSpPr/>
          <p:nvPr/>
        </p:nvGrpSpPr>
        <p:grpSpPr>
          <a:xfrm>
            <a:off x="4629150" y="2152650"/>
            <a:ext cx="3333750" cy="1257300"/>
            <a:chOff x="4629150" y="2152650"/>
            <a:chExt cx="3333750" cy="1257300"/>
          </a:xfrm>
        </p:grpSpPr>
        <p:sp>
          <p:nvSpPr>
            <p:cNvPr id="14" name="Rectangle 14"/>
            <p:cNvSpPr/>
            <p:nvPr/>
          </p:nvSpPr>
          <p:spPr>
            <a:xfrm>
              <a:off x="4629150" y="2152650"/>
              <a:ext cx="333375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7145">
              <a:solidFill>
                <a:srgbClr val="CFE0F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29150" y="2152650"/>
              <a:ext cx="3333750" cy="66675"/>
            </a:xfrm>
            <a:prstGeom prst="roundRect">
              <a:avLst>
                <a:gd name="adj" fmla="val 50000"/>
              </a:avLst>
            </a:prstGeom>
            <a:solidFill>
              <a:srgbClr val="3F78D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88992" y="2359025"/>
              <a:ext cx="794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0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ENTRY B</a:t>
              </a:r>
              <a:endParaRPr lang="en-US" sz="1350" spc="10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84801" y="2638425"/>
              <a:ext cx="2137295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存量改造 / 二开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88992" y="30448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新增功能、接口、数据或报表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rdb-governance"/>
          <p:cNvGrpSpPr/>
          <p:nvPr/>
        </p:nvGrpSpPr>
        <p:grpSpPr>
          <a:xfrm>
            <a:off x="4362450" y="2152650"/>
            <a:ext cx="12896850" cy="1257300"/>
            <a:chOff x="4362450" y="2152650"/>
            <a:chExt cx="12896850" cy="1257300"/>
          </a:xfrm>
        </p:grpSpPr>
        <p:sp>
          <p:nvSpPr>
            <p:cNvPr id="20" name="Rectangle 20"/>
            <p:cNvSpPr/>
            <p:nvPr/>
          </p:nvSpPr>
          <p:spPr>
            <a:xfrm>
              <a:off x="8343900" y="2152650"/>
              <a:ext cx="8915400" cy="125730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EAF2FF"/>
                </a:gs>
                <a:gs pos="50000">
                  <a:srgbClr val="F4EDFC"/>
                </a:gs>
                <a:gs pos="100000">
                  <a:srgbClr val="EAF2FF"/>
                </a:gs>
              </a:gsLst>
              <a:lin ang="0" scaled="1"/>
            </a:gradFill>
            <a:ln w="15240">
              <a:solidFill>
                <a:srgbClr val="CFE0F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21649" y="2324100"/>
              <a:ext cx="363189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两条入口，最后都要穿过同一条治理线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23173" y="2628900"/>
              <a:ext cx="41309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AI不会取消立项、预算、安全评审、验收与审计责任。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629650" y="29527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17334" y="300037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 / 立项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591800" y="29527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079484" y="300037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预算 / 采购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2553950" y="29527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041634" y="300037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 / 安全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4516100" y="2952750"/>
              <a:ext cx="24003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030458" y="3000375"/>
              <a:ext cx="1371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上线 / 验收 / 责任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4362450" y="2781300"/>
              <a:ext cx="190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>
              <a:off x="7962900" y="27813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67" name="rdb-chain"/>
          <p:cNvGrpSpPr/>
          <p:nvPr/>
        </p:nvGrpSpPr>
        <p:grpSpPr>
          <a:xfrm>
            <a:off x="1021080" y="3889375"/>
            <a:ext cx="16245078" cy="1730375"/>
            <a:chOff x="1021080" y="3889375"/>
            <a:chExt cx="16245078" cy="1730375"/>
          </a:xfrm>
        </p:grpSpPr>
        <p:sp>
          <p:nvSpPr>
            <p:cNvPr id="34" name="TextBox 34"/>
            <p:cNvSpPr txBox="1"/>
            <p:nvPr/>
          </p:nvSpPr>
          <p:spPr>
            <a:xfrm>
              <a:off x="1021080" y="38893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立项之后，交付仍是一条串行链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162913" y="39020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每一段都依赖上一段的文档、决定与人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28700" y="4248150"/>
              <a:ext cx="2457450" cy="1371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50823" y="4419600"/>
              <a:ext cx="2024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47775" y="46863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需求与方案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50823" y="5095875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范围、边界、验收标准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51204" y="53340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人写、人讲、人对齐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76650" y="4248150"/>
              <a:ext cx="2457450" cy="1371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98773" y="4419600"/>
              <a:ext cx="2024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95725" y="46863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设计与排期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98773" y="5095875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架构、接口、数据模型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99154" y="53340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依赖资深人员判断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24600" y="4248150"/>
              <a:ext cx="2457450" cy="1371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6723" y="4419600"/>
              <a:ext cx="2024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3675" y="46863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开发与配置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46723" y="509587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代码、二开、接口、报表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47104" y="53340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手工产出与联调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972550" y="4248150"/>
              <a:ext cx="2457450" cy="1371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94673" y="4419600"/>
              <a:ext cx="2024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91625" y="46863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集成与测试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94673" y="509587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环境、数据、回归、缺陷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95054" y="53340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上线前集中暴露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620500" y="4248150"/>
              <a:ext cx="2457450" cy="1371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842623" y="4419600"/>
              <a:ext cx="2024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839575" y="4686300"/>
              <a:ext cx="132583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UAT 与安全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842623" y="509587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业务确认、风险复核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843004" y="53340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签字前再补证据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4268450" y="4248150"/>
              <a:ext cx="2990850" cy="1371600"/>
            </a:xfrm>
            <a:prstGeom prst="roundRect">
              <a:avLst>
                <a:gd name="adj" fmla="val 6250"/>
              </a:avLst>
            </a:prstGeom>
            <a:solidFill>
              <a:srgbClr val="EAF2FF"/>
            </a:solidFill>
            <a:ln w="17145">
              <a:solidFill>
                <a:schemeClr val="accent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4490573" y="4419600"/>
              <a:ext cx="2024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4487525" y="46863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上线与移交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490573" y="5095875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发布、运维、知识交接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490954" y="53340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结果才第一次可检验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Freeform 66"/>
            <p:cNvSpPr/>
            <p:nvPr/>
          </p:nvSpPr>
          <p:spPr>
            <a:xfrm>
              <a:off x="3486150" y="49339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52400" y="0"/>
                  </a:lnTo>
                  <a:moveTo>
                    <a:pt x="2647950" y="0"/>
                  </a:moveTo>
                  <a:lnTo>
                    <a:pt x="2800350" y="0"/>
                  </a:lnTo>
                  <a:moveTo>
                    <a:pt x="5295900" y="0"/>
                  </a:moveTo>
                  <a:lnTo>
                    <a:pt x="5448300" y="0"/>
                  </a:lnTo>
                  <a:moveTo>
                    <a:pt x="7943850" y="0"/>
                  </a:moveTo>
                  <a:lnTo>
                    <a:pt x="8096250" y="0"/>
                  </a:lnTo>
                  <a:moveTo>
                    <a:pt x="10591800" y="0"/>
                  </a:moveTo>
                  <a:lnTo>
                    <a:pt x="10744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84" name="rdb-costs"/>
          <p:cNvGrpSpPr/>
          <p:nvPr/>
        </p:nvGrpSpPr>
        <p:grpSpPr>
          <a:xfrm>
            <a:off x="1020318" y="6359525"/>
            <a:ext cx="16238982" cy="2060575"/>
            <a:chOff x="1020318" y="6359525"/>
            <a:chExt cx="16238982" cy="2060575"/>
          </a:xfrm>
        </p:grpSpPr>
        <p:sp>
          <p:nvSpPr>
            <p:cNvPr id="68" name="TextBox 68"/>
            <p:cNvSpPr txBox="1"/>
            <p:nvPr/>
          </p:nvSpPr>
          <p:spPr>
            <a:xfrm>
              <a:off x="1020318" y="6359525"/>
              <a:ext cx="58263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过去最贵的，不只是写代码，而是三件“无法自动交接”的事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28700" y="6762750"/>
              <a:ext cx="5143500" cy="1657350"/>
            </a:xfrm>
            <a:prstGeom prst="roundRect">
              <a:avLst>
                <a:gd name="adj" fmla="val 6322"/>
              </a:avLst>
            </a:prstGeom>
            <a:solidFill>
              <a:srgbClr val="FFFFFF"/>
            </a:solidFill>
            <a:ln w="14288">
              <a:solidFill>
                <a:srgbClr val="D8E3F3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306449" y="6953250"/>
              <a:ext cx="179470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上下文靠人带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07211" y="7318375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需求为什么这样定、历史为什么这样改，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07211" y="7604125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往往只在会议、文档与个人经验里。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07973" y="8020050"/>
              <a:ext cx="380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新成员接手的不是系统，而是重新问一遍所有人。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57950" y="6762750"/>
              <a:ext cx="5143500" cy="1657350"/>
            </a:xfrm>
            <a:prstGeom prst="roundRect">
              <a:avLst>
                <a:gd name="adj" fmla="val 6322"/>
              </a:avLst>
            </a:prstGeom>
            <a:solidFill>
              <a:srgbClr val="FFFFFF"/>
            </a:solidFill>
            <a:ln w="16192">
              <a:solidFill>
                <a:srgbClr val="E8D6D9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35699" y="6953250"/>
              <a:ext cx="200740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02 / 影响靠经验判断</a:t>
              </a:r>
              <a:endParaRPr lang="zh-CN" sz="158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736461" y="7318375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改一个字段、一段逻辑，可能牵动接口、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736461" y="7604125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报表、校验与下游系统。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737223" y="8020050"/>
              <a:ext cx="36820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“改A坏B”往往在集成测试甚至上线后才被发现。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1887200" y="6762750"/>
              <a:ext cx="5372100" cy="1657350"/>
            </a:xfrm>
            <a:prstGeom prst="roundRect">
              <a:avLst>
                <a:gd name="adj" fmla="val 6322"/>
              </a:avLst>
            </a:prstGeom>
            <a:solidFill>
              <a:srgbClr val="FFFFFF"/>
            </a:solidFill>
            <a:ln w="14288">
              <a:solidFill>
                <a:srgbClr val="D8E3F3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2164949" y="6953250"/>
              <a:ext cx="179470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03 / 证据上线前补</a:t>
              </a:r>
              <a:endParaRPr lang="zh-CN" sz="15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2165711" y="7318375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测试、评审、发布说明和审计材料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2165711" y="7604125"/>
              <a:ext cx="29010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常被当成项目尾声的“配套工作”。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2166473" y="8020050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结果能上线，却很难解释它为什么可信。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7" name="rdb-takeaway"/>
          <p:cNvGrpSpPr/>
          <p:nvPr/>
        </p:nvGrpSpPr>
        <p:grpSpPr>
          <a:xfrm>
            <a:off x="1028700" y="8705850"/>
            <a:ext cx="16230600" cy="514350"/>
            <a:chOff x="1028700" y="8705850"/>
            <a:chExt cx="16230600" cy="514350"/>
          </a:xfrm>
        </p:grpSpPr>
        <p:sp>
          <p:nvSpPr>
            <p:cNvPr id="85" name="Rectangle 85"/>
            <p:cNvSpPr/>
            <p:nvPr/>
          </p:nvSpPr>
          <p:spPr>
            <a:xfrm>
              <a:off x="1028700" y="8705850"/>
              <a:ext cx="16230600" cy="514350"/>
            </a:xfrm>
            <a:prstGeom prst="roundRect">
              <a:avLst>
                <a:gd name="adj" fmla="val 22222"/>
              </a:avLst>
            </a:prstGeom>
            <a:solidFill>
              <a:srgbClr val="EAF2FF"/>
            </a:solidFill>
            <a:ln w="13335">
              <a:solidFill>
                <a:srgbClr val="CFE0F5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324356" y="8832850"/>
              <a:ext cx="87005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AI真正要改造的，不是某一段编码，而是这条“上下文—变更—验证—交付”的长链。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0" name="rdb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88" name="TextBox 88"/>
            <p:cNvSpPr txBox="1"/>
            <p:nvPr/>
          </p:nvSpPr>
          <p:spPr>
            <a:xfrm>
              <a:off x="1021080" y="9623425"/>
              <a:ext cx="4274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Agent工程化实践 · 过去的系统建设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11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8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6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82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4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870"/>
                            </p:stCondLst>
                            <p:childTnLst>
                              <p:par>
                                <p:cTn id="34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dn-grid"/>
          <p:cNvSpPr/>
          <p:nvPr/>
        </p:nvSpPr>
        <p:spPr>
          <a:xfrm>
            <a:off x="1028700" y="1905000"/>
            <a:ext cx="16230600" cy="7239000"/>
          </a:xfrm>
          <a:custGeom>
            <a:avLst/>
            <a:gdLst/>
            <a:ahLst/>
            <a:cxnLst/>
            <a:rect l="l" t="t" r="r" b="b"/>
            <a:pathLst>
              <a:path w="16230600" h="7239000">
                <a:moveTo>
                  <a:pt x="0" y="133350"/>
                </a:moveTo>
                <a:lnTo>
                  <a:pt x="16230600" y="133350"/>
                </a:lnTo>
                <a:moveTo>
                  <a:pt x="0" y="2095500"/>
                </a:moveTo>
                <a:lnTo>
                  <a:pt x="16230600" y="2095500"/>
                </a:lnTo>
                <a:moveTo>
                  <a:pt x="0" y="4724400"/>
                </a:moveTo>
                <a:lnTo>
                  <a:pt x="16230600" y="4724400"/>
                </a:lnTo>
                <a:moveTo>
                  <a:pt x="0" y="7010400"/>
                </a:moveTo>
                <a:lnTo>
                  <a:pt x="16230600" y="7010400"/>
                </a:lnTo>
                <a:moveTo>
                  <a:pt x="2895600" y="0"/>
                </a:moveTo>
                <a:lnTo>
                  <a:pt x="2895600" y="7239000"/>
                </a:lnTo>
                <a:moveTo>
                  <a:pt x="6248400" y="0"/>
                </a:moveTo>
                <a:lnTo>
                  <a:pt x="6248400" y="7239000"/>
                </a:lnTo>
                <a:moveTo>
                  <a:pt x="9601200" y="0"/>
                </a:moveTo>
                <a:lnTo>
                  <a:pt x="9601200" y="7239000"/>
                </a:lnTo>
                <a:moveTo>
                  <a:pt x="12954000" y="0"/>
                </a:moveTo>
                <a:lnTo>
                  <a:pt x="12954000" y="72390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rdn-accent"/>
          <p:cNvSpPr/>
          <p:nvPr/>
        </p:nvSpPr>
        <p:spPr>
          <a:xfrm>
            <a:off x="1028700" y="19050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rdn-title"/>
          <p:cNvGrpSpPr/>
          <p:nvPr/>
        </p:nvGrpSpPr>
        <p:grpSpPr>
          <a:xfrm>
            <a:off x="1009650" y="457200"/>
            <a:ext cx="12912966" cy="1491615"/>
            <a:chOff x="1009650" y="457200"/>
            <a:chExt cx="12912966" cy="1491615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57200"/>
              <a:ext cx="4479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12 / SYSTEM BUILDING · TODAY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68350"/>
              <a:ext cx="1291296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AI把“写出来”变快，把“证明可以上线”推到台前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175" y="1581150"/>
              <a:ext cx="1267285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AI可以接入授权范围内的代码、文档、接口与数据；但进入真实系统后，主战场转向“接得进、改得对、证得明”。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rdn-pipeline"/>
          <p:cNvGrpSpPr/>
          <p:nvPr/>
        </p:nvGrpSpPr>
        <p:grpSpPr>
          <a:xfrm>
            <a:off x="1028700" y="2133600"/>
            <a:ext cx="16230600" cy="3695700"/>
            <a:chOff x="1028700" y="2133600"/>
            <a:chExt cx="16230600" cy="3695700"/>
          </a:xfrm>
        </p:grpSpPr>
        <p:sp>
          <p:nvSpPr>
            <p:cNvPr id="8" name="Rectangle 8"/>
            <p:cNvSpPr/>
            <p:nvPr/>
          </p:nvSpPr>
          <p:spPr>
            <a:xfrm>
              <a:off x="1028700" y="2133600"/>
              <a:ext cx="16230600" cy="3695700"/>
            </a:xfrm>
            <a:prstGeom prst="roundRect">
              <a:avLst>
                <a:gd name="adj" fmla="val 4124"/>
              </a:avLst>
            </a:prstGeom>
            <a:gradFill>
              <a:gsLst>
                <a:gs pos="0">
                  <a:srgbClr val="EAF2FF"/>
                </a:gs>
                <a:gs pos="62000">
                  <a:srgbClr val="FFF7F8"/>
                </a:gs>
                <a:gs pos="100000">
                  <a:srgbClr val="F4EDFC"/>
                </a:gs>
              </a:gsLst>
              <a:lin ang="0" scaled="1"/>
            </a:gradFill>
            <a:ln w="15240">
              <a:solidFill>
                <a:srgbClr val="CFE0F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5118" y="2292350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同一条系统建设流水线，速度结构变了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76376" y="23304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速度是局部改善，风险却在系统边界集中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781300"/>
              <a:ext cx="2876550" cy="2266950"/>
            </a:xfrm>
            <a:prstGeom prst="roundRect">
              <a:avLst>
                <a:gd name="adj" fmla="val 4622"/>
              </a:avLst>
            </a:prstGeom>
            <a:solidFill>
              <a:srgbClr val="FFFFFF"/>
            </a:solidFill>
            <a:ln w="15240">
              <a:solidFill>
                <a:srgbClr val="BBD4F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74673" y="2952750"/>
              <a:ext cx="13007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CONTEXT</a:t>
              </a:r>
              <a:endParaRPr lang="en-US" sz="128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70863" y="325437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理解任务</a:t>
              </a:r>
              <a:endPara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73911" y="3651250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接入需求、规范与系统现状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73911" y="393700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形成可执行上下文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81150" y="445770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70740" y="452437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AI加速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62250" y="4457700"/>
              <a:ext cx="1162050" cy="32385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33319" y="45243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人定义边界</a:t>
              </a:r>
              <a:endParaRPr lang="zh-CN" sz="120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57700" y="2781300"/>
              <a:ext cx="2876550" cy="2266950"/>
            </a:xfrm>
            <a:prstGeom prst="roundRect">
              <a:avLst>
                <a:gd name="adj" fmla="val 4622"/>
              </a:avLst>
            </a:prstGeom>
            <a:solidFill>
              <a:srgbClr val="FFFFFF"/>
            </a:solidFill>
            <a:ln w="15240">
              <a:solidFill>
                <a:srgbClr val="BBD4F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98873" y="2952750"/>
              <a:ext cx="13773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GENERATE</a:t>
              </a:r>
              <a:endParaRPr lang="en-US" sz="128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95063" y="3254375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生成候选产物</a:t>
              </a:r>
              <a:endPara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98111" y="3651250"/>
              <a:ext cx="22997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需求稿、原型、代码、SQL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98111" y="39370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测试用例与交付文档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05350" y="445770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94940" y="452437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AI加速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886450" y="4457700"/>
              <a:ext cx="1162050" cy="323850"/>
            </a:xfrm>
            <a:prstGeom prst="roundRect">
              <a:avLst>
                <a:gd name="adj" fmla="val 5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38291" y="45243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版本可控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81900" y="2781300"/>
              <a:ext cx="2876550" cy="2266950"/>
            </a:xfrm>
            <a:prstGeom prst="roundRect">
              <a:avLst>
                <a:gd name="adj" fmla="val 4622"/>
              </a:avLst>
            </a:prstGeom>
            <a:solidFill>
              <a:srgbClr val="FFFFFF"/>
            </a:solidFill>
            <a:ln w="16192">
              <a:solidFill>
                <a:srgbClr val="BBD4F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23073" y="2952750"/>
              <a:ext cx="14447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03 / INTEGRATE</a:t>
              </a:r>
              <a:endParaRPr lang="en-US" sz="1280" spc="9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19263" y="3254375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接进真实系统</a:t>
              </a:r>
              <a:endPara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22311" y="3651250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现有模块、接口、数据库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22311" y="3937000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权限、环境与数据边界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29550" y="445770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19140" y="452437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AI辅助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10650" y="4457700"/>
              <a:ext cx="116205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43263" y="45243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主瓶颈</a:t>
              </a:r>
              <a:endParaRPr lang="zh-CN" sz="12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706100" y="2781300"/>
              <a:ext cx="2876550" cy="2266950"/>
            </a:xfrm>
            <a:prstGeom prst="roundRect">
              <a:avLst>
                <a:gd name="adj" fmla="val 4622"/>
              </a:avLst>
            </a:prstGeom>
            <a:solidFill>
              <a:srgbClr val="FFF9FA"/>
            </a:solidFill>
            <a:ln w="20955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47273" y="2952750"/>
              <a:ext cx="11059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04 / VERIFY</a:t>
              </a:r>
              <a:endParaRPr lang="en-US" sz="1280" spc="9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43463" y="3254375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证明改得对</a:t>
              </a:r>
              <a:endPara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46511" y="3651250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影响分析、自动测试、回归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46511" y="393700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安全审查与证据包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953750" y="445770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43340" y="452437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AI加速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134850" y="4457700"/>
              <a:ext cx="116205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467463" y="45243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主瓶颈</a:t>
              </a:r>
              <a:endParaRPr lang="zh-CN" sz="12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3830300" y="2781300"/>
              <a:ext cx="3124200" cy="2266950"/>
            </a:xfrm>
            <a:prstGeom prst="roundRect">
              <a:avLst>
                <a:gd name="adj" fmla="val 4622"/>
              </a:avLst>
            </a:prstGeom>
            <a:solidFill>
              <a:srgbClr val="FFFFFF"/>
            </a:solidFill>
            <a:ln w="16192">
              <a:solidFill>
                <a:srgbClr val="D7B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071473" y="2952750"/>
              <a:ext cx="12643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05 / RELEASE</a:t>
              </a:r>
              <a:endParaRPr lang="en-US" sz="1280" spc="9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067663" y="3254375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签字、发布、回退</a:t>
              </a:r>
              <a:endPara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070711" y="3651250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责任确认、灰度与运行验证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070711" y="39370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知识移交与持续演进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4077950" y="445770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4362938" y="45243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人负责</a:t>
              </a:r>
              <a:endParaRPr lang="zh-CN" sz="120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5259050" y="4457700"/>
              <a:ext cx="140970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5553944" y="45243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必须可回退</a:t>
              </a:r>
              <a:endParaRPr lang="zh-CN" sz="12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Freeform 56"/>
            <p:cNvSpPr/>
            <p:nvPr/>
          </p:nvSpPr>
          <p:spPr>
            <a:xfrm>
              <a:off x="4229100" y="390525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190500" y="0"/>
                  </a:lnTo>
                  <a:moveTo>
                    <a:pt x="3124200" y="0"/>
                  </a:moveTo>
                  <a:lnTo>
                    <a:pt x="3314700" y="0"/>
                  </a:lnTo>
                  <a:moveTo>
                    <a:pt x="6248400" y="0"/>
                  </a:moveTo>
                  <a:lnTo>
                    <a:pt x="6438900" y="0"/>
                  </a:lnTo>
                  <a:moveTo>
                    <a:pt x="9372600" y="0"/>
                  </a:moveTo>
                  <a:lnTo>
                    <a:pt x="9563100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7" name="Freeform 57"/>
            <p:cNvSpPr/>
            <p:nvPr/>
          </p:nvSpPr>
          <p:spPr>
            <a:xfrm>
              <a:off x="7620000" y="5467350"/>
              <a:ext cx="8915400" cy="209550"/>
            </a:xfrm>
            <a:custGeom>
              <a:avLst/>
              <a:gdLst/>
              <a:ahLst/>
              <a:cxnLst/>
              <a:rect l="l" t="t" r="r" b="b"/>
              <a:pathLst>
                <a:path w="8915400" h="209550">
                  <a:moveTo>
                    <a:pt x="0" y="0"/>
                  </a:moveTo>
                  <a:lnTo>
                    <a:pt x="0" y="209550"/>
                  </a:lnTo>
                  <a:lnTo>
                    <a:pt x="8915400" y="209550"/>
                  </a:lnTo>
                  <a:lnTo>
                    <a:pt x="8915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400000" sp="300000"/>
              </a:custDash>
              <a:tailEnd type="triangle" w="lg" len="lg"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13342" y="5445125"/>
              <a:ext cx="4613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瓶颈从“做出来”转移到“接进系统、验证影响、证明可信”</a:t>
              </a:r>
              <a:endParaRPr lang="zh-CN" sz="135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1" name="rdn-three"/>
          <p:cNvGrpSpPr/>
          <p:nvPr/>
        </p:nvGrpSpPr>
        <p:grpSpPr>
          <a:xfrm>
            <a:off x="1028700" y="6286500"/>
            <a:ext cx="16230600" cy="2400300"/>
            <a:chOff x="1028700" y="6286500"/>
            <a:chExt cx="16230600" cy="2400300"/>
          </a:xfrm>
        </p:grpSpPr>
        <p:sp>
          <p:nvSpPr>
            <p:cNvPr id="60" name="Rectangle 60"/>
            <p:cNvSpPr/>
            <p:nvPr/>
          </p:nvSpPr>
          <p:spPr>
            <a:xfrm>
              <a:off x="1028700" y="6286500"/>
              <a:ext cx="5143500" cy="24003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305306" y="64897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接得进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306830" y="68611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在客户授权边界内理解并连接：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307211" y="7223125"/>
              <a:ext cx="27634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代码仓库 · 系统模块 · API/MCP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307211" y="7508875"/>
              <a:ext cx="27480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数据字典 · 业务规则 · 现有文档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307592" y="79787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服务新建系统，也服务存量系统二开。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307973" y="8277225"/>
              <a:ext cx="36139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不是把原系统替换掉，而是把AI接进演进过程。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57950" y="6286500"/>
              <a:ext cx="5143500" cy="24003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7145">
              <a:solidFill>
                <a:srgbClr val="E8D6D9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34556" y="64897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改得对</a:t>
              </a:r>
              <a:endParaRPr lang="zh-CN" sz="18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36080" y="68611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先回答业务与系统的影响：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36461" y="7223125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哪些接口、表、报表、规则会受影响？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36461" y="7508875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哪些变更可以自动，哪些必须评审？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36842" y="797877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变更范围与回退路径先于代码产生。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737223" y="8277225"/>
              <a:ext cx="27872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减少“改一处、坏一片”的隐性成本。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1887200" y="6286500"/>
              <a:ext cx="5372100" cy="24003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6192">
              <a:solidFill>
                <a:srgbClr val="D7B8F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2163806" y="64897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证得明</a:t>
              </a:r>
              <a:endParaRPr lang="zh-CN" sz="180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2165330" y="68611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每次交付都能回到同一组证据：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165711" y="7223125"/>
              <a:ext cx="27480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需求依据 · 变更差异 · 自动测试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2165711" y="7508875"/>
              <a:ext cx="31303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人工确认 · 版本与回退包 · 审计留痕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2166092" y="7978775"/>
              <a:ext cx="385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上线不是一个“结果”，而是一份可复核的交付。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2166473" y="8277225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让速度提升不牺牲可解释与可追溯。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3" name="rdn-takeaway"/>
          <p:cNvGrpSpPr/>
          <p:nvPr/>
        </p:nvGrpSpPr>
        <p:grpSpPr>
          <a:xfrm>
            <a:off x="1017270" y="8978900"/>
            <a:ext cx="11818506" cy="440055"/>
            <a:chOff x="1017270" y="8978900"/>
            <a:chExt cx="11818506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1017270" y="8978900"/>
              <a:ext cx="11818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AI研发的价值，不是让代码更多，而是让每一次系统变更更快被验证、被解释、被接手。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rdn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84" name="TextBox 84"/>
            <p:cNvSpPr txBox="1"/>
            <p:nvPr/>
          </p:nvSpPr>
          <p:spPr>
            <a:xfrm>
              <a:off x="1021080" y="9623425"/>
              <a:ext cx="4274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Agent工程化实践 · 今天的系统建设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12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14:reveal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4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630"/>
                            </p:stCondLst>
                            <p:childTnLst>
                              <p:par>
                                <p:cTn id="20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680"/>
                            </p:stCondLst>
                            <p:childTnLst>
                              <p:par>
                                <p:cTn id="25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83"/>
                                        </p:tgtEl>
                                      </p:cBhvr>
                                      <p:by x="150000" y="150000"/>
                                      <p:to x="102000" y="10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de-grid"/>
          <p:cNvSpPr/>
          <p:nvPr/>
        </p:nvSpPr>
        <p:spPr>
          <a:xfrm>
            <a:off x="1028700" y="1847850"/>
            <a:ext cx="16230600" cy="7296150"/>
          </a:xfrm>
          <a:custGeom>
            <a:avLst/>
            <a:gdLst/>
            <a:ahLst/>
            <a:cxnLst/>
            <a:rect l="l" t="t" r="r" b="b"/>
            <a:pathLst>
              <a:path w="16230600" h="7296150">
                <a:moveTo>
                  <a:pt x="0" y="133350"/>
                </a:moveTo>
                <a:lnTo>
                  <a:pt x="16230600" y="133350"/>
                </a:lnTo>
                <a:moveTo>
                  <a:pt x="0" y="1847850"/>
                </a:moveTo>
                <a:lnTo>
                  <a:pt x="16230600" y="1847850"/>
                </a:lnTo>
                <a:moveTo>
                  <a:pt x="0" y="4743450"/>
                </a:moveTo>
                <a:lnTo>
                  <a:pt x="16230600" y="4743450"/>
                </a:lnTo>
                <a:moveTo>
                  <a:pt x="0" y="7277100"/>
                </a:moveTo>
                <a:lnTo>
                  <a:pt x="16230600" y="7277100"/>
                </a:lnTo>
                <a:moveTo>
                  <a:pt x="3371850" y="0"/>
                </a:moveTo>
                <a:lnTo>
                  <a:pt x="3371850" y="7296150"/>
                </a:lnTo>
                <a:moveTo>
                  <a:pt x="6972300" y="0"/>
                </a:moveTo>
                <a:lnTo>
                  <a:pt x="6972300" y="7296150"/>
                </a:lnTo>
                <a:moveTo>
                  <a:pt x="10972800" y="0"/>
                </a:moveTo>
                <a:lnTo>
                  <a:pt x="10972800" y="7296150"/>
                </a:lnTo>
                <a:moveTo>
                  <a:pt x="12477750" y="0"/>
                </a:moveTo>
                <a:lnTo>
                  <a:pt x="12477750" y="729615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code-accent"/>
          <p:cNvSpPr/>
          <p:nvPr/>
        </p:nvSpPr>
        <p:spPr>
          <a:xfrm>
            <a:off x="1028700" y="184785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code-title"/>
          <p:cNvGrpSpPr/>
          <p:nvPr/>
        </p:nvGrpSpPr>
        <p:grpSpPr>
          <a:xfrm>
            <a:off x="1009650" y="431800"/>
            <a:ext cx="13416115" cy="1478915"/>
            <a:chOff x="1009650" y="431800"/>
            <a:chExt cx="13416115" cy="1478915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31800"/>
              <a:ext cx="49252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13 / EsXCode · 自研 AI 研发应用平台</a:t>
              </a:r>
              <a:endParaRPr lang="zh-CN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30250"/>
              <a:ext cx="1341611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EsXCode：把AI放进系统工程，而不是放在聊天框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175" y="1543050"/>
              <a:ext cx="1242024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在授权边界内接入现有系统与工程上下文，把需求、影响、变更、测试、提测与回退连成一条可验证的交付链。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code-input"/>
          <p:cNvGrpSpPr/>
          <p:nvPr/>
        </p:nvGrpSpPr>
        <p:grpSpPr>
          <a:xfrm>
            <a:off x="1028700" y="2095500"/>
            <a:ext cx="3143250" cy="6477000"/>
            <a:chOff x="1028700" y="2095500"/>
            <a:chExt cx="3143250" cy="6477000"/>
          </a:xfrm>
        </p:grpSpPr>
        <p:sp>
          <p:nvSpPr>
            <p:cNvPr id="8" name="Rectangle 8"/>
            <p:cNvSpPr/>
            <p:nvPr/>
          </p:nvSpPr>
          <p:spPr>
            <a:xfrm>
              <a:off x="1028700" y="2095500"/>
              <a:ext cx="3143250" cy="6477000"/>
            </a:xfrm>
            <a:prstGeom prst="roundRect">
              <a:avLst>
                <a:gd name="adj" fmla="val 4242"/>
              </a:avLst>
            </a:prstGeom>
            <a:gradFill>
              <a:gsLst>
                <a:gs pos="0">
                  <a:srgbClr val="EAF2FF"/>
                </a:gs>
                <a:gs pos="100000">
                  <a:srgbClr val="FFFFFF"/>
                </a:gs>
              </a:gsLst>
              <a:lin ang="5400000" scaled="1"/>
            </a:gradFill>
            <a:ln w="17145">
              <a:solidFill>
                <a:srgbClr val="BBD4F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7592" y="2301875"/>
              <a:ext cx="1701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0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INPUT / CONTEXT</a:t>
              </a:r>
              <a:endParaRPr lang="en-US" sz="1350" spc="10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3401" y="2600325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真实工程上下文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7592" y="2987675"/>
              <a:ext cx="2357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AI先理解系统，再开始改系统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314450" y="333375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14288">
              <a:solidFill>
                <a:srgbClr val="CFE0F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314450" y="3562350"/>
              <a:ext cx="2571750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97330" y="3679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现有系统与模块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98854" y="39624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核心、外围、数据平台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14450" y="4438650"/>
              <a:ext cx="2571750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97330" y="4556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代码仓库与历史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8854" y="48387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代码图谱、提交与版本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14450" y="5314950"/>
              <a:ext cx="2571750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97330" y="5432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接口、模型与数据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8854" y="5715000"/>
              <a:ext cx="1877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API/MCP、Schema、映射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14450" y="6191250"/>
              <a:ext cx="2571750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97330" y="6308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规范、文档与规则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98854" y="65913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需求、设计、验收、安全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314450" y="7067550"/>
              <a:ext cx="2571750" cy="723900"/>
            </a:xfrm>
            <a:prstGeom prst="roundRect">
              <a:avLst>
                <a:gd name="adj" fmla="val 10526"/>
              </a:avLst>
            </a:prstGeom>
            <a:solidFill>
              <a:srgbClr val="F4EDFC"/>
            </a:solidFill>
            <a:ln w="9525">
              <a:solidFill>
                <a:srgbClr val="D7B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97330" y="71850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运行与测试环境</a:t>
              </a:r>
              <a:endParaRPr lang="zh-CN" sz="150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98854" y="74676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沙箱、构建、提测链接</a:t>
              </a:r>
              <a:endParaRPr lang="zh-CN" sz="120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7973" y="80486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服务对象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07973" y="8296275"/>
              <a:ext cx="17619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新系统建设 · 存量二开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0" name="code-flow"/>
          <p:cNvGrpSpPr/>
          <p:nvPr/>
        </p:nvGrpSpPr>
        <p:grpSpPr>
          <a:xfrm>
            <a:off x="4457700" y="2095500"/>
            <a:ext cx="8858250" cy="6477000"/>
            <a:chOff x="4457700" y="2095500"/>
            <a:chExt cx="8858250" cy="6477000"/>
          </a:xfrm>
        </p:grpSpPr>
        <p:sp>
          <p:nvSpPr>
            <p:cNvPr id="31" name="Rectangle 31"/>
            <p:cNvSpPr/>
            <p:nvPr/>
          </p:nvSpPr>
          <p:spPr>
            <a:xfrm>
              <a:off x="4457700" y="2095500"/>
              <a:ext cx="8858250" cy="6477000"/>
            </a:xfrm>
            <a:prstGeom prst="roundRect">
              <a:avLst>
                <a:gd name="adj" fmla="val 2059"/>
              </a:avLst>
            </a:prstGeom>
            <a:gradFill>
              <a:gsLst>
                <a:gs pos="0">
                  <a:srgbClr val="0B3D96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74692" y="2311400"/>
              <a:ext cx="2849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05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SIX-STEP ENGINEERING LOOP</a:t>
              </a:r>
              <a:endParaRPr lang="en-US" sz="1350" spc="105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70120" y="2578100"/>
              <a:ext cx="63836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六步闭环：从可理解的上下文，到可回退的交付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70920" y="23241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每次产物都有版本与证据</a:t>
              </a:r>
              <a:endParaRPr lang="zh-CN" sz="1200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81550" y="314325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03292" y="3302000"/>
              <a:ext cx="2780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8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CONNECT &amp; UNDERSTAND</a:t>
              </a:r>
              <a:endParaRPr lang="en-US" sz="1350" spc="82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00625" y="35814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接入与理解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03673" y="3952875"/>
              <a:ext cx="25459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代码/知识图谱 · 需求与系统现状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04054" y="418147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产出：任务上下文与基线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15400" y="314325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37142" y="3302000"/>
              <a:ext cx="1911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8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PLAN &amp; IMPACT</a:t>
              </a:r>
              <a:endParaRPr lang="en-US" sz="1350" spc="82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4475" y="358140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计划与影响分析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7523" y="3952875"/>
              <a:ext cx="22961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调用链 · 表/接口/报表影响面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37904" y="4181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产出：变更计划与风险清单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781550" y="468630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003292" y="4845050"/>
              <a:ext cx="1990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8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/ SHAPE &amp; DESIGN</a:t>
              </a:r>
              <a:endParaRPr lang="en-US" sz="1350" spc="82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00625" y="512445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原型与方案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3673" y="5495925"/>
              <a:ext cx="22013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可运行原型 · 接口/模型草案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04054" y="572452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产出：可评审的设计对象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15400" y="468630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37142" y="4845050"/>
              <a:ext cx="1196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8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CHANGE</a:t>
              </a:r>
              <a:endParaRPr lang="en-US" sz="1350" spc="82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34475" y="51244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变更生成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37523" y="5495925"/>
              <a:ext cx="23452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代码 · SQL · 配置 · 测试草案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37904" y="5724525"/>
              <a:ext cx="1883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产出：可 Diff 的候选变更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81550" y="622935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9FA"/>
            </a:solidFill>
            <a:ln w="14288">
              <a:solidFill>
                <a:srgbClr val="F1C9C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03292" y="6388100"/>
              <a:ext cx="1148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82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05 / VERIFY</a:t>
              </a:r>
              <a:endParaRPr lang="en-US" sz="1350" spc="82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00625" y="66675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测试与审查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03673" y="7038975"/>
              <a:ext cx="23973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自动测试 · AutoReview · 回归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004054" y="72675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门禁：证据不足不进入提测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915400" y="6229350"/>
              <a:ext cx="3886200" cy="135255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37142" y="6388100"/>
              <a:ext cx="13133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8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 / RELEASE</a:t>
              </a:r>
              <a:endParaRPr lang="en-US" sz="1350" spc="82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4475" y="666750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提测、发布与回退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37523" y="7038975"/>
              <a:ext cx="23047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统一运行 · 版本包 · 回退脚本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37904" y="726757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产出：可访问提测与交付证据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Freeform 65"/>
            <p:cNvSpPr/>
            <p:nvPr/>
          </p:nvSpPr>
          <p:spPr>
            <a:xfrm>
              <a:off x="8667750" y="3819525"/>
              <a:ext cx="209550" cy="3086100"/>
            </a:xfrm>
            <a:custGeom>
              <a:avLst/>
              <a:gdLst/>
              <a:ahLst/>
              <a:cxnLst/>
              <a:rect l="l" t="t" r="r" b="b"/>
              <a:pathLst>
                <a:path w="209550" h="3086100">
                  <a:moveTo>
                    <a:pt x="0" y="0"/>
                  </a:moveTo>
                  <a:lnTo>
                    <a:pt x="209550" y="0"/>
                  </a:lnTo>
                  <a:moveTo>
                    <a:pt x="0" y="1543050"/>
                  </a:moveTo>
                  <a:lnTo>
                    <a:pt x="209550" y="1543050"/>
                  </a:lnTo>
                  <a:moveTo>
                    <a:pt x="0" y="3086100"/>
                  </a:moveTo>
                  <a:lnTo>
                    <a:pt x="0" y="2343150"/>
                  </a:lnTo>
                  <a:lnTo>
                    <a:pt x="209550" y="23431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6" name="Freeform 66"/>
            <p:cNvSpPr/>
            <p:nvPr/>
          </p:nvSpPr>
          <p:spPr>
            <a:xfrm>
              <a:off x="8915400" y="3171825"/>
              <a:ext cx="3886200" cy="647700"/>
            </a:xfrm>
            <a:custGeom>
              <a:avLst/>
              <a:gdLst/>
              <a:ahLst/>
              <a:cxnLst/>
              <a:rect l="l" t="t" r="r" b="b"/>
              <a:pathLst>
                <a:path w="3886200" h="647700">
                  <a:moveTo>
                    <a:pt x="3886200" y="647700"/>
                  </a:moveTo>
                  <a:lnTo>
                    <a:pt x="3886200" y="114300"/>
                  </a:lnTo>
                  <a:lnTo>
                    <a:pt x="0" y="114300"/>
                  </a:lnTo>
                  <a:lnTo>
                    <a:pt x="0" y="0"/>
                  </a:lnTo>
                </a:path>
              </a:pathLst>
            </a:custGeom>
            <a:noFill/>
            <a:ln w="16192">
              <a:solidFill>
                <a:srgbClr val="FFFFFF">
                  <a:alpha val="65000"/>
                </a:srgbClr>
              </a:solidFill>
              <a:custDash>
                <a:ds d="411765" sp="352941"/>
              </a:custDash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774692" y="7912100"/>
              <a:ext cx="6355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控制点：上下文可追溯 · 变更可 Diff · 测试可复现 · 发布可回退 · 责任可签字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781550" y="8229600"/>
              <a:ext cx="8020050" cy="9525"/>
            </a:xfrm>
            <a:prstGeom prst="rect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775454" y="829627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平台不替人做业务决定，而是把人的判断放在正确的门禁位置。</a:t>
              </a:r>
              <a:endParaRPr lang="zh-CN" sz="1200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2" name="code-gates"/>
          <p:cNvGrpSpPr/>
          <p:nvPr/>
        </p:nvGrpSpPr>
        <p:grpSpPr>
          <a:xfrm>
            <a:off x="13582650" y="2095500"/>
            <a:ext cx="3676650" cy="6477000"/>
            <a:chOff x="13582650" y="2095500"/>
            <a:chExt cx="3676650" cy="6477000"/>
          </a:xfrm>
        </p:grpSpPr>
        <p:sp>
          <p:nvSpPr>
            <p:cNvPr id="71" name="Rectangle 71"/>
            <p:cNvSpPr/>
            <p:nvPr/>
          </p:nvSpPr>
          <p:spPr>
            <a:xfrm>
              <a:off x="13582650" y="2095500"/>
              <a:ext cx="3676650" cy="6477000"/>
            </a:xfrm>
            <a:prstGeom prst="roundRect">
              <a:avLst>
                <a:gd name="adj" fmla="val 3627"/>
              </a:avLst>
            </a:prstGeom>
            <a:solidFill>
              <a:srgbClr val="FFFFFF"/>
            </a:solidFill>
            <a:ln w="17145">
              <a:solidFill>
                <a:srgbClr val="D7B8F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3861542" y="2301875"/>
              <a:ext cx="1633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105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HUMAN CONTROL</a:t>
              </a:r>
              <a:endParaRPr lang="en-US" sz="1350" spc="105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858494" y="26257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生成越快，门禁越重要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3861542" y="2987675"/>
              <a:ext cx="2539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AI负责候选，人负责边界与签字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Line 75"/>
            <p:cNvSpPr/>
            <p:nvPr/>
          </p:nvSpPr>
          <p:spPr>
            <a:xfrm>
              <a:off x="13868400" y="33337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14288">
              <a:solidFill>
                <a:srgbClr val="F0E8F7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3868400" y="3562350"/>
              <a:ext cx="3105150" cy="876300"/>
            </a:xfrm>
            <a:prstGeom prst="roundRect">
              <a:avLst>
                <a:gd name="adj" fmla="val 9783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4070330" y="371792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立项 / 安全边界</a:t>
              </a:r>
              <a:endParaRPr lang="zh-CN" sz="150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4071473" y="403860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范围、权限、数据与外部连接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3868400" y="4629150"/>
              <a:ext cx="3105150" cy="876300"/>
            </a:xfrm>
            <a:prstGeom prst="roundRect">
              <a:avLst>
                <a:gd name="adj" fmla="val 9783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4070330" y="478472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业务 / 架构确认</a:t>
              </a:r>
              <a:endParaRPr lang="zh-CN" sz="15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4071473" y="51054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业务规则、兼容性与长期可维护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3868400" y="5695950"/>
              <a:ext cx="3105150" cy="876300"/>
            </a:xfrm>
            <a:prstGeom prst="roundRect">
              <a:avLst>
                <a:gd name="adj" fmla="val 9783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4070330" y="585152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发布 / 验收签字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4071473" y="6172200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上线、回退与责任确认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Line 85"/>
            <p:cNvSpPr/>
            <p:nvPr/>
          </p:nvSpPr>
          <p:spPr>
            <a:xfrm>
              <a:off x="13868400" y="681990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14288">
              <a:solidFill>
                <a:srgbClr val="F0E8F7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3861542" y="70072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每个门禁留下四类证据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3861542" y="7331075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依据 · 差异 · 测试 · 版本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3861923" y="7648575"/>
              <a:ext cx="193425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私有化部署 · 多模型适配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3861923" y="7915275"/>
              <a:ext cx="21065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统一权限审计 · 可观测运行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3868400" y="8248650"/>
              <a:ext cx="3105150" cy="9525"/>
            </a:xfrm>
            <a:prstGeom prst="rect">
              <a:avLst/>
            </a:prstGeom>
            <a:solidFill>
              <a:srgbClr val="EAF1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3862304" y="83248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接入现有系统，不把系统推到重来。</a:t>
              </a:r>
              <a:endParaRPr lang="zh-CN" sz="120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5" name="code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93" name="TextBox 93"/>
            <p:cNvSpPr txBox="1"/>
            <p:nvPr/>
          </p:nvSpPr>
          <p:spPr>
            <a:xfrm>
              <a:off x="1021080" y="9623425"/>
              <a:ext cx="58638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EsXCode（自研）AI研发应用平台 · Agent工程化实践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13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50">
        <p:push/>
      </p:transition>
    </mc:Choice>
    <mc:Fallback>
      <p:transition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8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6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</p:cBhvr>
                                      <p:by x="150000" y="150000"/>
                                      <p:to x="101000" y="10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6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-grid"/>
          <p:cNvSpPr/>
          <p:nvPr/>
        </p:nvSpPr>
        <p:spPr>
          <a:xfrm>
            <a:off x="1028700" y="1809750"/>
            <a:ext cx="16230600" cy="7334250"/>
          </a:xfrm>
          <a:custGeom>
            <a:avLst/>
            <a:gdLst/>
            <a:ahLst/>
            <a:cxnLst/>
            <a:rect l="l" t="t" r="r" b="b"/>
            <a:pathLst>
              <a:path w="16230600" h="7334250">
                <a:moveTo>
                  <a:pt x="0" y="133350"/>
                </a:moveTo>
                <a:lnTo>
                  <a:pt x="16230600" y="133350"/>
                </a:lnTo>
                <a:moveTo>
                  <a:pt x="0" y="4933950"/>
                </a:moveTo>
                <a:lnTo>
                  <a:pt x="16230600" y="4933950"/>
                </a:lnTo>
                <a:moveTo>
                  <a:pt x="0" y="7277100"/>
                </a:moveTo>
                <a:lnTo>
                  <a:pt x="16230600" y="7277100"/>
                </a:lnTo>
                <a:moveTo>
                  <a:pt x="3314700" y="0"/>
                </a:moveTo>
                <a:lnTo>
                  <a:pt x="3314700" y="7334250"/>
                </a:lnTo>
                <a:moveTo>
                  <a:pt x="6629400" y="0"/>
                </a:moveTo>
                <a:lnTo>
                  <a:pt x="6629400" y="7334250"/>
                </a:lnTo>
                <a:moveTo>
                  <a:pt x="9944100" y="0"/>
                </a:moveTo>
                <a:lnTo>
                  <a:pt x="9944100" y="7334250"/>
                </a:lnTo>
                <a:moveTo>
                  <a:pt x="13258800" y="0"/>
                </a:moveTo>
                <a:lnTo>
                  <a:pt x="13258800" y="733425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ev-accent"/>
          <p:cNvSpPr/>
          <p:nvPr/>
        </p:nvSpPr>
        <p:spPr>
          <a:xfrm>
            <a:off x="1028700" y="180975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ev-title"/>
          <p:cNvGrpSpPr/>
          <p:nvPr/>
        </p:nvGrpSpPr>
        <p:grpSpPr>
          <a:xfrm>
            <a:off x="1009650" y="419100"/>
            <a:ext cx="11659362" cy="1469644"/>
            <a:chOff x="1009650" y="419100"/>
            <a:chExt cx="11659362" cy="1469644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19100"/>
              <a:ext cx="4441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14 / EsXCode · EVIDENCE WALL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30250"/>
              <a:ext cx="1030201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可见的AI研发：一段任务，四个证据面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556" y="1536700"/>
              <a:ext cx="11649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需求上下文、可运行原型、审查控制、统一运行环境在同一工作区连续留痕；截图保留完整工作区并已脱敏。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ev-requirement"/>
          <p:cNvGrpSpPr/>
          <p:nvPr/>
        </p:nvGrpSpPr>
        <p:grpSpPr>
          <a:xfrm>
            <a:off x="1022604" y="1981200"/>
            <a:ext cx="8007096" cy="4686300"/>
            <a:chOff x="1022604" y="1981200"/>
            <a:chExt cx="8007096" cy="4686300"/>
          </a:xfrm>
        </p:grpSpPr>
        <p:sp>
          <p:nvSpPr>
            <p:cNvPr id="8" name="Rectangle 8"/>
            <p:cNvSpPr/>
            <p:nvPr/>
          </p:nvSpPr>
          <p:spPr>
            <a:xfrm>
              <a:off x="1028700" y="1981200"/>
              <a:ext cx="8001000" cy="4686300"/>
            </a:xfrm>
            <a:prstGeom prst="roundRect">
              <a:avLst>
                <a:gd name="adj" fmla="val 2642"/>
              </a:avLst>
            </a:prstGeom>
            <a:solidFill>
              <a:srgbClr val="FFFFFF"/>
            </a:solidFill>
            <a:ln w="16192">
              <a:solidFill>
                <a:srgbClr val="CFE0F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28700" y="1981200"/>
              <a:ext cx="8001000" cy="438150"/>
            </a:xfrm>
            <a:prstGeom prst="roundRect">
              <a:avLst>
                <a:gd name="adj" fmla="val 28261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9299" y="2085975"/>
              <a:ext cx="476037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需求上下文：文档、版本与AI助手的同一基线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81100" y="2571750"/>
              <a:ext cx="7696200" cy="3771900"/>
            </a:xfrm>
            <a:prstGeom prst="roundRect">
              <a:avLst>
                <a:gd name="adj" fmla="val 1768"/>
              </a:avLst>
            </a:prstGeom>
            <a:solidFill>
              <a:srgbClr val="F4F7FB"/>
            </a:solidFill>
            <a:ln w="9525">
              <a:solidFill>
                <a:srgbClr val="D8E3F3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72211" y="2571750"/>
              <a:ext cx="7113979" cy="37719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1022604" y="642937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同一需求文档里，需求修订、对话上下文与版本状态互相引用。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ev-prototype"/>
          <p:cNvGrpSpPr/>
          <p:nvPr/>
        </p:nvGrpSpPr>
        <p:grpSpPr>
          <a:xfrm>
            <a:off x="9252204" y="1981200"/>
            <a:ext cx="8007096" cy="4686300"/>
            <a:chOff x="9252204" y="1981200"/>
            <a:chExt cx="8007096" cy="4686300"/>
          </a:xfrm>
        </p:grpSpPr>
        <p:sp>
          <p:nvSpPr>
            <p:cNvPr id="15" name="Rectangle 15"/>
            <p:cNvSpPr/>
            <p:nvPr/>
          </p:nvSpPr>
          <p:spPr>
            <a:xfrm>
              <a:off x="9258300" y="1981200"/>
              <a:ext cx="8001000" cy="4686300"/>
            </a:xfrm>
            <a:prstGeom prst="roundRect">
              <a:avLst>
                <a:gd name="adj" fmla="val 2642"/>
              </a:avLst>
            </a:prstGeom>
            <a:solidFill>
              <a:srgbClr val="FFFFFF"/>
            </a:solidFill>
            <a:ln w="16192">
              <a:solidFill>
                <a:srgbClr val="CFE0F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258300" y="1981200"/>
              <a:ext cx="8001000" cy="438150"/>
            </a:xfrm>
            <a:prstGeom prst="roundRect">
              <a:avLst>
                <a:gd name="adj" fmla="val 28261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78899" y="2085975"/>
              <a:ext cx="41343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原型生成：从需求继续长成可运行页面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410700" y="2571750"/>
              <a:ext cx="7696200" cy="3771900"/>
            </a:xfrm>
            <a:prstGeom prst="roundRect">
              <a:avLst>
                <a:gd name="adj" fmla="val 1768"/>
              </a:avLst>
            </a:prstGeom>
            <a:solidFill>
              <a:srgbClr val="F4F7FB"/>
            </a:solidFill>
            <a:ln w="9525">
              <a:solidFill>
                <a:srgbClr val="D8E3F3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01811" y="2571750"/>
              <a:ext cx="7113979" cy="37719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9252204" y="642937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原型与代码变更在同一任务中继续迭代，不是结尾的一次性演示。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ev-review"/>
          <p:cNvGrpSpPr/>
          <p:nvPr/>
        </p:nvGrpSpPr>
        <p:grpSpPr>
          <a:xfrm>
            <a:off x="1028700" y="6800850"/>
            <a:ext cx="5810250" cy="2114550"/>
            <a:chOff x="1028700" y="6800850"/>
            <a:chExt cx="5810250" cy="2114550"/>
          </a:xfrm>
        </p:grpSpPr>
        <p:sp>
          <p:nvSpPr>
            <p:cNvPr id="22" name="Rectangle 22"/>
            <p:cNvSpPr/>
            <p:nvPr/>
          </p:nvSpPr>
          <p:spPr>
            <a:xfrm>
              <a:off x="1028700" y="6800850"/>
              <a:ext cx="581025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5240">
              <a:solidFill>
                <a:srgbClr val="CFE0F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49299" y="6924675"/>
              <a:ext cx="245727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/ AutoReview / Plan</a:t>
              </a:r>
              <a:endParaRPr lang="en-US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81100" y="7258050"/>
              <a:ext cx="5505450" cy="1257300"/>
            </a:xfrm>
            <a:prstGeom prst="roundRect">
              <a:avLst>
                <a:gd name="adj" fmla="val 4545"/>
              </a:avLst>
            </a:prstGeom>
            <a:solidFill>
              <a:srgbClr val="F4F7FB"/>
            </a:solidFill>
            <a:ln w="9525">
              <a:solidFill>
                <a:srgbClr val="D8E3F3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7619" y="7334250"/>
              <a:ext cx="4032413" cy="11049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1251204" y="859155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审查项、修复计划与门禁成为研发动作的一部分。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ev-runtime"/>
          <p:cNvGrpSpPr/>
          <p:nvPr/>
        </p:nvGrpSpPr>
        <p:grpSpPr>
          <a:xfrm>
            <a:off x="7124700" y="6800850"/>
            <a:ext cx="5810250" cy="2114550"/>
            <a:chOff x="7124700" y="6800850"/>
            <a:chExt cx="5810250" cy="2114550"/>
          </a:xfrm>
        </p:grpSpPr>
        <p:sp>
          <p:nvSpPr>
            <p:cNvPr id="28" name="Rectangle 28"/>
            <p:cNvSpPr/>
            <p:nvPr/>
          </p:nvSpPr>
          <p:spPr>
            <a:xfrm>
              <a:off x="7124700" y="6800850"/>
              <a:ext cx="581025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5240">
              <a:solidFill>
                <a:srgbClr val="CFE0F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45299" y="6924675"/>
              <a:ext cx="136930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/ 运行提测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77100" y="7258050"/>
              <a:ext cx="5505450" cy="1257300"/>
            </a:xfrm>
            <a:prstGeom prst="roundRect">
              <a:avLst>
                <a:gd name="adj" fmla="val 4545"/>
              </a:avLst>
            </a:prstGeom>
            <a:solidFill>
              <a:srgbClr val="F4F7FB"/>
            </a:solidFill>
            <a:ln w="9525">
              <a:solidFill>
                <a:srgbClr val="D8E3F3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9515" y="7334250"/>
              <a:ext cx="3160620" cy="11049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7347204" y="85915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前端、服务、缓存、数据库与存储进入同一运行栈。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ev-metric"/>
          <p:cNvGrpSpPr/>
          <p:nvPr/>
        </p:nvGrpSpPr>
        <p:grpSpPr>
          <a:xfrm>
            <a:off x="13220700" y="6800850"/>
            <a:ext cx="4038600" cy="2114550"/>
            <a:chOff x="13220700" y="6800850"/>
            <a:chExt cx="4038600" cy="2114550"/>
          </a:xfrm>
        </p:grpSpPr>
        <p:sp>
          <p:nvSpPr>
            <p:cNvPr id="34" name="Rectangle 34"/>
            <p:cNvSpPr/>
            <p:nvPr/>
          </p:nvSpPr>
          <p:spPr>
            <a:xfrm>
              <a:off x="13220700" y="6800850"/>
              <a:ext cx="4038600" cy="2114550"/>
            </a:xfrm>
            <a:prstGeom prst="roundRect">
              <a:avLst>
                <a:gd name="adj" fmla="val 5405"/>
              </a:avLst>
            </a:prstGeom>
            <a:gradFill>
              <a:gsLst>
                <a:gs pos="0">
                  <a:schemeClr val="accent1"/>
                </a:gs>
                <a:gs pos="100000">
                  <a:srgbClr val="32126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480923" y="6991350"/>
              <a:ext cx="26014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spc="75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亿信华辰公开数据 · 研发侧口径</a:t>
              </a:r>
              <a:endParaRPr lang="zh-CN" sz="1280" spc="75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468350" y="7156450"/>
              <a:ext cx="187000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&gt;70%</a:t>
              </a:r>
              <a:endParaRPr lang="zh-CN" sz="5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479018" y="7988300"/>
              <a:ext cx="17810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今年研发侧AI提效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481685" y="83756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仅代表研发侧效率，不泛化为客户收益、</a:t>
              </a:r>
              <a:endParaRPr lang="zh-CN" sz="1120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481685" y="8585200"/>
              <a:ext cx="1472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项目ROI或效果承诺。</a:t>
              </a:r>
              <a:endParaRPr lang="zh-CN" sz="1120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ev-note"/>
          <p:cNvGrpSpPr/>
          <p:nvPr/>
        </p:nvGrpSpPr>
        <p:grpSpPr>
          <a:xfrm>
            <a:off x="1021842" y="9207500"/>
            <a:ext cx="7818120" cy="264033"/>
            <a:chOff x="1021842" y="9207500"/>
            <a:chExt cx="7818120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1021842" y="9207500"/>
              <a:ext cx="78181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截图来自EsXCode工作区；客户、项目与人员信息已脱敏。具体能力与效果以实际项目验证为准。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ev-footer"/>
          <p:cNvGrpSpPr/>
          <p:nvPr/>
        </p:nvGrpSpPr>
        <p:grpSpPr>
          <a:xfrm>
            <a:off x="1021461" y="9642475"/>
            <a:ext cx="16245078" cy="278702"/>
            <a:chOff x="1021461" y="9642475"/>
            <a:chExt cx="16245078" cy="278702"/>
          </a:xfrm>
        </p:grpSpPr>
        <p:sp>
          <p:nvSpPr>
            <p:cNvPr id="43" name="TextBox 43"/>
            <p:cNvSpPr txBox="1"/>
            <p:nvPr/>
          </p:nvSpPr>
          <p:spPr>
            <a:xfrm>
              <a:off x="1021461" y="9642475"/>
              <a:ext cx="30962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EsXCode（自研）证据墙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611674" y="9642475"/>
              <a:ext cx="654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14 / 24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50">
        <p14:reveal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660"/>
                            </p:stCondLst>
                            <p:childTnLst>
                              <p:par>
                                <p:cTn id="19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40"/>
                            </p:stCondLst>
                            <p:childTnLst>
                              <p:par>
                                <p:cTn id="26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20"/>
                            </p:stCondLst>
                            <p:childTnLst>
                              <p:par>
                                <p:cTn id="33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870"/>
                            </p:stCondLst>
                            <p:childTnLst>
                              <p:par>
                                <p:cTn id="38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9" dur="55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97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g-grid"/>
          <p:cNvSpPr/>
          <p:nvPr/>
        </p:nvSpPr>
        <p:spPr>
          <a:xfrm>
            <a:off x="1028700" y="1905000"/>
            <a:ext cx="16230600" cy="7239000"/>
          </a:xfrm>
          <a:custGeom>
            <a:avLst/>
            <a:gdLst/>
            <a:ahLst/>
            <a:cxnLst/>
            <a:rect l="l" t="t" r="r" b="b"/>
            <a:pathLst>
              <a:path w="16230600" h="7239000">
                <a:moveTo>
                  <a:pt x="0" y="133350"/>
                </a:moveTo>
                <a:lnTo>
                  <a:pt x="16230600" y="133350"/>
                </a:lnTo>
                <a:moveTo>
                  <a:pt x="0" y="6400800"/>
                </a:moveTo>
                <a:lnTo>
                  <a:pt x="16230600" y="6400800"/>
                </a:lnTo>
                <a:moveTo>
                  <a:pt x="0" y="7239000"/>
                </a:moveTo>
                <a:lnTo>
                  <a:pt x="16230600" y="7239000"/>
                </a:lnTo>
                <a:moveTo>
                  <a:pt x="2971800" y="0"/>
                </a:moveTo>
                <a:lnTo>
                  <a:pt x="2971800" y="7048500"/>
                </a:lnTo>
                <a:moveTo>
                  <a:pt x="6400800" y="0"/>
                </a:moveTo>
                <a:lnTo>
                  <a:pt x="6400800" y="7048500"/>
                </a:lnTo>
                <a:moveTo>
                  <a:pt x="9829800" y="0"/>
                </a:moveTo>
                <a:lnTo>
                  <a:pt x="9829800" y="7048500"/>
                </a:lnTo>
                <a:moveTo>
                  <a:pt x="13258800" y="0"/>
                </a:moveTo>
                <a:lnTo>
                  <a:pt x="13258800" y="70485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org-halo"/>
          <p:cNvSpPr/>
          <p:nvPr/>
        </p:nvSpPr>
        <p:spPr>
          <a:xfrm>
            <a:off x="2190750" y="1428750"/>
            <a:ext cx="7810500" cy="7810500"/>
          </a:xfrm>
          <a:prstGeom prst="ellipse">
            <a:avLst/>
          </a:prstGeom>
          <a:gradFill>
            <a:gsLst>
              <a:gs pos="0">
                <a:srgbClr val="EAF2FF"/>
              </a:gs>
              <a:gs pos="100000">
                <a:schemeClr val="lt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org-accent"/>
          <p:cNvSpPr/>
          <p:nvPr/>
        </p:nvSpPr>
        <p:spPr>
          <a:xfrm>
            <a:off x="1028700" y="19050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8" name="org-title"/>
          <p:cNvGrpSpPr/>
          <p:nvPr/>
        </p:nvGrpSpPr>
        <p:grpSpPr>
          <a:xfrm>
            <a:off x="1009650" y="431800"/>
            <a:ext cx="15754121" cy="1478915"/>
            <a:chOff x="1009650" y="431800"/>
            <a:chExt cx="15754121" cy="1478915"/>
          </a:xfrm>
        </p:grpSpPr>
        <p:sp>
          <p:nvSpPr>
            <p:cNvPr id="5" name="TextBox 5"/>
            <p:cNvSpPr txBox="1"/>
            <p:nvPr/>
          </p:nvSpPr>
          <p:spPr>
            <a:xfrm>
              <a:off x="1019556" y="431800"/>
              <a:ext cx="40944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15 / AI研发组织 · 亿信华辰实践</a:t>
              </a:r>
              <a:endParaRPr lang="zh-CN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09650" y="730250"/>
              <a:ext cx="1575412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研发组织的分水岭：不是谁会用AI，而是谁先重写工作方式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9175" y="1543050"/>
              <a:ext cx="1145851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我们把自研产品研发中的五条日常动作，沉淀为可复用的组织经验：让“个人更快”变成“团队可复现”。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org-wheel"/>
          <p:cNvGrpSpPr/>
          <p:nvPr/>
        </p:nvGrpSpPr>
        <p:grpSpPr>
          <a:xfrm>
            <a:off x="1562100" y="2209800"/>
            <a:ext cx="9410700" cy="5924550"/>
            <a:chOff x="1562100" y="2209800"/>
            <a:chExt cx="9410700" cy="5924550"/>
          </a:xfrm>
        </p:grpSpPr>
        <p:sp>
          <p:nvSpPr>
            <p:cNvPr id="9" name="Ellipse 9"/>
            <p:cNvSpPr/>
            <p:nvPr/>
          </p:nvSpPr>
          <p:spPr>
            <a:xfrm>
              <a:off x="1866900" y="2571750"/>
              <a:ext cx="8648700" cy="5562600"/>
            </a:xfrm>
            <a:prstGeom prst="ellipse">
              <a:avLst/>
            </a:prstGeom>
            <a:noFill/>
            <a:ln w="19050">
              <a:solidFill>
                <a:srgbClr val="CFE0F5"/>
              </a:solidFill>
              <a:custDash>
                <a:ds d="450000" sp="45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5010150" y="4171950"/>
              <a:ext cx="2362200" cy="23622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49097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46522" y="48577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可验证结果</a:t>
              </a:r>
              <a:endParaRPr lang="zh-CN" sz="21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19369" y="52895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2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先做出来，再决定</a:t>
              </a:r>
              <a:endParaRPr lang="zh-CN" sz="142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37048" y="56197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团队复利，而非个人爽感</a:t>
              </a:r>
              <a:endParaRPr lang="zh-CN" sz="1280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62100" y="2571750"/>
              <a:ext cx="3009900" cy="1352550"/>
            </a:xfrm>
            <a:prstGeom prst="roundRect">
              <a:avLst>
                <a:gd name="adj" fmla="val 8451"/>
              </a:avLst>
            </a:prstGeom>
            <a:solidFill>
              <a:srgbClr val="FFFFFF"/>
            </a:solidFill>
            <a:ln w="17145">
              <a:solidFill>
                <a:srgbClr val="BBD4F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03273" y="2743200"/>
              <a:ext cx="9255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PLAN</a:t>
              </a:r>
              <a:endParaRPr lang="en-US" sz="128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0225" y="2990850"/>
              <a:ext cx="153756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规划恰好足够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3273" y="336232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从一次真实变更开始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3273" y="36004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不把长周期路线图写死。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857750" y="2209800"/>
              <a:ext cx="3009900" cy="1352550"/>
            </a:xfrm>
            <a:prstGeom prst="roundRect">
              <a:avLst>
                <a:gd name="adj" fmla="val 8451"/>
              </a:avLst>
            </a:prstGeom>
            <a:solidFill>
              <a:srgbClr val="FFFFFF"/>
            </a:solidFill>
            <a:ln w="17145">
              <a:solidFill>
                <a:srgbClr val="BBD4F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98923" y="2381250"/>
              <a:ext cx="99298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BUILD</a:t>
              </a:r>
              <a:endParaRPr lang="en-US" sz="128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95875" y="262890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先做可验证产物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98923" y="3000375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原型、最小变更、提测链接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98923" y="32385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用真实效果推进决策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962900" y="3143250"/>
              <a:ext cx="3009900" cy="1352550"/>
            </a:xfrm>
            <a:prstGeom prst="roundRect">
              <a:avLst>
                <a:gd name="adj" fmla="val 8451"/>
              </a:avLst>
            </a:prstGeom>
            <a:solidFill>
              <a:srgbClr val="FFFFFF"/>
            </a:solidFill>
            <a:ln w="17145">
              <a:solidFill>
                <a:srgbClr val="BBD4F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04073" y="3314700"/>
              <a:ext cx="145014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/ AUTOMATE</a:t>
              </a:r>
              <a:endParaRPr lang="en-US" sz="128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1025" y="35623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重复问题先自动化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04073" y="393382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重复问题出现第二次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04073" y="417195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就评估自动化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96050" y="6705600"/>
              <a:ext cx="3333750" cy="1333500"/>
            </a:xfrm>
            <a:prstGeom prst="roundRect">
              <a:avLst>
                <a:gd name="adj" fmla="val 8571"/>
              </a:avLst>
            </a:prstGeom>
            <a:solidFill>
              <a:srgbClr val="FFF9FA"/>
            </a:solidFill>
            <a:ln w="18098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37223" y="6877050"/>
              <a:ext cx="11059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04 / VERIFY</a:t>
              </a:r>
              <a:endParaRPr lang="en-US" sz="1280" spc="9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4175" y="7124700"/>
              <a:ext cx="217555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Trust but Verify</a:t>
              </a:r>
              <a:endParaRPr lang="en-US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37223" y="7496175"/>
              <a:ext cx="120159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AI做规则化检查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37223" y="773430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人审业务、安全、维护与体验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324100" y="6705600"/>
              <a:ext cx="3333750" cy="1333500"/>
            </a:xfrm>
            <a:prstGeom prst="roundRect">
              <a:avLst>
                <a:gd name="adj" fmla="val 8571"/>
              </a:avLst>
            </a:prstGeom>
            <a:solidFill>
              <a:srgbClr val="F9F6FD"/>
            </a:solidFill>
            <a:ln w="18098">
              <a:solidFill>
                <a:srgbClr val="D7B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65273" y="6877050"/>
              <a:ext cx="13318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9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05 / REDESIGN</a:t>
              </a:r>
              <a:endParaRPr lang="en-US" sz="1280" spc="9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62225" y="712470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主动删除旧流程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65273" y="749617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定期追问：这道审批、汇报、交接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65273" y="77343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还创造价值吗？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533900" y="3829050"/>
              <a:ext cx="857250" cy="914400"/>
            </a:xfrm>
            <a:custGeom>
              <a:avLst/>
              <a:gdLst/>
              <a:ahLst/>
              <a:cxnLst/>
              <a:rect l="l" t="t" r="r" b="b"/>
              <a:pathLst>
                <a:path w="857250" h="914400">
                  <a:moveTo>
                    <a:pt x="0" y="0"/>
                  </a:moveTo>
                  <a:cubicBezTo>
                    <a:pt x="323850" y="342900"/>
                    <a:pt x="609600" y="647700"/>
                    <a:pt x="857250" y="914400"/>
                  </a:cubicBezTo>
                </a:path>
              </a:pathLst>
            </a:custGeom>
            <a:noFill/>
            <a:ln w="17145">
              <a:solidFill>
                <a:schemeClr val="accent1"/>
              </a:solidFill>
              <a:custDash>
                <a:ds d="333333" sp="333333"/>
              </a:custDash>
              <a:tailEnd type="triangle" w="lg" len="lg"/>
            </a:ln>
          </p:spPr>
        </p:sp>
        <p:sp>
          <p:nvSpPr>
            <p:cNvPr id="40" name="Freeform 40"/>
            <p:cNvSpPr/>
            <p:nvPr/>
          </p:nvSpPr>
          <p:spPr>
            <a:xfrm>
              <a:off x="6191250" y="36004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17145">
              <a:solidFill>
                <a:schemeClr val="accent1"/>
              </a:solidFill>
              <a:custDash>
                <a:ds d="333333" sp="333333"/>
              </a:custDash>
              <a:tailEnd type="triangle" w="lg" len="lg"/>
            </a:ln>
          </p:spPr>
        </p:sp>
        <p:sp>
          <p:nvSpPr>
            <p:cNvPr id="41" name="Freeform 41"/>
            <p:cNvSpPr/>
            <p:nvPr/>
          </p:nvSpPr>
          <p:spPr>
            <a:xfrm>
              <a:off x="7181850" y="4552950"/>
              <a:ext cx="1390650" cy="476250"/>
            </a:xfrm>
            <a:custGeom>
              <a:avLst/>
              <a:gdLst/>
              <a:ahLst/>
              <a:cxnLst/>
              <a:rect l="l" t="t" r="r" b="b"/>
              <a:pathLst>
                <a:path w="1390650" h="476250">
                  <a:moveTo>
                    <a:pt x="1390650" y="0"/>
                  </a:moveTo>
                  <a:cubicBezTo>
                    <a:pt x="914400" y="228600"/>
                    <a:pt x="438150" y="400050"/>
                    <a:pt x="0" y="476250"/>
                  </a:cubicBezTo>
                </a:path>
              </a:pathLst>
            </a:custGeom>
            <a:noFill/>
            <a:ln w="17145">
              <a:solidFill>
                <a:schemeClr val="accent1"/>
              </a:solidFill>
              <a:custDash>
                <a:ds d="333333" sp="333333"/>
              </a:custDash>
              <a:tailEnd type="triangle" w="lg" len="lg"/>
            </a:ln>
          </p:spPr>
        </p:sp>
        <p:sp>
          <p:nvSpPr>
            <p:cNvPr id="42" name="Freeform 42"/>
            <p:cNvSpPr/>
            <p:nvPr/>
          </p:nvSpPr>
          <p:spPr>
            <a:xfrm>
              <a:off x="6667500" y="6172200"/>
              <a:ext cx="571500" cy="495300"/>
            </a:xfrm>
            <a:custGeom>
              <a:avLst/>
              <a:gdLst/>
              <a:ahLst/>
              <a:cxnLst/>
              <a:rect l="l" t="t" r="r" b="b"/>
              <a:pathLst>
                <a:path w="571500" h="495300">
                  <a:moveTo>
                    <a:pt x="571500" y="495300"/>
                  </a:moveTo>
                  <a:cubicBezTo>
                    <a:pt x="333375" y="257175"/>
                    <a:pt x="114300" y="114300"/>
                    <a:pt x="0" y="0"/>
                  </a:cubicBezTo>
                </a:path>
              </a:pathLst>
            </a:custGeom>
            <a:noFill/>
            <a:ln w="17145">
              <a:solidFill>
                <a:srgbClr val="49097F"/>
              </a:solidFill>
              <a:custDash>
                <a:ds d="333333" sp="333333"/>
              </a:custDash>
              <a:tailEnd type="triangle" w="lg" len="lg"/>
            </a:ln>
          </p:spPr>
        </p:sp>
        <p:sp>
          <p:nvSpPr>
            <p:cNvPr id="43" name="Freeform 43"/>
            <p:cNvSpPr/>
            <p:nvPr/>
          </p:nvSpPr>
          <p:spPr>
            <a:xfrm>
              <a:off x="4476750" y="5981700"/>
              <a:ext cx="1047750" cy="685800"/>
            </a:xfrm>
            <a:custGeom>
              <a:avLst/>
              <a:gdLst/>
              <a:ahLst/>
              <a:cxnLst/>
              <a:rect l="l" t="t" r="r" b="b"/>
              <a:pathLst>
                <a:path w="1047750" h="685800">
                  <a:moveTo>
                    <a:pt x="0" y="685800"/>
                  </a:moveTo>
                  <a:cubicBezTo>
                    <a:pt x="428625" y="457200"/>
                    <a:pt x="781050" y="209550"/>
                    <a:pt x="1047750" y="0"/>
                  </a:cubicBezTo>
                </a:path>
              </a:pathLst>
            </a:custGeom>
            <a:noFill/>
            <a:ln w="17145">
              <a:solidFill>
                <a:schemeClr val="accent1"/>
              </a:solidFill>
              <a:custDash>
                <a:ds d="333333" sp="333333"/>
              </a:custDash>
              <a:tailEnd type="triangle" w="lg" len="lg"/>
            </a:ln>
          </p:spPr>
        </p:sp>
      </p:grpSp>
      <p:grpSp>
        <p:nvGrpSpPr>
          <p:cNvPr id="71" name="org-shift"/>
          <p:cNvGrpSpPr/>
          <p:nvPr/>
        </p:nvGrpSpPr>
        <p:grpSpPr>
          <a:xfrm>
            <a:off x="11849100" y="2343150"/>
            <a:ext cx="5410200" cy="6292596"/>
            <a:chOff x="11849100" y="2343150"/>
            <a:chExt cx="5410200" cy="6292596"/>
          </a:xfrm>
        </p:grpSpPr>
        <p:sp>
          <p:nvSpPr>
            <p:cNvPr id="45" name="Rectangle 45"/>
            <p:cNvSpPr/>
            <p:nvPr/>
          </p:nvSpPr>
          <p:spPr>
            <a:xfrm>
              <a:off x="11849100" y="2343150"/>
              <a:ext cx="5410200" cy="6267450"/>
            </a:xfrm>
            <a:prstGeom prst="roundRect">
              <a:avLst>
                <a:gd name="adj" fmla="val 2641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46" name="TextBox 46"/>
            <p:cNvSpPr/>
            <p:nvPr/>
          </p:nvSpPr>
          <p:spPr>
            <a:xfrm>
              <a:off x="12145137" y="2527268"/>
              <a:ext cx="30276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当生成变便宜，真正被重估的是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147423" y="2886075"/>
              <a:ext cx="29247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四类能力决定AI产出能否变成组织交付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12153900" y="32289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2153900" y="3409950"/>
              <a:ext cx="4800600" cy="723900"/>
            </a:xfrm>
            <a:prstGeom prst="roundRect">
              <a:avLst>
                <a:gd name="adj" fmla="val 11842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2374118" y="35306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判断力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385673" y="35814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做什么、何时继续、何时停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376404" y="3819525"/>
              <a:ext cx="2952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从“执行任务”转向“定义问题与验收条件”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2153900" y="4267200"/>
              <a:ext cx="4800600" cy="723900"/>
            </a:xfrm>
            <a:prstGeom prst="roundRect">
              <a:avLst>
                <a:gd name="adj" fmla="val 11842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374118" y="43878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385673" y="443865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业务规则、历史决策、系统演进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2376404" y="467677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不是谁的私人经验，而是可调用的组织资产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2153900" y="5124450"/>
              <a:ext cx="4800600" cy="723900"/>
            </a:xfrm>
            <a:prstGeom prst="roundRect">
              <a:avLst>
                <a:gd name="adj" fmla="val 11842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2374118" y="524510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验证</a:t>
              </a:r>
              <a:endParaRPr lang="zh-CN" sz="165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385673" y="529590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影响、测试、安全、回退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2376404" y="553402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生成越快，证据越要在流程里自动产生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2153900" y="5981700"/>
              <a:ext cx="4800600" cy="723900"/>
            </a:xfrm>
            <a:prstGeom prst="roundRect">
              <a:avLst>
                <a:gd name="adj" fmla="val 11842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374118" y="61023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系统设计</a:t>
              </a:r>
              <a:endParaRPr lang="zh-CN" sz="165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3385673" y="615315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边界、接口、演进与可维护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376404" y="6391275"/>
              <a:ext cx="2903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AI能写代码，但不能替团队承担架构后果</a:t>
              </a:r>
              <a:endParaRPr lang="zh-CN" sz="120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Line 65"/>
            <p:cNvSpPr/>
            <p:nvPr/>
          </p:nvSpPr>
          <p:spPr>
            <a:xfrm>
              <a:off x="12153900" y="69532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2147042" y="7131050"/>
              <a:ext cx="276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角色与岗位不再按“谁写得多”分工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147042" y="7426325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产品/业务更早做原型，研发更早参与场景判断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2147042" y="77120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质量角色前移为规则、评测与门禁设计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147804" y="817245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边界会随模型能力移动，所以每季度重估一次：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2147804" y="8401050"/>
              <a:ext cx="2580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哪些必须人判断，哪些可以交给AI。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3" name="org-takeaway"/>
          <p:cNvGrpSpPr/>
          <p:nvPr/>
        </p:nvGrpSpPr>
        <p:grpSpPr>
          <a:xfrm>
            <a:off x="1017651" y="8934450"/>
            <a:ext cx="8893371" cy="426339"/>
            <a:chOff x="1017651" y="8934450"/>
            <a:chExt cx="8893371" cy="426339"/>
          </a:xfrm>
        </p:grpSpPr>
        <p:sp>
          <p:nvSpPr>
            <p:cNvPr id="72" name="TextBox 72"/>
            <p:cNvSpPr txBox="1"/>
            <p:nvPr/>
          </p:nvSpPr>
          <p:spPr>
            <a:xfrm>
              <a:off x="1017651" y="8934450"/>
              <a:ext cx="88933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组织转型不是“人人都买了AI”，而是“组织开始用AI重写成本结构”。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6" name="org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74" name="TextBox 74"/>
            <p:cNvSpPr txBox="1"/>
            <p:nvPr/>
          </p:nvSpPr>
          <p:spPr>
            <a:xfrm>
              <a:off x="1021080" y="9623425"/>
              <a:ext cx="2461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AI研发组织实践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15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6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ff-grid"/>
          <p:cNvSpPr/>
          <p:nvPr/>
        </p:nvSpPr>
        <p:spPr>
          <a:xfrm>
            <a:off x="1028700" y="1905000"/>
            <a:ext cx="16230600" cy="7162800"/>
          </a:xfrm>
          <a:custGeom>
            <a:avLst/>
            <a:gdLst/>
            <a:ahLst/>
            <a:cxnLst/>
            <a:rect l="l" t="t" r="r" b="b"/>
            <a:pathLst>
              <a:path w="16230600" h="7162800">
                <a:moveTo>
                  <a:pt x="0" y="133350"/>
                </a:moveTo>
                <a:lnTo>
                  <a:pt x="16230600" y="133350"/>
                </a:lnTo>
                <a:moveTo>
                  <a:pt x="0" y="6381750"/>
                </a:moveTo>
                <a:lnTo>
                  <a:pt x="16230600" y="6381750"/>
                </a:lnTo>
                <a:moveTo>
                  <a:pt x="0" y="7162800"/>
                </a:moveTo>
                <a:lnTo>
                  <a:pt x="16230600" y="7162800"/>
                </a:lnTo>
                <a:moveTo>
                  <a:pt x="2971800" y="0"/>
                </a:moveTo>
                <a:lnTo>
                  <a:pt x="2971800" y="7048500"/>
                </a:lnTo>
                <a:moveTo>
                  <a:pt x="6400800" y="0"/>
                </a:moveTo>
                <a:lnTo>
                  <a:pt x="6400800" y="7048500"/>
                </a:lnTo>
                <a:moveTo>
                  <a:pt x="9829800" y="0"/>
                </a:moveTo>
                <a:lnTo>
                  <a:pt x="9829800" y="7048500"/>
                </a:lnTo>
                <a:moveTo>
                  <a:pt x="13258800" y="0"/>
                </a:moveTo>
                <a:lnTo>
                  <a:pt x="13258800" y="70485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off-accent"/>
          <p:cNvSpPr/>
          <p:nvPr/>
        </p:nvSpPr>
        <p:spPr>
          <a:xfrm>
            <a:off x="1028700" y="19050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off-title"/>
          <p:cNvGrpSpPr/>
          <p:nvPr/>
        </p:nvGrpSpPr>
        <p:grpSpPr>
          <a:xfrm>
            <a:off x="1009650" y="419100"/>
            <a:ext cx="12759690" cy="1491615"/>
            <a:chOff x="1009650" y="419100"/>
            <a:chExt cx="12759690" cy="1491615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19100"/>
              <a:ext cx="36155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16 / AI OFFICE · BEFORE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30250"/>
              <a:ext cx="1275969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过去做办公：信息在生产，工作却在人之间搬运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175" y="1543050"/>
              <a:ext cx="1103543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制度、合同、Excel、报告、会议与审批分散在不同入口；真正耗时的是查、抄、核、改、等确认。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off-workfield"/>
          <p:cNvGrpSpPr/>
          <p:nvPr/>
        </p:nvGrpSpPr>
        <p:grpSpPr>
          <a:xfrm>
            <a:off x="952500" y="2133600"/>
            <a:ext cx="10363200" cy="5905500"/>
            <a:chOff x="952500" y="2133600"/>
            <a:chExt cx="10363200" cy="5905500"/>
          </a:xfrm>
        </p:grpSpPr>
        <p:sp>
          <p:nvSpPr>
            <p:cNvPr id="8" name="Rectangle 8"/>
            <p:cNvSpPr/>
            <p:nvPr/>
          </p:nvSpPr>
          <p:spPr>
            <a:xfrm>
              <a:off x="1028700" y="2133600"/>
              <a:ext cx="10287000" cy="5905500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6068" y="2301875"/>
              <a:ext cx="3160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一张典型的金融办公“断点地图”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8769" y="235267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同一件事，被切成许多次手工接力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47950" y="3105150"/>
              <a:ext cx="2724150" cy="895350"/>
            </a:xfrm>
            <a:prstGeom prst="roundRect">
              <a:avLst>
                <a:gd name="adj" fmla="val 10638"/>
              </a:avLst>
            </a:prstGeom>
            <a:solidFill>
              <a:srgbClr val="FFF7F8"/>
            </a:solidFill>
            <a:ln w="9525">
              <a:solidFill>
                <a:srgbClr val="F1C9C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87599" y="3238500"/>
              <a:ext cx="1123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制度 / 合同</a:t>
              </a:r>
              <a:endParaRPr lang="zh-CN" sz="158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89123" y="357187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原文在，但口径与影响需人工解释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57900" y="2857500"/>
              <a:ext cx="2724150" cy="895350"/>
            </a:xfrm>
            <a:prstGeom prst="roundRect">
              <a:avLst>
                <a:gd name="adj" fmla="val 10638"/>
              </a:avLst>
            </a:prstGeom>
            <a:solidFill>
              <a:srgbClr val="EAF2FF"/>
            </a:solidFill>
            <a:ln w="9525">
              <a:solidFill>
                <a:srgbClr val="BBD4F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97549" y="2990850"/>
              <a:ext cx="12658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Excel / 报表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99073" y="3324225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数据与口径分散，核对靠邮件与经验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647950" y="4648200"/>
              <a:ext cx="2724150" cy="895350"/>
            </a:xfrm>
            <a:prstGeom prst="roundRect">
              <a:avLst>
                <a:gd name="adj" fmla="val 10638"/>
              </a:avLst>
            </a:prstGeom>
            <a:solidFill>
              <a:srgbClr val="F4EDFC"/>
            </a:solidFill>
            <a:ln w="9525">
              <a:solidFill>
                <a:srgbClr val="D7B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87599" y="4781550"/>
              <a:ext cx="121490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58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Word / PPT</a:t>
              </a:r>
              <a:endParaRPr lang="en-US" sz="158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89123" y="5114925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材料反复从零起草、复制与排版</a:t>
              </a:r>
              <a:endParaRPr lang="zh-CN" sz="128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57900" y="4648200"/>
              <a:ext cx="2724150" cy="895350"/>
            </a:xfrm>
            <a:prstGeom prst="roundRect">
              <a:avLst>
                <a:gd name="adj" fmla="val 10638"/>
              </a:avLst>
            </a:prstGeom>
            <a:solidFill>
              <a:srgbClr val="EDF7FA"/>
            </a:solidFill>
            <a:ln w="9525">
              <a:solidFill>
                <a:srgbClr val="CFE6E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97549" y="4781550"/>
              <a:ext cx="1123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会议 / 邮件</a:t>
              </a:r>
              <a:endParaRPr lang="zh-CN" sz="158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9073" y="5114925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结论在对话里，待办靠人追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3733800"/>
              <a:ext cx="1619250" cy="1009650"/>
            </a:xfrm>
            <a:prstGeom prst="roundRect">
              <a:avLst>
                <a:gd name="adj" fmla="val 9434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5761" y="3879850"/>
              <a:ext cx="9163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OA / 审批</a:t>
              </a:r>
              <a:endPara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904" y="41910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卡在谁那里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6904" y="44196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不透明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467850" y="3733800"/>
              <a:ext cx="1657350" cy="1009650"/>
            </a:xfrm>
            <a:prstGeom prst="roundRect">
              <a:avLst>
                <a:gd name="adj" fmla="val 9434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1111" y="3879850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共享盘</a:t>
              </a:r>
              <a:endPara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52254" y="41910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文件很多，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52254" y="44196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版本很难找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609850" y="3771900"/>
              <a:ext cx="6838950" cy="1238250"/>
            </a:xfrm>
            <a:custGeom>
              <a:avLst/>
              <a:gdLst/>
              <a:ahLst/>
              <a:cxnLst/>
              <a:rect l="l" t="t" r="r" b="b"/>
              <a:pathLst>
                <a:path w="6838950" h="1238250">
                  <a:moveTo>
                    <a:pt x="2628900" y="323850"/>
                  </a:moveTo>
                  <a:lnTo>
                    <a:pt x="2800350" y="19050"/>
                  </a:lnTo>
                  <a:moveTo>
                    <a:pt x="2343150" y="533400"/>
                  </a:moveTo>
                  <a:lnTo>
                    <a:pt x="0" y="533400"/>
                  </a:lnTo>
                  <a:moveTo>
                    <a:pt x="2628900" y="742950"/>
                  </a:moveTo>
                  <a:lnTo>
                    <a:pt x="2800350" y="1238250"/>
                  </a:lnTo>
                  <a:moveTo>
                    <a:pt x="3581400" y="323850"/>
                  </a:moveTo>
                  <a:lnTo>
                    <a:pt x="3867150" y="0"/>
                  </a:lnTo>
                  <a:moveTo>
                    <a:pt x="3867150" y="533400"/>
                  </a:moveTo>
                  <a:lnTo>
                    <a:pt x="6838950" y="533400"/>
                  </a:lnTo>
                  <a:moveTo>
                    <a:pt x="3581400" y="742950"/>
                  </a:moveTo>
                  <a:lnTo>
                    <a:pt x="3867150" y="1143000"/>
                  </a:lnTo>
                </a:path>
              </a:pathLst>
            </a:custGeom>
            <a:noFill/>
            <a:ln w="16192">
              <a:solidFill>
                <a:schemeClr val="accent2"/>
              </a:solidFill>
              <a:custDash>
                <a:ds d="352941" sp="352941"/>
              </a:custDash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0" y="4000500"/>
              <a:ext cx="1524000" cy="609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087F9C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21224" y="40417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业务人员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1181" y="4340225"/>
              <a:ext cx="1367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查 · 抄 · 核 · 改 · 等</a:t>
              </a:r>
              <a:endParaRPr lang="zh-CN" sz="10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60723" y="5734050"/>
              <a:ext cx="29689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人成了上下文与流程之间的“手工总线”</a:t>
              </a:r>
              <a:endParaRPr lang="zh-CN" sz="128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60723" y="6019800"/>
              <a:ext cx="3459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工具越多，切换越多；信息越散，确认越慢。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390650" y="6667500"/>
              <a:ext cx="9544050" cy="971550"/>
            </a:xfrm>
            <a:prstGeom prst="roundRect">
              <a:avLst>
                <a:gd name="adj" fmla="val 9804"/>
              </a:avLst>
            </a:prstGeom>
            <a:solidFill>
              <a:schemeClr val="lt1"/>
            </a:solidFill>
            <a:ln w="9525">
              <a:solidFill>
                <a:srgbClr val="CFE0F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69923" y="68389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租赁机构的日常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12973" y="6838950"/>
              <a:ext cx="42260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合同与投放材料 · 租后风险分析 · 资产分类 · 监管报送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69923" y="71723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证券机构的日常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12973" y="7172325"/>
              <a:ext cx="35367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研究与底稿 · 合规审查 · 客户服务 · 运营报表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off-breaks"/>
          <p:cNvGrpSpPr/>
          <p:nvPr/>
        </p:nvGrpSpPr>
        <p:grpSpPr>
          <a:xfrm>
            <a:off x="11582400" y="2133600"/>
            <a:ext cx="5676900" cy="5905500"/>
            <a:chOff x="11582400" y="2133600"/>
            <a:chExt cx="5676900" cy="5905500"/>
          </a:xfrm>
        </p:grpSpPr>
        <p:sp>
          <p:nvSpPr>
            <p:cNvPr id="43" name="Rectangle 43"/>
            <p:cNvSpPr/>
            <p:nvPr/>
          </p:nvSpPr>
          <p:spPr>
            <a:xfrm>
              <a:off x="11582400" y="2133600"/>
              <a:ext cx="5676900" cy="5905500"/>
            </a:xfrm>
            <a:prstGeom prst="roundRect">
              <a:avLst>
                <a:gd name="adj" fmla="val 2685"/>
              </a:avLst>
            </a:prstGeom>
            <a:solidFill>
              <a:srgbClr val="FFF9FA"/>
            </a:solidFill>
            <a:ln w="16192">
              <a:solidFill>
                <a:srgbClr val="F1C9C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878818" y="2311400"/>
              <a:ext cx="33830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断点不在“不会写”，而在这四件事</a:t>
              </a:r>
              <a:endParaRPr lang="zh-CN" sz="165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880723" y="2667000"/>
              <a:ext cx="29247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AI如果只做问答，仍然接不上完整工作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11887200" y="30099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14288">
              <a:solidFill>
                <a:srgbClr val="F3E3E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1887200" y="3219450"/>
              <a:ext cx="5067300" cy="9715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107799" y="3362325"/>
              <a:ext cx="115660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/ 口径散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109323" y="3705225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制度、产品、合同、指标解释不在同一处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109704" y="3924300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答案有“样子”，却没有依据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1887200" y="4343400"/>
              <a:ext cx="5067300" cy="9715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107799" y="4486275"/>
              <a:ext cx="136930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/ 数据难核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109323" y="482917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口径、来源、期间、版本靠人确认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109704" y="50482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数字一多，核对成本指数上升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887200" y="5467350"/>
              <a:ext cx="5067300" cy="9715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2107799" y="5610225"/>
              <a:ext cx="158200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材料重复写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109323" y="595312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同一事实被写进报告、汇报与审批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109704" y="61722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跨任务上下文无法继承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1887200" y="6591300"/>
              <a:ext cx="5067300" cy="9715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2107799" y="6734175"/>
              <a:ext cx="158200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/ 流程难交接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109323" y="7077075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任务状态、确认意见与产物散落</a:t>
              </a:r>
              <a:endParaRPr lang="zh-CN" sz="128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109704" y="72961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换个人接手，等于重新问一遍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off-takeaway"/>
          <p:cNvGrpSpPr/>
          <p:nvPr/>
        </p:nvGrpSpPr>
        <p:grpSpPr>
          <a:xfrm>
            <a:off x="1028700" y="8420100"/>
            <a:ext cx="16230600" cy="533400"/>
            <a:chOff x="1028700" y="8420100"/>
            <a:chExt cx="16230600" cy="533400"/>
          </a:xfrm>
        </p:grpSpPr>
        <p:sp>
          <p:nvSpPr>
            <p:cNvPr id="64" name="Rectangle 64"/>
            <p:cNvSpPr/>
            <p:nvPr/>
          </p:nvSpPr>
          <p:spPr>
            <a:xfrm>
              <a:off x="1028700" y="8420100"/>
              <a:ext cx="16230600" cy="533400"/>
            </a:xfrm>
            <a:prstGeom prst="roundRect">
              <a:avLst>
                <a:gd name="adj" fmla="val 21429"/>
              </a:avLst>
            </a:prstGeom>
            <a:solidFill>
              <a:srgbClr val="EAF2FF"/>
            </a:solidFill>
            <a:ln w="13335">
              <a:solidFill>
                <a:srgbClr val="CFE0F5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323594" y="8531225"/>
              <a:ext cx="107677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办公AI的起点，不是再开一个聊天入口，而是把知识、任务、系统与责任接回同一条工作链。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off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67" name="TextBox 67"/>
            <p:cNvSpPr txBox="1"/>
            <p:nvPr/>
          </p:nvSpPr>
          <p:spPr>
            <a:xfrm>
              <a:off x="1021080" y="9623425"/>
              <a:ext cx="3703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AI办公实践 · 过去的工作方式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16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50">
        <p:wipe/>
      </p:transition>
    </mc:Choice>
    <mc:Fallback>
      <p:transition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4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63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-grid"/>
          <p:cNvSpPr/>
          <p:nvPr/>
        </p:nvSpPr>
        <p:spPr>
          <a:xfrm>
            <a:off x="1028700" y="1828800"/>
            <a:ext cx="16230600" cy="7315200"/>
          </a:xfrm>
          <a:custGeom>
            <a:avLst/>
            <a:gdLst/>
            <a:ahLst/>
            <a:cxnLst/>
            <a:rect l="l" t="t" r="r" b="b"/>
            <a:pathLst>
              <a:path w="16230600" h="7315200">
                <a:moveTo>
                  <a:pt x="0" y="133350"/>
                </a:moveTo>
                <a:lnTo>
                  <a:pt x="16230600" y="133350"/>
                </a:lnTo>
                <a:moveTo>
                  <a:pt x="0" y="800100"/>
                </a:moveTo>
                <a:lnTo>
                  <a:pt x="16230600" y="800100"/>
                </a:lnTo>
                <a:moveTo>
                  <a:pt x="0" y="5276850"/>
                </a:moveTo>
                <a:lnTo>
                  <a:pt x="16230600" y="5276850"/>
                </a:lnTo>
                <a:moveTo>
                  <a:pt x="0" y="7277100"/>
                </a:moveTo>
                <a:lnTo>
                  <a:pt x="16230600" y="7277100"/>
                </a:lnTo>
                <a:moveTo>
                  <a:pt x="2971800" y="0"/>
                </a:moveTo>
                <a:lnTo>
                  <a:pt x="2971800" y="7315200"/>
                </a:lnTo>
                <a:moveTo>
                  <a:pt x="6400800" y="0"/>
                </a:moveTo>
                <a:lnTo>
                  <a:pt x="6400800" y="7315200"/>
                </a:lnTo>
                <a:moveTo>
                  <a:pt x="9829800" y="0"/>
                </a:moveTo>
                <a:lnTo>
                  <a:pt x="9829800" y="7315200"/>
                </a:lnTo>
                <a:moveTo>
                  <a:pt x="13258800" y="0"/>
                </a:moveTo>
                <a:lnTo>
                  <a:pt x="13258800" y="73152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work-accent"/>
          <p:cNvSpPr/>
          <p:nvPr/>
        </p:nvSpPr>
        <p:spPr>
          <a:xfrm>
            <a:off x="1028700" y="18288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work-title"/>
          <p:cNvGrpSpPr/>
          <p:nvPr/>
        </p:nvGrpSpPr>
        <p:grpSpPr>
          <a:xfrm>
            <a:off x="1009650" y="393700"/>
            <a:ext cx="13546455" cy="1478915"/>
            <a:chOff x="1009650" y="393700"/>
            <a:chExt cx="13546455" cy="1478915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393700"/>
              <a:ext cx="44297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17 / EsXWork · 自研 AI 办公平台</a:t>
              </a:r>
              <a:endParaRPr lang="zh-CN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/>
            <p:nvPr/>
          </p:nvSpPr>
          <p:spPr>
            <a:xfrm>
              <a:off x="1009650" y="692182"/>
              <a:ext cx="13546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EsXWork：面向机构的AI办公平台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175" y="1504950"/>
              <a:ext cx="1069926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接住知识、文档、数据、会议、任务与系统，把办公从“生成一段内容”推进到“完成一项工作”。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work-intake"/>
          <p:cNvGrpSpPr/>
          <p:nvPr/>
        </p:nvGrpSpPr>
        <p:grpSpPr>
          <a:xfrm>
            <a:off x="1028700" y="2009775"/>
            <a:ext cx="16230600" cy="533400"/>
            <a:chOff x="1028700" y="2009775"/>
            <a:chExt cx="16230600" cy="533400"/>
          </a:xfrm>
        </p:grpSpPr>
        <p:sp>
          <p:nvSpPr>
            <p:cNvPr id="8" name="Rectangle 8"/>
            <p:cNvSpPr/>
            <p:nvPr/>
          </p:nvSpPr>
          <p:spPr>
            <a:xfrm>
              <a:off x="1028700" y="2009775"/>
              <a:ext cx="162306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EAF2FF"/>
                </a:gs>
                <a:gs pos="52000">
                  <a:srgbClr val="F4EDFC"/>
                </a:gs>
                <a:gs pos="100000">
                  <a:srgbClr val="EDF7FA"/>
                </a:gs>
              </a:gsLst>
              <a:lin ang="0" scaled="1"/>
            </a:gradFill>
            <a:ln w="13335">
              <a:solidFill>
                <a:srgbClr val="CFE0F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6830" y="21748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工作从哪里来：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88411" y="2174875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一句话任务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31461" y="2174875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 / 邮件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9761" y="2174875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7511" y="2174875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79561" y="2174875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08261" y="2174875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业务系统事件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11849100" y="2276475"/>
              <a:ext cx="457200" cy="1"/>
            </a:xfrm>
            <a:prstGeom prst="line">
              <a:avLst/>
            </a:prstGeom>
            <a:noFill/>
            <a:ln w="19050">
              <a:solidFill>
                <a:srgbClr val="49097F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470130" y="2174875"/>
              <a:ext cx="1767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EsXWork 工作空间</a:t>
              </a:r>
              <a:endParaRPr lang="zh-CN" sz="150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14458950" y="2276475"/>
              <a:ext cx="419100" cy="1"/>
            </a:xfrm>
            <a:prstGeom prst="line">
              <a:avLst/>
            </a:prstGeom>
            <a:noFill/>
            <a:ln w="19050">
              <a:solidFill>
                <a:srgbClr val="49097F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041880" y="2174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可交付结果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work-capabilities"/>
          <p:cNvGrpSpPr/>
          <p:nvPr/>
        </p:nvGrpSpPr>
        <p:grpSpPr>
          <a:xfrm>
            <a:off x="1028700" y="2743200"/>
            <a:ext cx="16230600" cy="3886200"/>
            <a:chOff x="1028700" y="2743200"/>
            <a:chExt cx="16230600" cy="3886200"/>
          </a:xfrm>
        </p:grpSpPr>
        <p:sp>
          <p:nvSpPr>
            <p:cNvPr id="21" name="Rectangle 21"/>
            <p:cNvSpPr/>
            <p:nvPr/>
          </p:nvSpPr>
          <p:spPr>
            <a:xfrm>
              <a:off x="1028700" y="2743200"/>
              <a:ext cx="38290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BBD4F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70254" y="2943225"/>
              <a:ext cx="147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KNOWLEDGE</a:t>
              </a:r>
              <a:endParaRPr lang="en-US" sz="120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66825" y="3209925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企业知识与检索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69873" y="3600450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制度、合同、项目、指标与历史决策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70254" y="39052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按权限检索，答案带出处与版本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635" y="42227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交付物：带依据的答案与知识卡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086350" y="2743200"/>
              <a:ext cx="38290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BBD4F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27904" y="294322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DOCUMENT</a:t>
              </a:r>
              <a:endParaRPr lang="en-US" sz="120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4475" y="3209925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文档与材料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7523" y="3600450"/>
              <a:ext cx="20810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Word / Excel / PPT / PDF</a:t>
              </a:r>
              <a:endPara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27904" y="39052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按模板起草、修改、比对与渲染检查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8285" y="4222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交付物：可直接评审的材料包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44000" y="2743200"/>
              <a:ext cx="38290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CFE6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85554" y="2943225"/>
              <a:ext cx="874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03 / DATA</a:t>
              </a:r>
              <a:endParaRPr lang="en-US" sz="1200" spc="9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2125" y="3209925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问数与分析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85173" y="3600450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自然语言问数、口径解释、趋势与归因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85554" y="39052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图表、明细与数据来源一起交付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85935" y="42227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交付物：可复核的数据结论</a:t>
              </a:r>
              <a:endParaRPr lang="zh-CN" sz="112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201650" y="2743200"/>
              <a:ext cx="40576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D7B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443204" y="2943225"/>
              <a:ext cx="1847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04 / MEETING &amp; TASK</a:t>
              </a:r>
              <a:endParaRPr lang="en-US" sz="1200" spc="9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439775" y="320992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会议、任务与看板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442823" y="3600450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纪要、行动项、责任人、时限与进度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443204" y="39052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从信息整理推进到任务跟踪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443585" y="42227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交付物：可推进的任务对象</a:t>
              </a:r>
              <a:endParaRPr lang="zh-CN" sz="112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28700" y="4781550"/>
              <a:ext cx="38290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BBD4F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70254" y="4981575"/>
              <a:ext cx="1300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/ RESEARCH</a:t>
              </a:r>
              <a:endParaRPr lang="en-US" sz="120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66825" y="5248275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调研与专业报告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69873" y="5638800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多源检索、提纲、比较、引用与结论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70254" y="5943600"/>
              <a:ext cx="245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把“先搞懂”变成结构化的深度报告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70635" y="62611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交付物：有来源的调研与方案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086350" y="4781550"/>
              <a:ext cx="38290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D7B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27904" y="4981575"/>
              <a:ext cx="1437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06 / WORKFLOW</a:t>
              </a:r>
              <a:endParaRPr lang="en-US" sz="1200" spc="9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24475" y="5248275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流程与人工卡点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27523" y="56388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表单、会签、确认、驳回与归档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27904" y="5943600"/>
              <a:ext cx="2257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AI推进流程，人保留关键决定权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328285" y="62611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交付物：可追溯的责任链</a:t>
              </a:r>
              <a:endParaRPr lang="zh-CN" sz="112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4781550"/>
              <a:ext cx="38290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CFE6EE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85554" y="498157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07 / AGENTS</a:t>
              </a:r>
              <a:endParaRPr lang="en-US" sz="1200" spc="9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82125" y="5248275"/>
              <a:ext cx="177045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多Agent与技能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85173" y="56388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专业分工、并行任务、统稿与验收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85554" y="59436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长任务异步推进，短任务可中断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85935" y="62611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交付物：可组合的专业产能</a:t>
              </a:r>
              <a:endParaRPr lang="zh-CN" sz="112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3201650" y="4781550"/>
              <a:ext cx="4057650" cy="1847850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5240">
              <a:solidFill>
                <a:srgbClr val="CFE0F5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3443204" y="4981575"/>
              <a:ext cx="1582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 / CONNECTORS</a:t>
              </a:r>
              <a:endParaRPr lang="en-US" sz="120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3439775" y="5248275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连接企业与系统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3442823" y="5638800"/>
              <a:ext cx="26685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 / MCP / OA / ERP / 数据平台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3443204" y="59436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受控读取、写入与操作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3443585" y="6261100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交付物：从“会说”到“会办”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1" name="work-bedrock"/>
          <p:cNvGrpSpPr/>
          <p:nvPr/>
        </p:nvGrpSpPr>
        <p:grpSpPr>
          <a:xfrm>
            <a:off x="1028700" y="7124700"/>
            <a:ext cx="16230600" cy="1396746"/>
            <a:chOff x="1028700" y="7124700"/>
            <a:chExt cx="16230600" cy="1396746"/>
          </a:xfrm>
        </p:grpSpPr>
        <p:sp>
          <p:nvSpPr>
            <p:cNvPr id="70" name="Rectangle 70"/>
            <p:cNvSpPr/>
            <p:nvPr/>
          </p:nvSpPr>
          <p:spPr>
            <a:xfrm>
              <a:off x="1028700" y="7124700"/>
              <a:ext cx="16230600" cy="1390650"/>
            </a:xfrm>
            <a:prstGeom prst="roundRect">
              <a:avLst>
                <a:gd name="adj" fmla="val 8904"/>
              </a:avLst>
            </a:prstGeom>
            <a:solidFill>
              <a:srgbClr val="FFFFFF"/>
            </a:solidFill>
            <a:ln w="14288">
              <a:solidFill>
                <a:srgbClr val="D8E3F3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06068" y="7273925"/>
              <a:ext cx="3827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所有能力共用一层“可治理的工作空间”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314450" y="7734300"/>
              <a:ext cx="3429000" cy="533400"/>
            </a:xfrm>
            <a:prstGeom prst="roundRect">
              <a:avLst>
                <a:gd name="adj" fmla="val 14286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352650" y="78803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个人记忆与偏好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933950" y="7734300"/>
              <a:ext cx="3429000" cy="533400"/>
            </a:xfrm>
            <a:prstGeom prst="roundRect">
              <a:avLst>
                <a:gd name="adj" fmla="val 14286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876569" y="78803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项目上下文与版本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553450" y="7734300"/>
              <a:ext cx="3429000" cy="533400"/>
            </a:xfrm>
            <a:prstGeom prst="roundRect">
              <a:avLst>
                <a:gd name="adj" fmla="val 14286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591650" y="78803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2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企业知识与图谱</a:t>
              </a:r>
              <a:endParaRPr lang="zh-CN" sz="142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2172950" y="7734300"/>
              <a:ext cx="4800600" cy="533400"/>
            </a:xfrm>
            <a:prstGeom prst="roundRect">
              <a:avLst>
                <a:gd name="adj" fmla="val 14286"/>
              </a:avLst>
            </a:prstGeom>
            <a:solidFill>
              <a:srgbClr val="EDF7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3330867" y="7880350"/>
              <a:ext cx="2484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2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权限 / 审计 / HITL / 私有化</a:t>
              </a:r>
              <a:endParaRPr lang="zh-CN" sz="142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308354" y="8286750"/>
              <a:ext cx="1031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公开产品形态可参照 WorkBuddy 类AI办公工作台与企业级AI助手；EsXWork按机构私有化、多模型与金融治理要求配置，能力以项目验证为准。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5" name="work-regulation"/>
          <p:cNvGrpSpPr/>
          <p:nvPr/>
        </p:nvGrpSpPr>
        <p:grpSpPr>
          <a:xfrm>
            <a:off x="1028700" y="8705850"/>
            <a:ext cx="16230600" cy="438150"/>
            <a:chOff x="1028700" y="8705850"/>
            <a:chExt cx="16230600" cy="438150"/>
          </a:xfrm>
        </p:grpSpPr>
        <p:sp>
          <p:nvSpPr>
            <p:cNvPr id="82" name="Rectangle 82"/>
            <p:cNvSpPr/>
            <p:nvPr/>
          </p:nvSpPr>
          <p:spPr>
            <a:xfrm>
              <a:off x="1028700" y="8705850"/>
              <a:ext cx="16230600" cy="438150"/>
            </a:xfrm>
            <a:prstGeom prst="roundRect">
              <a:avLst>
                <a:gd name="adj" fmla="val 21739"/>
              </a:avLst>
            </a:prstGeom>
            <a:solidFill>
              <a:srgbClr val="FFF2F3"/>
            </a:solidFill>
            <a:ln w="12382">
              <a:solidFill>
                <a:srgbClr val="F1C9CF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306830" y="8823325"/>
              <a:ext cx="3519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监管报送，是EsXWork上的专业空间：</a:t>
              </a:r>
              <a:endParaRPr lang="zh-CN" sz="15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736211" y="8823325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高责任、长链路、强证据，正好检验办公平台能否真正进入金融生产。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work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86" name="TextBox 86"/>
            <p:cNvSpPr txBox="1"/>
            <p:nvPr/>
          </p:nvSpPr>
          <p:spPr>
            <a:xfrm>
              <a:off x="1021080" y="9623425"/>
              <a:ext cx="3695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EsXWork（自研）AI办公平台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17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50">
        <p:push dir="r"/>
      </p:transition>
    </mc:Choice>
    <mc:Fallback>
      <p:transition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60"/>
                            </p:stCondLst>
                            <p:childTnLst>
                              <p:par>
                                <p:cTn id="17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710"/>
                            </p:stCondLst>
                            <p:childTnLst>
                              <p:par>
                                <p:cTn id="24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60"/>
                            </p:stCondLst>
                            <p:childTnLst>
                              <p:par>
                                <p:cTn id="29" presetID="2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0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-grid"/>
          <p:cNvSpPr/>
          <p:nvPr/>
        </p:nvSpPr>
        <p:spPr>
          <a:xfrm>
            <a:off x="1028700" y="1866900"/>
            <a:ext cx="16230600" cy="7277100"/>
          </a:xfrm>
          <a:custGeom>
            <a:avLst/>
            <a:gdLst/>
            <a:ahLst/>
            <a:cxnLst/>
            <a:rect l="l" t="t" r="r" b="b"/>
            <a:pathLst>
              <a:path w="16230600" h="7277100">
                <a:moveTo>
                  <a:pt x="0" y="133350"/>
                </a:moveTo>
                <a:lnTo>
                  <a:pt x="16230600" y="133350"/>
                </a:lnTo>
                <a:moveTo>
                  <a:pt x="0" y="3752850"/>
                </a:moveTo>
                <a:lnTo>
                  <a:pt x="16230600" y="3752850"/>
                </a:lnTo>
                <a:moveTo>
                  <a:pt x="0" y="4991100"/>
                </a:moveTo>
                <a:lnTo>
                  <a:pt x="16230600" y="4991100"/>
                </a:lnTo>
                <a:moveTo>
                  <a:pt x="0" y="7086600"/>
                </a:moveTo>
                <a:lnTo>
                  <a:pt x="16230600" y="7086600"/>
                </a:lnTo>
                <a:moveTo>
                  <a:pt x="2971800" y="0"/>
                </a:moveTo>
                <a:lnTo>
                  <a:pt x="2971800" y="7277100"/>
                </a:lnTo>
                <a:moveTo>
                  <a:pt x="6400800" y="0"/>
                </a:moveTo>
                <a:lnTo>
                  <a:pt x="6400800" y="7277100"/>
                </a:lnTo>
                <a:moveTo>
                  <a:pt x="9829800" y="0"/>
                </a:moveTo>
                <a:lnTo>
                  <a:pt x="9829800" y="7277100"/>
                </a:lnTo>
                <a:moveTo>
                  <a:pt x="13258800" y="0"/>
                </a:moveTo>
                <a:lnTo>
                  <a:pt x="13258800" y="72771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reg-accent"/>
          <p:cNvSpPr/>
          <p:nvPr/>
        </p:nvSpPr>
        <p:spPr>
          <a:xfrm>
            <a:off x="1028700" y="18669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reg-title"/>
          <p:cNvGrpSpPr/>
          <p:nvPr/>
        </p:nvGrpSpPr>
        <p:grpSpPr>
          <a:xfrm>
            <a:off x="1009650" y="431800"/>
            <a:ext cx="12759690" cy="1478915"/>
            <a:chOff x="1009650" y="431800"/>
            <a:chExt cx="12759690" cy="1478915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31800"/>
              <a:ext cx="4846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18 / EsXWork 专业空间 · 监管变化链</a:t>
              </a:r>
              <a:endParaRPr lang="zh-CN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30250"/>
              <a:ext cx="1275969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监管报送不是从报表开始，而是从制度变化开始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175" y="1543050"/>
              <a:ext cx="1235530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一条制度变化要穿过识别、口径、模型、ETL、校验、报表、报文与评审；报表只是结果，证据还要反向回流。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reg-forward"/>
          <p:cNvGrpSpPr/>
          <p:nvPr/>
        </p:nvGrpSpPr>
        <p:grpSpPr>
          <a:xfrm>
            <a:off x="1028700" y="2038350"/>
            <a:ext cx="16230600" cy="3276600"/>
            <a:chOff x="1028700" y="2038350"/>
            <a:chExt cx="16230600" cy="3276600"/>
          </a:xfrm>
        </p:grpSpPr>
        <p:sp>
          <p:nvSpPr>
            <p:cNvPr id="8" name="Rectangle 8"/>
            <p:cNvSpPr/>
            <p:nvPr/>
          </p:nvSpPr>
          <p:spPr>
            <a:xfrm>
              <a:off x="1028700" y="2038350"/>
              <a:ext cx="16230600" cy="3276600"/>
            </a:xfrm>
            <a:prstGeom prst="roundRect">
              <a:avLst>
                <a:gd name="adj" fmla="val 4360"/>
              </a:avLst>
            </a:prstGeom>
            <a:gradFill>
              <a:gsLst>
                <a:gs pos="0">
                  <a:srgbClr val="FFF2F3"/>
                </a:gs>
                <a:gs pos="52000">
                  <a:srgbClr val="EAF2FF"/>
                </a:gs>
                <a:gs pos="100000">
                  <a:srgbClr val="F4EDFC"/>
                </a:gs>
              </a:gsLst>
              <a:lin ang="0" scaled="1"/>
            </a:gradFill>
            <a:ln w="14288">
              <a:solidFill>
                <a:srgbClr val="CFE0F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6449" y="2190750"/>
              <a:ext cx="469539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正向链：制度下发以后，影响沿业务语义逐层传导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84520" y="2228850"/>
              <a:ext cx="34764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不是“再做一张表”，而是生成一组版本化变更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144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2F3"/>
            </a:solidFill>
            <a:ln w="21908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36954" y="281940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01 / 触发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3906" y="31178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制度下发</a:t>
              </a:r>
              <a:endParaRPr lang="zh-CN" sz="18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6954" y="34861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通知、办法、附件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36954" y="3733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明确报告义务与频率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37335" y="40513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起点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1432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365754" y="28194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62706" y="31178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变更识别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5754" y="34861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新增、表样、说明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65754" y="37338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审核公式、停用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66135" y="4051300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A1</a:t>
              </a:r>
              <a:endParaRPr lang="en-US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9720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94554" y="28194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1506" y="31178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口径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94554" y="34861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指标、范围、期间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4554" y="37338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解释与业务确认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94935" y="40513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人审卡点</a:t>
              </a:r>
              <a:endParaRPr lang="zh-CN" sz="112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008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23354" y="28194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0306" y="31178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23354" y="34861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实体、字段、映射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23354" y="3733800"/>
              <a:ext cx="1101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DDL与回退脚本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3735" y="4051300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A3</a:t>
              </a:r>
              <a:endParaRPr lang="en-US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6296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852154" y="28194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106" y="3105150"/>
              <a:ext cx="461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ETL</a:t>
              </a:r>
              <a:endParaRPr lang="en-US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52154" y="34861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取数、清洗、编排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52154" y="37338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依赖与回退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52535" y="4051300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A4</a:t>
              </a:r>
              <a:endParaRPr lang="en-US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4584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680954" y="28194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77906" y="31178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校验规则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80954" y="34861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完整性、勾稽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80954" y="37338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阈值与误报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81335" y="4051300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A5</a:t>
              </a:r>
              <a:endParaRPr lang="en-US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22872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9FA"/>
            </a:solidFill>
            <a:ln w="17145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509754" y="281940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07 / 结果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506706" y="31178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报表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509754" y="34861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表样、取数、勾稽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509754" y="37338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差异与说明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510135" y="40513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不是起点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4116050" y="2667000"/>
              <a:ext cx="1657350" cy="175260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338554" y="28194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335506" y="31178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报文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338554" y="34861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生成、结构校验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338554" y="37338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报表一致性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338935" y="4051300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A7</a:t>
              </a:r>
              <a:endParaRPr lang="en-US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5944850" y="2667000"/>
              <a:ext cx="1009650" cy="1752600"/>
            </a:xfrm>
            <a:prstGeom prst="roundRect">
              <a:avLst>
                <a:gd name="adj" fmla="val 8491"/>
              </a:avLst>
            </a:prstGeom>
            <a:solidFill>
              <a:srgbClr val="F4EDFC"/>
            </a:solidFill>
            <a:ln w="17145">
              <a:solidFill>
                <a:srgbClr val="D7B8F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6129254" y="28194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120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6126968" y="31305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评审</a:t>
              </a:r>
              <a:endParaRPr lang="zh-CN" sz="165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129254" y="34861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归档</a:t>
              </a:r>
              <a:endParaRPr lang="zh-CN" sz="120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6129254" y="3733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发布</a:t>
              </a:r>
              <a:endParaRPr lang="zh-CN" sz="120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6129635" y="4051300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A8</a:t>
              </a:r>
              <a:endParaRPr lang="en-US" sz="112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Freeform 65"/>
            <p:cNvSpPr/>
            <p:nvPr/>
          </p:nvSpPr>
          <p:spPr>
            <a:xfrm>
              <a:off x="2990850" y="3543300"/>
              <a:ext cx="12915900" cy="9525"/>
            </a:xfrm>
            <a:custGeom>
              <a:avLst/>
              <a:gdLst/>
              <a:ahLst/>
              <a:cxnLst/>
              <a:rect l="l" t="t" r="r" b="b"/>
              <a:pathLst>
                <a:path w="12915900" h="9525">
                  <a:moveTo>
                    <a:pt x="0" y="0"/>
                  </a:moveTo>
                  <a:lnTo>
                    <a:pt x="114300" y="0"/>
                  </a:lnTo>
                  <a:moveTo>
                    <a:pt x="1828800" y="0"/>
                  </a:moveTo>
                  <a:lnTo>
                    <a:pt x="1943100" y="0"/>
                  </a:lnTo>
                  <a:moveTo>
                    <a:pt x="3657600" y="0"/>
                  </a:moveTo>
                  <a:lnTo>
                    <a:pt x="3771900" y="0"/>
                  </a:lnTo>
                  <a:moveTo>
                    <a:pt x="5486400" y="0"/>
                  </a:moveTo>
                  <a:lnTo>
                    <a:pt x="5600700" y="0"/>
                  </a:lnTo>
                  <a:moveTo>
                    <a:pt x="7315200" y="0"/>
                  </a:moveTo>
                  <a:lnTo>
                    <a:pt x="7429500" y="0"/>
                  </a:lnTo>
                  <a:moveTo>
                    <a:pt x="9144000" y="0"/>
                  </a:moveTo>
                  <a:lnTo>
                    <a:pt x="9258300" y="0"/>
                  </a:lnTo>
                  <a:moveTo>
                    <a:pt x="10972800" y="0"/>
                  </a:moveTo>
                  <a:lnTo>
                    <a:pt x="11087100" y="0"/>
                  </a:lnTo>
                  <a:moveTo>
                    <a:pt x="12801600" y="0"/>
                  </a:moveTo>
                  <a:lnTo>
                    <a:pt x="12915900" y="0"/>
                  </a:lnTo>
                </a:path>
              </a:pathLst>
            </a:custGeom>
            <a:noFill/>
            <a:ln w="2095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152650" y="4524375"/>
              <a:ext cx="13335000" cy="4762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82000"/>
              </a:srgbClr>
            </a:solidFill>
            <a:ln w="9525">
              <a:solidFill>
                <a:srgbClr val="CFE0F5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374392" y="4664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四类变化，四种影响面：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812792" y="46640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新增报表</a:t>
              </a:r>
              <a:endParaRPr lang="zh-CN" sz="135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46342" y="46640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表样变更</a:t>
              </a:r>
              <a:endParaRPr lang="zh-CN" sz="135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9892" y="466407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填报说明 / 审核公式</a:t>
              </a:r>
              <a:endParaRPr lang="zh-CN" sz="135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118342" y="46640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报表停用</a:t>
              </a:r>
              <a:endParaRPr lang="zh-CN" sz="135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reg-reverse"/>
          <p:cNvGrpSpPr/>
          <p:nvPr/>
        </p:nvGrpSpPr>
        <p:grpSpPr>
          <a:xfrm>
            <a:off x="1020699" y="5715000"/>
            <a:ext cx="16105251" cy="1089533"/>
            <a:chOff x="1020699" y="5715000"/>
            <a:chExt cx="16105251" cy="1089533"/>
          </a:xfrm>
        </p:grpSpPr>
        <p:sp>
          <p:nvSpPr>
            <p:cNvPr id="73" name="TextBox 73"/>
            <p:cNvSpPr txBox="1"/>
            <p:nvPr/>
          </p:nvSpPr>
          <p:spPr>
            <a:xfrm>
              <a:off x="1020699" y="5715000"/>
              <a:ext cx="554619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反向链：执行端不是只交结果，还要把可复核的证据送回去</a:t>
              </a:r>
              <a:endParaRPr lang="zh-CN" sz="15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Line 74"/>
            <p:cNvSpPr/>
            <p:nvPr/>
          </p:nvSpPr>
          <p:spPr>
            <a:xfrm flipH="1">
              <a:off x="1924050" y="6296025"/>
              <a:ext cx="14478000" cy="1"/>
            </a:xfrm>
            <a:prstGeom prst="line">
              <a:avLst/>
            </a:prstGeom>
            <a:noFill/>
            <a:ln w="24765">
              <a:solidFill>
                <a:srgbClr val="49097F"/>
              </a:solidFill>
              <a:custDash>
                <a:ds d="346154" sp="269231"/>
              </a:custDash>
              <a:tailEnd type="triangle" w="lg" len="lg"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866900" y="6067425"/>
              <a:ext cx="2609850" cy="40005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389937" y="618172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口径依据与变更记录</a:t>
              </a:r>
              <a:endParaRPr lang="zh-CN" sz="12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010150" y="6067425"/>
              <a:ext cx="2609850" cy="40005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533187" y="618172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模型映射与数据血缘</a:t>
              </a:r>
              <a:endParaRPr lang="zh-CN" sz="12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153400" y="6067425"/>
              <a:ext cx="2609850" cy="40005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726839" y="6181725"/>
              <a:ext cx="14629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测试 / 校验 / 差异</a:t>
              </a:r>
              <a:endParaRPr lang="zh-CN" sz="12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1296650" y="6067425"/>
              <a:ext cx="2609850" cy="40005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2078157" y="6181725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版本与回退包</a:t>
              </a:r>
              <a:endParaRPr lang="zh-CN" sz="12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4439900" y="6067425"/>
              <a:ext cx="2686050" cy="40005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5001037" y="618172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评审意见与审计留痕</a:t>
              </a:r>
              <a:endParaRPr lang="zh-CN" sz="12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21842" y="654050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每一次变化都要回答：为什么改、改了什么、怎么验证、出了错如何退回、由谁确认。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7" name="reg-four"/>
          <p:cNvGrpSpPr/>
          <p:nvPr/>
        </p:nvGrpSpPr>
        <p:grpSpPr>
          <a:xfrm>
            <a:off x="1028700" y="7048500"/>
            <a:ext cx="16230600" cy="1657350"/>
            <a:chOff x="1028700" y="7048500"/>
            <a:chExt cx="16230600" cy="1657350"/>
          </a:xfrm>
        </p:grpSpPr>
        <p:sp>
          <p:nvSpPr>
            <p:cNvPr id="87" name="Rectangle 87"/>
            <p:cNvSpPr/>
            <p:nvPr/>
          </p:nvSpPr>
          <p:spPr>
            <a:xfrm>
              <a:off x="1028700" y="7048500"/>
              <a:ext cx="3829050" cy="1657350"/>
            </a:xfrm>
            <a:prstGeom prst="roundRect">
              <a:avLst>
                <a:gd name="adj" fmla="val 5747"/>
              </a:avLst>
            </a:prstGeom>
            <a:solidFill>
              <a:srgbClr val="FFFFFF"/>
            </a:solidFill>
            <a:ln w="14288">
              <a:solidFill>
                <a:srgbClr val="F1C9CF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267206" y="72136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新增报表</a:t>
              </a:r>
              <a:endParaRPr lang="zh-CN" sz="18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69492" y="76073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从制度义务到整套数据链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69873" y="7943850"/>
              <a:ext cx="34150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影响：口径、模型、ETL、规则、报表、报文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70254" y="826770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主链最容易漏掉的是“验收条件”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086350" y="7048500"/>
              <a:ext cx="3829050" cy="1657350"/>
            </a:xfrm>
            <a:prstGeom prst="roundRect">
              <a:avLst>
                <a:gd name="adj" fmla="val 5747"/>
              </a:avLst>
            </a:prstGeom>
            <a:solidFill>
              <a:srgbClr val="FFFFFF"/>
            </a:solidFill>
            <a:ln w="14288">
              <a:solidFill>
                <a:srgbClr val="F1C9CF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24856" y="72136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表样变更</a:t>
              </a:r>
              <a:endParaRPr lang="zh-CN" sz="18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327142" y="76073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行列、指标位置与取数方式变化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327523" y="7943850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影响：报表、取数、勾稽、历史对比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327904" y="82677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必须同时检查跨表与跨期一致性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9144000" y="7048500"/>
              <a:ext cx="3829050" cy="1657350"/>
            </a:xfrm>
            <a:prstGeom prst="roundRect">
              <a:avLst>
                <a:gd name="adj" fmla="val 5747"/>
              </a:avLst>
            </a:prstGeom>
            <a:solidFill>
              <a:srgbClr val="FFFFFF"/>
            </a:solidFill>
            <a:ln w="14288">
              <a:solidFill>
                <a:srgbClr val="F1C9CF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382506" y="7213600"/>
              <a:ext cx="224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填报说明 / 审核公式</a:t>
              </a:r>
              <a:endParaRPr lang="zh-CN" sz="18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384792" y="76073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语义不变，解释与校验发生变化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385173" y="7943850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影响：口径解释、规则、误报与人工复核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385554" y="8267700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最容易被当作“小改动”低估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3201650" y="7048500"/>
              <a:ext cx="4057650" cy="1657350"/>
            </a:xfrm>
            <a:prstGeom prst="roundRect">
              <a:avLst>
                <a:gd name="adj" fmla="val 5747"/>
              </a:avLst>
            </a:prstGeom>
            <a:solidFill>
              <a:srgbClr val="FFFFFF"/>
            </a:solidFill>
            <a:ln w="14288">
              <a:solidFill>
                <a:srgbClr val="F1C9CF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3440156" y="72136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报表停用</a:t>
              </a:r>
              <a:endParaRPr lang="zh-CN" sz="18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3442442" y="76073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依赖关系、历史归档与后续解释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3442823" y="7943850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影响：任务、校验、报表、归档与查询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3443204" y="826770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删除之前，要先证明“谁还在用”</a:t>
              </a:r>
              <a:endParaRPr lang="zh-CN" sz="120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9" name="reg-takeaway"/>
          <p:cNvGrpSpPr/>
          <p:nvPr/>
        </p:nvGrpSpPr>
        <p:grpSpPr>
          <a:xfrm>
            <a:off x="1017270" y="8997950"/>
            <a:ext cx="10065344" cy="440055"/>
            <a:chOff x="1017270" y="8997950"/>
            <a:chExt cx="10065344" cy="440055"/>
          </a:xfrm>
        </p:grpSpPr>
        <p:sp>
          <p:nvSpPr>
            <p:cNvPr id="108" name="TextBox 108"/>
            <p:cNvSpPr txBox="1"/>
            <p:nvPr/>
          </p:nvSpPr>
          <p:spPr>
            <a:xfrm>
              <a:off x="1017270" y="8997950"/>
              <a:ext cx="100653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监管交付的复杂度，不在“一张表”，而在一组相互依赖、必须证明的变化。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2" name="reg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110" name="TextBox 110"/>
            <p:cNvSpPr txBox="1"/>
            <p:nvPr/>
          </p:nvSpPr>
          <p:spPr>
            <a:xfrm>
              <a:off x="1021080" y="9623425"/>
              <a:ext cx="4397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EsXWork AI办公平台 · 监管报送实践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18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:wipe/>
      </p:transition>
    </mc:Choice>
    <mc:Fallback>
      <p:transition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30"/>
                            </p:stCondLst>
                            <p:childTnLst>
                              <p:par>
                                <p:cTn id="17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680"/>
                            </p:stCondLst>
                            <p:childTnLst>
                              <p:par>
                                <p:cTn id="24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s-grid"/>
          <p:cNvSpPr/>
          <p:nvPr/>
        </p:nvSpPr>
        <p:spPr>
          <a:xfrm>
            <a:off x="1028700" y="1828800"/>
            <a:ext cx="16230600" cy="7315200"/>
          </a:xfrm>
          <a:custGeom>
            <a:avLst/>
            <a:gdLst/>
            <a:ahLst/>
            <a:cxnLst/>
            <a:rect l="l" t="t" r="r" b="b"/>
            <a:pathLst>
              <a:path w="16230600" h="7315200">
                <a:moveTo>
                  <a:pt x="0" y="133350"/>
                </a:moveTo>
                <a:lnTo>
                  <a:pt x="16230600" y="133350"/>
                </a:lnTo>
                <a:moveTo>
                  <a:pt x="0" y="6229350"/>
                </a:moveTo>
                <a:lnTo>
                  <a:pt x="16230600" y="6229350"/>
                </a:lnTo>
                <a:moveTo>
                  <a:pt x="0" y="7258050"/>
                </a:moveTo>
                <a:lnTo>
                  <a:pt x="16230600" y="7258050"/>
                </a:lnTo>
                <a:moveTo>
                  <a:pt x="2971800" y="0"/>
                </a:moveTo>
                <a:lnTo>
                  <a:pt x="2971800" y="7315200"/>
                </a:lnTo>
                <a:moveTo>
                  <a:pt x="6400800" y="0"/>
                </a:moveTo>
                <a:lnTo>
                  <a:pt x="6400800" y="7315200"/>
                </a:lnTo>
                <a:moveTo>
                  <a:pt x="9829800" y="0"/>
                </a:moveTo>
                <a:lnTo>
                  <a:pt x="9829800" y="7315200"/>
                </a:lnTo>
                <a:moveTo>
                  <a:pt x="13258800" y="0"/>
                </a:moveTo>
                <a:lnTo>
                  <a:pt x="13258800" y="73152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ws-accent"/>
          <p:cNvSpPr/>
          <p:nvPr/>
        </p:nvSpPr>
        <p:spPr>
          <a:xfrm>
            <a:off x="1028700" y="18288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ws-title"/>
          <p:cNvGrpSpPr/>
          <p:nvPr/>
        </p:nvGrpSpPr>
        <p:grpSpPr>
          <a:xfrm>
            <a:off x="1009650" y="393700"/>
            <a:ext cx="14678025" cy="1475994"/>
            <a:chOff x="1009650" y="393700"/>
            <a:chExt cx="14678025" cy="1475994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393700"/>
              <a:ext cx="70504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19 / EsXWork 专业空间 · REGULATORY WORKSPACE</a:t>
              </a:r>
              <a:endParaRPr lang="zh-CN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04850"/>
              <a:ext cx="1467802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一个专业工作台：对话、看板、卡点、证据围绕同一任务</a:t>
              </a:r>
              <a:endParaRPr lang="zh-CN" sz="4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556" y="1517650"/>
              <a:ext cx="12896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这不是另一个平台，而是EsXWork在监管报送中的专业空间；以下内容来自当前研发与项目实践，能力以项目验证为准。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ws-chat"/>
          <p:cNvGrpSpPr/>
          <p:nvPr/>
        </p:nvGrpSpPr>
        <p:grpSpPr>
          <a:xfrm>
            <a:off x="1028700" y="2066925"/>
            <a:ext cx="5143500" cy="5867400"/>
            <a:chOff x="1028700" y="2066925"/>
            <a:chExt cx="5143500" cy="5867400"/>
          </a:xfrm>
        </p:grpSpPr>
        <p:sp>
          <p:nvSpPr>
            <p:cNvPr id="8" name="Rectangle 8"/>
            <p:cNvSpPr/>
            <p:nvPr/>
          </p:nvSpPr>
          <p:spPr>
            <a:xfrm>
              <a:off x="1028700" y="2066925"/>
              <a:ext cx="5143500" cy="5867400"/>
            </a:xfrm>
            <a:prstGeom prst="roundRect">
              <a:avLst>
                <a:gd name="adj" fmla="val 2593"/>
              </a:avLst>
            </a:prstGeom>
            <a:solidFill>
              <a:srgbClr val="FFFFFF"/>
            </a:solidFill>
            <a:ln w="17145">
              <a:solidFill>
                <a:srgbClr val="BBD4F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28700" y="2066925"/>
              <a:ext cx="5143500" cy="742950"/>
            </a:xfrm>
            <a:prstGeom prst="roundRect">
              <a:avLst>
                <a:gd name="adj" fmla="val 17949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8537" y="2203450"/>
              <a:ext cx="17222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对话工作台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1204" y="2514600"/>
              <a:ext cx="2682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自然语言下发 · A0拆解 · 上下文连续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62050" y="2952750"/>
              <a:ext cx="4876800" cy="4457700"/>
            </a:xfrm>
            <a:prstGeom prst="roundRect">
              <a:avLst>
                <a:gd name="adj" fmla="val 1709"/>
              </a:avLst>
            </a:prstGeom>
            <a:solidFill>
              <a:srgbClr val="F4F7FB"/>
            </a:solidFill>
            <a:ln w="11430">
              <a:solidFill>
                <a:srgbClr val="D8E3F3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0150" y="3045705"/>
              <a:ext cx="4800600" cy="427179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251204" y="751522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同一个会话里，能看到任务、执行轨迹与已产出物。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ws-dashboard"/>
          <p:cNvGrpSpPr/>
          <p:nvPr/>
        </p:nvGrpSpPr>
        <p:grpSpPr>
          <a:xfrm>
            <a:off x="6515100" y="2066925"/>
            <a:ext cx="5143500" cy="5867400"/>
            <a:chOff x="6515100" y="2066925"/>
            <a:chExt cx="5143500" cy="5867400"/>
          </a:xfrm>
        </p:grpSpPr>
        <p:sp>
          <p:nvSpPr>
            <p:cNvPr id="16" name="Rectangle 16"/>
            <p:cNvSpPr/>
            <p:nvPr/>
          </p:nvSpPr>
          <p:spPr>
            <a:xfrm>
              <a:off x="6515100" y="2066925"/>
              <a:ext cx="5143500" cy="5867400"/>
            </a:xfrm>
            <a:prstGeom prst="roundRect">
              <a:avLst>
                <a:gd name="adj" fmla="val 2593"/>
              </a:avLst>
            </a:prstGeom>
            <a:solidFill>
              <a:srgbClr val="FFFFFF"/>
            </a:solidFill>
            <a:ln w="17145">
              <a:solidFill>
                <a:srgbClr val="CFE6E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515100" y="2066925"/>
              <a:ext cx="5143500" cy="742950"/>
            </a:xfrm>
            <a:prstGeom prst="roundRect">
              <a:avLst>
                <a:gd name="adj" fmla="val 17949"/>
              </a:avLst>
            </a:prstGeom>
            <a:solidFill>
              <a:srgbClr val="ED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34937" y="2203450"/>
              <a:ext cx="14907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02 / 工作看板</a:t>
              </a:r>
              <a:endParaRPr lang="zh-CN" sz="172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37604" y="251460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泳道推进 · 卡点高亮 · 一次通过率可见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48450" y="2952750"/>
              <a:ext cx="4876800" cy="4457700"/>
            </a:xfrm>
            <a:prstGeom prst="roundRect">
              <a:avLst>
                <a:gd name="adj" fmla="val 1709"/>
              </a:avLst>
            </a:prstGeom>
            <a:solidFill>
              <a:srgbClr val="F4F7FB"/>
            </a:solidFill>
            <a:ln w="11430">
              <a:solidFill>
                <a:srgbClr val="D8E3F3"/>
              </a:solidFill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86550" y="3384473"/>
              <a:ext cx="4800600" cy="3594253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6737604" y="751522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进度不再是口头汇报：任务状态、产物数量与等待时长都可查。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ws-hitl"/>
          <p:cNvGrpSpPr/>
          <p:nvPr/>
        </p:nvGrpSpPr>
        <p:grpSpPr>
          <a:xfrm>
            <a:off x="12001500" y="2066925"/>
            <a:ext cx="5143500" cy="5867400"/>
            <a:chOff x="12001500" y="2066925"/>
            <a:chExt cx="5143500" cy="5867400"/>
          </a:xfrm>
        </p:grpSpPr>
        <p:sp>
          <p:nvSpPr>
            <p:cNvPr id="24" name="Rectangle 24"/>
            <p:cNvSpPr/>
            <p:nvPr/>
          </p:nvSpPr>
          <p:spPr>
            <a:xfrm>
              <a:off x="12001500" y="2066925"/>
              <a:ext cx="5143500" cy="5867400"/>
            </a:xfrm>
            <a:prstGeom prst="roundRect">
              <a:avLst>
                <a:gd name="adj" fmla="val 2593"/>
              </a:avLst>
            </a:prstGeom>
            <a:solidFill>
              <a:srgbClr val="FFFFFF"/>
            </a:solidFill>
            <a:ln w="17145">
              <a:solidFill>
                <a:srgbClr val="F1C9C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001500" y="2066925"/>
              <a:ext cx="5143500" cy="742950"/>
            </a:xfrm>
            <a:prstGeom prst="roundRect">
              <a:avLst>
                <a:gd name="adj" fmla="val 17949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221337" y="2203450"/>
              <a:ext cx="195383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03 / 人工确认卡点</a:t>
              </a:r>
              <a:endParaRPr lang="zh-CN" sz="17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224004" y="251460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置信度 · 原文对照 · 通过/修改/驳回留痕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2134850" y="2952750"/>
              <a:ext cx="4876800" cy="4457700"/>
            </a:xfrm>
            <a:prstGeom prst="roundRect">
              <a:avLst>
                <a:gd name="adj" fmla="val 1709"/>
              </a:avLst>
            </a:prstGeom>
            <a:solidFill>
              <a:srgbClr val="F4F7FB"/>
            </a:solidFill>
            <a:ln w="11430">
              <a:solidFill>
                <a:srgbClr val="D8E3F3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72950" y="3045705"/>
              <a:ext cx="4800600" cy="427179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12224004" y="7515225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卡点不是弹窗，而是带条款依据、修改记录与回退选项的专业确认。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ws-object"/>
          <p:cNvGrpSpPr/>
          <p:nvPr/>
        </p:nvGrpSpPr>
        <p:grpSpPr>
          <a:xfrm>
            <a:off x="1028700" y="8134350"/>
            <a:ext cx="16230600" cy="819150"/>
            <a:chOff x="1028700" y="8134350"/>
            <a:chExt cx="16230600" cy="819150"/>
          </a:xfrm>
        </p:grpSpPr>
        <p:sp>
          <p:nvSpPr>
            <p:cNvPr id="32" name="Rectangle 32"/>
            <p:cNvSpPr/>
            <p:nvPr/>
          </p:nvSpPr>
          <p:spPr>
            <a:xfrm>
              <a:off x="1028700" y="8134350"/>
              <a:ext cx="16230600" cy="819150"/>
            </a:xfrm>
            <a:prstGeom prst="roundRect">
              <a:avLst>
                <a:gd name="adj" fmla="val 15116"/>
              </a:avLst>
            </a:prstGeom>
            <a:gradFill>
              <a:gsLst>
                <a:gs pos="0">
                  <a:srgbClr val="EAF2FF"/>
                </a:gs>
                <a:gs pos="50000">
                  <a:srgbClr val="F4EDFC"/>
                </a:gs>
                <a:gs pos="100000">
                  <a:srgbClr val="EAF2FF"/>
                </a:gs>
              </a:gsLst>
              <a:lin ang="0" scaled="1"/>
            </a:gradFill>
            <a:ln w="14288">
              <a:solidFill>
                <a:srgbClr val="CFE0F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06449" y="8277225"/>
              <a:ext cx="25683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同一任务对象贯穿五件事：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76650" y="8248650"/>
              <a:ext cx="20193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BD4F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25100" y="83693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任务与阶段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24550" y="8248650"/>
              <a:ext cx="20193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CFE6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3868" y="8369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执行证据</a:t>
              </a:r>
              <a:endParaRPr lang="zh-CN" sz="135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72450" y="8248650"/>
              <a:ext cx="20193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1C9C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11768" y="8369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人工卡点</a:t>
              </a:r>
              <a:endParaRPr lang="zh-CN" sz="135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20350" y="8248650"/>
              <a:ext cx="20193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7B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68800" y="83693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版本与回退</a:t>
              </a:r>
              <a:endParaRPr lang="zh-CN" sz="135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2668250" y="8248650"/>
              <a:ext cx="20193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CFE0F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307568" y="8369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审计留痕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043404" y="83820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不是四套系统拼接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ws-note"/>
          <p:cNvGrpSpPr/>
          <p:nvPr/>
        </p:nvGrpSpPr>
        <p:grpSpPr>
          <a:xfrm>
            <a:off x="1022223" y="9182100"/>
            <a:ext cx="6733222" cy="250317"/>
            <a:chOff x="1022223" y="9182100"/>
            <a:chExt cx="6733222" cy="250317"/>
          </a:xfrm>
        </p:grpSpPr>
        <p:sp>
          <p:nvSpPr>
            <p:cNvPr id="46" name="TextBox 46"/>
            <p:cNvSpPr/>
            <p:nvPr/>
          </p:nvSpPr>
          <p:spPr>
            <a:xfrm>
              <a:off x="1022223" y="9182100"/>
              <a:ext cx="67332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界面来自研发与项目实践环境；信息已脱敏，能力以项目验证为准。</a:t>
              </a:r>
            </a:p>
          </p:txBody>
        </p:sp>
      </p:grpSp>
      <p:grpSp>
        <p:nvGrpSpPr>
          <p:cNvPr id="50" name="ws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48" name="TextBox 48"/>
            <p:cNvSpPr txBox="1"/>
            <p:nvPr/>
          </p:nvSpPr>
          <p:spPr>
            <a:xfrm>
              <a:off x="1021080" y="9623425"/>
              <a:ext cx="4598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EsXWork AI办公平台 · 监管专业工作台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19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14:reveal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id="14" presetID="37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95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" accel="100000" fill="hold">
                                          <p:stCondLst>
                                            <p:cond delay="49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6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4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9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-grid"/>
          <p:cNvSpPr/>
          <p:nvPr/>
        </p:nvSpPr>
        <p:spPr>
          <a:xfrm>
            <a:off x="1028700" y="1790700"/>
            <a:ext cx="16230600" cy="7353300"/>
          </a:xfrm>
          <a:custGeom>
            <a:avLst/>
            <a:gdLst/>
            <a:ahLst/>
            <a:cxnLst/>
            <a:rect l="l" t="t" r="r" b="b"/>
            <a:pathLst>
              <a:path w="16230600" h="7353300">
                <a:moveTo>
                  <a:pt x="0" y="133350"/>
                </a:moveTo>
                <a:lnTo>
                  <a:pt x="16230600" y="133350"/>
                </a:lnTo>
                <a:moveTo>
                  <a:pt x="0" y="2971800"/>
                </a:moveTo>
                <a:lnTo>
                  <a:pt x="16230600" y="2971800"/>
                </a:lnTo>
                <a:moveTo>
                  <a:pt x="0" y="5848350"/>
                </a:moveTo>
                <a:lnTo>
                  <a:pt x="16230600" y="5848350"/>
                </a:lnTo>
                <a:moveTo>
                  <a:pt x="0" y="7334250"/>
                </a:moveTo>
                <a:lnTo>
                  <a:pt x="16230600" y="7334250"/>
                </a:lnTo>
                <a:moveTo>
                  <a:pt x="2971800" y="0"/>
                </a:moveTo>
                <a:lnTo>
                  <a:pt x="2971800" y="7353300"/>
                </a:lnTo>
                <a:moveTo>
                  <a:pt x="6400800" y="0"/>
                </a:moveTo>
                <a:lnTo>
                  <a:pt x="6400800" y="7353300"/>
                </a:lnTo>
                <a:moveTo>
                  <a:pt x="9829800" y="0"/>
                </a:moveTo>
                <a:lnTo>
                  <a:pt x="9829800" y="7353300"/>
                </a:lnTo>
                <a:moveTo>
                  <a:pt x="13258800" y="0"/>
                </a:moveTo>
                <a:lnTo>
                  <a:pt x="13258800" y="73533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ag-accent"/>
          <p:cNvSpPr/>
          <p:nvPr/>
        </p:nvSpPr>
        <p:spPr>
          <a:xfrm>
            <a:off x="1028700" y="17907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ag-title"/>
          <p:cNvGrpSpPr/>
          <p:nvPr/>
        </p:nvGrpSpPr>
        <p:grpSpPr>
          <a:xfrm>
            <a:off x="1009650" y="355600"/>
            <a:ext cx="11733135" cy="1475994"/>
            <a:chOff x="1009650" y="355600"/>
            <a:chExt cx="11733135" cy="1475994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355600"/>
              <a:ext cx="71592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20 / EsXWork 专业空间 · EIGHT SPECIALIST AGENTS</a:t>
              </a:r>
              <a:endParaRPr lang="zh-CN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666750"/>
              <a:ext cx="1173313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A1–A8：八个专业Agent，不是一个万能助手</a:t>
              </a:r>
              <a:endParaRPr lang="zh-CN" sz="4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556" y="1479550"/>
              <a:ext cx="104241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A0负责拆解、调度和上下文；每个Agent只交付一种专业产物；三类人工卡点把责任留在流程里。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ag-legend"/>
          <p:cNvGrpSpPr/>
          <p:nvPr/>
        </p:nvGrpSpPr>
        <p:grpSpPr>
          <a:xfrm>
            <a:off x="1028700" y="1885950"/>
            <a:ext cx="16230600" cy="304800"/>
            <a:chOff x="1028700" y="1885950"/>
            <a:chExt cx="16230600" cy="304800"/>
          </a:xfrm>
        </p:grpSpPr>
        <p:sp>
          <p:nvSpPr>
            <p:cNvPr id="8" name="Rectangle 8"/>
            <p:cNvSpPr/>
            <p:nvPr/>
          </p:nvSpPr>
          <p:spPr>
            <a:xfrm>
              <a:off x="1028700" y="1885950"/>
              <a:ext cx="16230600" cy="304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EAF2FF"/>
                </a:gs>
                <a:gs pos="50000">
                  <a:srgbClr val="F4EDFC"/>
                </a:gs>
                <a:gs pos="100000">
                  <a:srgbClr val="EAF2FF"/>
                </a:gs>
              </a:gsLst>
              <a:lin ang="0" scaled="1"/>
            </a:gradFill>
            <a:ln w="10478">
              <a:solidFill>
                <a:srgbClr val="CFE0F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51585" y="19558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专业分工：</a:t>
              </a:r>
              <a:endPara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5535" y="1955800"/>
              <a:ext cx="3920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制度解读 · 问数 · 模型 · ETL · 校验 · 报表 · 报文 · 评审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67285" y="19558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人工卡点：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81735" y="1955800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业务口径 / 模型评审 / 发布确认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ag-row1"/>
          <p:cNvGrpSpPr/>
          <p:nvPr/>
        </p:nvGrpSpPr>
        <p:grpSpPr>
          <a:xfrm>
            <a:off x="1028700" y="2266950"/>
            <a:ext cx="16230600" cy="2495550"/>
            <a:chOff x="1028700" y="2266950"/>
            <a:chExt cx="16230600" cy="2495550"/>
          </a:xfrm>
        </p:grpSpPr>
        <p:sp>
          <p:nvSpPr>
            <p:cNvPr id="14" name="Rectangle 14"/>
            <p:cNvSpPr/>
            <p:nvPr/>
          </p:nvSpPr>
          <p:spPr>
            <a:xfrm>
              <a:off x="1028700" y="2266950"/>
              <a:ext cx="37719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D7B8F0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43000" y="2381250"/>
              <a:ext cx="3543300" cy="1952625"/>
            </a:xfrm>
            <a:prstGeom prst="rect">
              <a:avLst/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1143000" y="2381250"/>
              <a:ext cx="35433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49680" y="4422775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 · 制度解读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79114" y="44735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清单</a:t>
              </a:r>
              <a:endParaRPr lang="zh-CN" sz="105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95750" y="24193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06525" y="2466975"/>
              <a:ext cx="3499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98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卡点1</a:t>
              </a:r>
              <a:endParaRPr lang="zh-CN" sz="98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105400" y="2266950"/>
              <a:ext cx="37719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CFE6EE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700" y="2381250"/>
              <a:ext cx="3543300" cy="1952625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5219700" y="2381250"/>
              <a:ext cx="35433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26380" y="4422775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A2 · 智能问数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34924" y="4473575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口径/血缘/影响</a:t>
              </a:r>
              <a:endParaRPr lang="zh-CN" sz="105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182100" y="2266950"/>
              <a:ext cx="37719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F0DCCF"/>
              </a:solidFill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6400" y="2381250"/>
              <a:ext cx="3543300" cy="1952625"/>
            </a:xfrm>
            <a:prstGeom prst="rect">
              <a:avLst/>
            </a:prstGeom>
          </p:spPr>
        </p:pic>
        <p:sp>
          <p:nvSpPr>
            <p:cNvPr id="28" name="Rectangle 28"/>
            <p:cNvSpPr/>
            <p:nvPr/>
          </p:nvSpPr>
          <p:spPr>
            <a:xfrm>
              <a:off x="9296400" y="2381250"/>
              <a:ext cx="35433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03080" y="4422775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A3 · 模型设计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57509" y="4473575"/>
              <a:ext cx="868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C24A08"/>
                  </a:solidFill>
                  <a:latin typeface="+mn-lt"/>
                  <a:ea typeface="+mn-ea"/>
                  <a:cs typeface="+mn-cs"/>
                </a:rPr>
                <a:t>ER/DDL/回退</a:t>
              </a:r>
              <a:endParaRPr lang="zh-CN" sz="1050" dirty="0">
                <a:solidFill>
                  <a:srgbClr val="C24A0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2249150" y="24193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359925" y="2466975"/>
              <a:ext cx="3499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98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卡点2</a:t>
              </a:r>
              <a:endParaRPr lang="zh-CN" sz="98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3258800" y="2266950"/>
              <a:ext cx="40005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D7E8EF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6433" y="2381250"/>
              <a:ext cx="3545235" cy="1952625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3373100" y="2381250"/>
              <a:ext cx="37719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479780" y="4422775"/>
              <a:ext cx="1292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A4 · ETL生成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318924" y="4473575"/>
              <a:ext cx="1012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0A7A70"/>
                  </a:solidFill>
                  <a:latin typeface="+mn-lt"/>
                  <a:ea typeface="+mn-ea"/>
                  <a:cs typeface="+mn-cs"/>
                </a:rPr>
                <a:t>SQL/编排/回退</a:t>
              </a:r>
              <a:endParaRPr lang="zh-CN" sz="1050" dirty="0">
                <a:solidFill>
                  <a:srgbClr val="0A7A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" name="ag-row2"/>
          <p:cNvGrpSpPr/>
          <p:nvPr/>
        </p:nvGrpSpPr>
        <p:grpSpPr>
          <a:xfrm>
            <a:off x="1028700" y="4914900"/>
            <a:ext cx="16230600" cy="2495550"/>
            <a:chOff x="1028700" y="4914900"/>
            <a:chExt cx="16230600" cy="2495550"/>
          </a:xfrm>
        </p:grpSpPr>
        <p:sp>
          <p:nvSpPr>
            <p:cNvPr id="39" name="Rectangle 39"/>
            <p:cNvSpPr/>
            <p:nvPr/>
          </p:nvSpPr>
          <p:spPr>
            <a:xfrm>
              <a:off x="1028700" y="4914900"/>
              <a:ext cx="37719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D8E3F3"/>
              </a:solidFill>
            </a:ln>
          </p:spPr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43000" y="5029200"/>
              <a:ext cx="3543300" cy="1952625"/>
            </a:xfrm>
            <a:prstGeom prst="rect">
              <a:avLst/>
            </a:prstGeom>
          </p:spPr>
        </p:pic>
        <p:sp>
          <p:nvSpPr>
            <p:cNvPr id="41" name="Rectangle 41"/>
            <p:cNvSpPr/>
            <p:nvPr/>
          </p:nvSpPr>
          <p:spPr>
            <a:xfrm>
              <a:off x="1143000" y="5029200"/>
              <a:ext cx="35433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49680" y="7070725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A5 · 校验规则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85515" y="7121525"/>
              <a:ext cx="286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1050" dirty="0">
                  <a:solidFill>
                    <a:srgbClr val="1555C2"/>
                  </a:solidFill>
                  <a:latin typeface="+mn-lt"/>
                  <a:ea typeface="+mn-ea"/>
                  <a:cs typeface="+mn-cs"/>
                </a:rPr>
                <a:t>SQL</a:t>
              </a:r>
              <a:endParaRPr lang="en-US" sz="1050" dirty="0">
                <a:solidFill>
                  <a:srgbClr val="1555C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05400" y="4914900"/>
              <a:ext cx="37719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E3D8F5"/>
              </a:solidFill>
            </a:ln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19700" y="5029200"/>
              <a:ext cx="3543300" cy="1952625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5219700" y="5029200"/>
              <a:ext cx="35433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326380" y="7070725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A6 · 报表设计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34924" y="7121525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7928C8"/>
                  </a:solidFill>
                  <a:latin typeface="+mn-lt"/>
                  <a:ea typeface="+mn-ea"/>
                  <a:cs typeface="+mn-cs"/>
                </a:rPr>
                <a:t>表样/取数/差异</a:t>
              </a:r>
              <a:endParaRPr lang="zh-CN" sz="1050" dirty="0">
                <a:solidFill>
                  <a:srgbClr val="7928C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182100" y="4914900"/>
              <a:ext cx="37719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DED7F1"/>
              </a:solidFill>
            </a:ln>
          </p:spPr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96400" y="5029200"/>
              <a:ext cx="3543300" cy="1952625"/>
            </a:xfrm>
            <a:prstGeom prst="rect">
              <a:avLst/>
            </a:prstGeom>
          </p:spPr>
        </p:pic>
        <p:sp>
          <p:nvSpPr>
            <p:cNvPr id="51" name="Rectangle 51"/>
            <p:cNvSpPr/>
            <p:nvPr/>
          </p:nvSpPr>
          <p:spPr>
            <a:xfrm>
              <a:off x="9296400" y="5029200"/>
              <a:ext cx="35433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03080" y="7070725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A7 · 报文生成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92130" y="7121525"/>
              <a:ext cx="12337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5B21B6"/>
                  </a:solidFill>
                  <a:latin typeface="+mn-lt"/>
                  <a:ea typeface="+mn-ea"/>
                  <a:cs typeface="+mn-cs"/>
                </a:rPr>
                <a:t>XML/JSON/一致性</a:t>
              </a:r>
              <a:endParaRPr lang="zh-CN" sz="1050" dirty="0">
                <a:solidFill>
                  <a:srgbClr val="5B21B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3258800" y="4914900"/>
              <a:ext cx="4000500" cy="24955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6192">
              <a:solidFill>
                <a:srgbClr val="D8EADF"/>
              </a:solidFill>
            </a:ln>
          </p:spPr>
        </p:sp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486433" y="5029200"/>
              <a:ext cx="3545235" cy="1952625"/>
            </a:xfrm>
            <a:prstGeom prst="rect">
              <a:avLst/>
            </a:prstGeom>
          </p:spPr>
        </p:pic>
        <p:sp>
          <p:nvSpPr>
            <p:cNvPr id="56" name="Rectangle 56"/>
            <p:cNvSpPr/>
            <p:nvPr/>
          </p:nvSpPr>
          <p:spPr>
            <a:xfrm>
              <a:off x="13373100" y="5029200"/>
              <a:ext cx="3771900" cy="1952625"/>
            </a:xfrm>
            <a:prstGeom prst="roundRect">
              <a:avLst>
                <a:gd name="adj" fmla="val 3415"/>
              </a:avLst>
            </a:prstGeom>
            <a:noFill/>
            <a:ln w="9525">
              <a:solidFill>
                <a:srgbClr val="E2E5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3479780" y="7070725"/>
              <a:ext cx="1327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A8 · 质量评审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5316924" y="7121525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050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测试/证据/归档</a:t>
              </a:r>
              <a:endParaRPr lang="zh-CN" sz="1050" dirty="0">
                <a:solidFill>
                  <a:srgbClr val="15803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6497300" y="506730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6608075" y="5114925"/>
              <a:ext cx="3499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98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卡点3</a:t>
              </a:r>
              <a:endParaRPr lang="zh-CN" sz="98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ag-a0"/>
          <p:cNvGrpSpPr/>
          <p:nvPr/>
        </p:nvGrpSpPr>
        <p:grpSpPr>
          <a:xfrm>
            <a:off x="1028700" y="7753350"/>
            <a:ext cx="16230600" cy="647700"/>
            <a:chOff x="1028700" y="7753350"/>
            <a:chExt cx="16230600" cy="647700"/>
          </a:xfrm>
        </p:grpSpPr>
        <p:sp>
          <p:nvSpPr>
            <p:cNvPr id="62" name="Rectangle 62"/>
            <p:cNvSpPr/>
            <p:nvPr/>
          </p:nvSpPr>
          <p:spPr>
            <a:xfrm>
              <a:off x="1028700" y="7753350"/>
              <a:ext cx="16230600" cy="647700"/>
            </a:xfrm>
            <a:prstGeom prst="roundRect">
              <a:avLst>
                <a:gd name="adj" fmla="val 19118"/>
              </a:avLst>
            </a:prstGeom>
            <a:gradFill>
              <a:gsLst>
                <a:gs pos="0">
                  <a:srgbClr val="0B3D96"/>
                </a:gs>
                <a:gs pos="100000">
                  <a:srgbClr val="49097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324356" y="7927975"/>
              <a:ext cx="13501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A0 · 编排层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964561" y="7956550"/>
              <a:ext cx="73801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任务拆解　·　上下文装配　·　Agent路由　·　卡点派发　·　失败恢复　·　审计留痕</a:t>
              </a:r>
              <a:endParaRPr lang="zh-CN" sz="142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5205837" y="7981950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80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一个任务，多专业协作</a:t>
              </a:r>
              <a:endParaRPr lang="zh-CN" sz="1280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1" name="ag-note"/>
          <p:cNvGrpSpPr/>
          <p:nvPr/>
        </p:nvGrpSpPr>
        <p:grpSpPr>
          <a:xfrm>
            <a:off x="1028700" y="8553450"/>
            <a:ext cx="16230600" cy="800100"/>
            <a:chOff x="1028700" y="8553450"/>
            <a:chExt cx="16230600" cy="800100"/>
          </a:xfrm>
        </p:grpSpPr>
        <p:sp>
          <p:nvSpPr>
            <p:cNvPr id="67" name="Rectangle 67"/>
            <p:cNvSpPr/>
            <p:nvPr/>
          </p:nvSpPr>
          <p:spPr>
            <a:xfrm>
              <a:off x="1028700" y="8553450"/>
              <a:ext cx="16230600" cy="800100"/>
            </a:xfrm>
            <a:prstGeom prst="roundRect">
              <a:avLst>
                <a:gd name="adj" fmla="val 13095"/>
              </a:avLst>
            </a:prstGeom>
            <a:solidFill>
              <a:srgbClr val="FFFFFF"/>
            </a:solidFill>
            <a:ln w="13335">
              <a:solidFill>
                <a:srgbClr val="D8E3F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288542" y="8674100"/>
              <a:ext cx="25728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为什么不做“一个万能Agent”？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222623" y="8686800"/>
              <a:ext cx="82840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专业任务需要专业上下文、工具与验收条件；拆开后，每一步可复用、可替换、可审查，失败也能局部回退。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/>
            <p:nvPr/>
          </p:nvSpPr>
          <p:spPr>
            <a:xfrm>
              <a:off x="1289304" y="9010650"/>
              <a:ext cx="7709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7394D"/>
                  </a:solidFill>
                  <a:latin typeface="Arial"/>
                  <a:ea typeface="Microsoft YaHei"/>
                  <a:cs typeface="Arial"/>
                </a:rPr>
                <a:t>界面与数字来自当前研发与项目实践环境；场景参考金租“一表通”，不代表所有机构；具体能力以项目验证为准。</a:t>
              </a:r>
            </a:p>
          </p:txBody>
        </p:sp>
      </p:grpSp>
      <p:grpSp>
        <p:nvGrpSpPr>
          <p:cNvPr id="74" name="ag-footer"/>
          <p:cNvGrpSpPr/>
          <p:nvPr/>
        </p:nvGrpSpPr>
        <p:grpSpPr>
          <a:xfrm>
            <a:off x="1021461" y="9642475"/>
            <a:ext cx="16245078" cy="278702"/>
            <a:chOff x="1021461" y="9642475"/>
            <a:chExt cx="1624507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1021461" y="9642475"/>
              <a:ext cx="43223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EsXWork 专业空间 · A1–A8专业Agent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6611674" y="9642475"/>
              <a:ext cx="654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42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20 / 24</a:t>
              </a:r>
              <a:endParaRPr lang="zh-CN" sz="142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6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10"/>
                            </p:stCondLst>
                            <p:childTnLst>
                              <p:par>
                                <p:cTn id="21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760"/>
                            </p:stCondLst>
                            <p:childTnLst>
                              <p:par>
                                <p:cTn id="28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9" dur="450" fill="hold"/>
                                        <p:tgtEl>
                                          <p:spTgt spid="66"/>
                                        </p:tgtEl>
                                      </p:cBhvr>
                                      <p:by x="150000" y="150000"/>
                                      <p:to x="102000" y="10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36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rn-grid"/>
          <p:cNvSpPr/>
          <p:nvPr/>
        </p:nvSpPr>
        <p:spPr>
          <a:xfrm>
            <a:off x="1028700" y="1866900"/>
            <a:ext cx="16230600" cy="7277100"/>
          </a:xfrm>
          <a:custGeom>
            <a:avLst/>
            <a:gdLst/>
            <a:ahLst/>
            <a:cxnLst/>
            <a:rect l="l" t="t" r="r" b="b"/>
            <a:pathLst>
              <a:path w="16230600" h="7277100">
                <a:moveTo>
                  <a:pt x="0" y="133350"/>
                </a:moveTo>
                <a:lnTo>
                  <a:pt x="16230600" y="133350"/>
                </a:lnTo>
                <a:moveTo>
                  <a:pt x="0" y="3867150"/>
                </a:moveTo>
                <a:lnTo>
                  <a:pt x="16230600" y="3867150"/>
                </a:lnTo>
                <a:moveTo>
                  <a:pt x="0" y="5676900"/>
                </a:moveTo>
                <a:lnTo>
                  <a:pt x="16230600" y="5676900"/>
                </a:lnTo>
                <a:moveTo>
                  <a:pt x="0" y="7181850"/>
                </a:moveTo>
                <a:lnTo>
                  <a:pt x="16230600" y="7181850"/>
                </a:lnTo>
                <a:moveTo>
                  <a:pt x="2971800" y="0"/>
                </a:moveTo>
                <a:lnTo>
                  <a:pt x="2971800" y="7277100"/>
                </a:lnTo>
                <a:moveTo>
                  <a:pt x="6400800" y="0"/>
                </a:moveTo>
                <a:lnTo>
                  <a:pt x="6400800" y="7277100"/>
                </a:lnTo>
                <a:moveTo>
                  <a:pt x="9829800" y="0"/>
                </a:moveTo>
                <a:lnTo>
                  <a:pt x="9829800" y="7277100"/>
                </a:lnTo>
                <a:moveTo>
                  <a:pt x="13258800" y="0"/>
                </a:moveTo>
                <a:lnTo>
                  <a:pt x="13258800" y="72771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jrn-accent"/>
          <p:cNvSpPr/>
          <p:nvPr/>
        </p:nvSpPr>
        <p:spPr>
          <a:xfrm>
            <a:off x="1028700" y="18669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jrn-title"/>
          <p:cNvGrpSpPr/>
          <p:nvPr/>
        </p:nvGrpSpPr>
        <p:grpSpPr>
          <a:xfrm>
            <a:off x="1009650" y="412750"/>
            <a:ext cx="15849219" cy="1456944"/>
            <a:chOff x="1009650" y="412750"/>
            <a:chExt cx="15849219" cy="1456944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12750"/>
              <a:ext cx="7319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21 / EsXWork 专业空间 · ONE NEW REPORT JOURNEY</a:t>
              </a:r>
              <a:endParaRPr lang="zh-CN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23900"/>
              <a:ext cx="1584921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一个新增报表的旅程：从一条制度条款，到一套可评审的交付</a:t>
              </a:r>
              <a:endParaRPr lang="zh-CN" sz="4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556" y="1517650"/>
              <a:ext cx="9760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主线A1→A3→A4→A5→A7→A8；A2与A6按需侧向支持。每一步都有输入、产物、门禁与回退。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jrn-spine"/>
          <p:cNvGrpSpPr/>
          <p:nvPr/>
        </p:nvGrpSpPr>
        <p:grpSpPr>
          <a:xfrm>
            <a:off x="1028700" y="2295525"/>
            <a:ext cx="16230600" cy="3228975"/>
            <a:chOff x="1028700" y="2295525"/>
            <a:chExt cx="16230600" cy="3228975"/>
          </a:xfrm>
        </p:grpSpPr>
        <p:sp>
          <p:nvSpPr>
            <p:cNvPr id="8" name="Line 8"/>
            <p:cNvSpPr/>
            <p:nvPr/>
          </p:nvSpPr>
          <p:spPr>
            <a:xfrm>
              <a:off x="1390650" y="2295525"/>
              <a:ext cx="154876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Rectangle 9"/>
            <p:cNvSpPr/>
            <p:nvPr/>
          </p:nvSpPr>
          <p:spPr>
            <a:xfrm>
              <a:off x="1028700" y="2533650"/>
              <a:ext cx="2457450" cy="29908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17145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28700" y="2533650"/>
              <a:ext cx="2457450" cy="666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29487" y="2679700"/>
              <a:ext cx="15217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A1 · 制度解读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2535" y="3041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1773" y="3248025"/>
              <a:ext cx="15896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制度原文 / 现行口径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2535" y="3575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产物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1773" y="3781425"/>
              <a:ext cx="15896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变更清单 / 口径草案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238250" y="4152900"/>
              <a:ext cx="2038350" cy="514350"/>
            </a:xfrm>
            <a:prstGeom prst="roundRect">
              <a:avLst>
                <a:gd name="adj" fmla="val 12963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658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门禁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65504" y="44196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业务口径确认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38250" y="4762500"/>
              <a:ext cx="2038350" cy="438150"/>
            </a:xfrm>
            <a:prstGeom prst="roundRect">
              <a:avLst>
                <a:gd name="adj" fmla="val 15217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65504" y="4876800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回退：制度/口径基线</a:t>
              </a:r>
              <a:endParaRPr lang="zh-CN" sz="1200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76650" y="2533650"/>
              <a:ext cx="2457450" cy="29908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76650" y="2533650"/>
              <a:ext cx="2457450" cy="66675"/>
            </a:xfrm>
            <a:prstGeom prst="roundRect">
              <a:avLst>
                <a:gd name="adj" fmla="val 50000"/>
              </a:avLst>
            </a:prstGeom>
            <a:solidFill>
              <a:srgbClr val="3F78D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77437" y="2679700"/>
              <a:ext cx="15217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A3 · 模型设计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80485" y="3041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79723" y="3248025"/>
              <a:ext cx="17619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确认口径 / 元数据血缘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80485" y="3575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产物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79723" y="3781425"/>
              <a:ext cx="176600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映射 / DDL / 回退脚本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86200" y="4152900"/>
              <a:ext cx="2038350" cy="514350"/>
            </a:xfrm>
            <a:prstGeom prst="roundRect">
              <a:avLst>
                <a:gd name="adj" fmla="val 12963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138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门禁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13454" y="44196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数据模型评审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86200" y="4762500"/>
              <a:ext cx="2038350" cy="438150"/>
            </a:xfrm>
            <a:prstGeom prst="roundRect">
              <a:avLst>
                <a:gd name="adj" fmla="val 15217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13454" y="4876800"/>
              <a:ext cx="14246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回退：DDL回退脚本</a:t>
              </a:r>
              <a:endParaRPr lang="zh-CN" sz="1200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24600" y="2533650"/>
              <a:ext cx="2457450" cy="29908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24600" y="2533650"/>
              <a:ext cx="2457450" cy="66675"/>
            </a:xfrm>
            <a:prstGeom prst="roundRect">
              <a:avLst>
                <a:gd name="adj" fmla="val 50000"/>
              </a:avLst>
            </a:prstGeom>
            <a:solidFill>
              <a:srgbClr val="087F9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5387" y="2679700"/>
              <a:ext cx="14824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A4 · ETL生成</a:t>
              </a:r>
              <a:endParaRPr lang="zh-CN" sz="172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8435" y="3041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27673" y="3248025"/>
              <a:ext cx="15896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模型映射 / 加工规范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28435" y="3575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产物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7673" y="3781425"/>
              <a:ext cx="17581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ETL / SQL / 依赖编排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34150" y="4152900"/>
              <a:ext cx="2038350" cy="514350"/>
            </a:xfrm>
            <a:prstGeom prst="roundRect">
              <a:avLst>
                <a:gd name="adj" fmla="val 12963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617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门禁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404" y="44196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数据作业评审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34150" y="4762500"/>
              <a:ext cx="2038350" cy="438150"/>
            </a:xfrm>
            <a:prstGeom prst="roundRect">
              <a:avLst>
                <a:gd name="adj" fmla="val 15217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61404" y="4876800"/>
              <a:ext cx="1518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回退：ETL/编排版本</a:t>
              </a:r>
              <a:endParaRPr lang="zh-CN" sz="1200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72550" y="2533650"/>
              <a:ext cx="2457450" cy="29908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972550" y="2533650"/>
              <a:ext cx="2457450" cy="666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73337" y="2679700"/>
              <a:ext cx="15217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A5 · 校验规则</a:t>
              </a:r>
              <a:endParaRPr lang="zh-CN" sz="17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76385" y="3041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75623" y="3248025"/>
              <a:ext cx="14173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规则清单 / 表结构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76385" y="3575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产物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75623" y="3781425"/>
              <a:ext cx="14207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校验SQL / 规则库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82100" y="4152900"/>
              <a:ext cx="2038350" cy="514350"/>
            </a:xfrm>
            <a:prstGeom prst="roundRect">
              <a:avLst>
                <a:gd name="adj" fmla="val 12963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097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门禁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09354" y="44196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规则预期确认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182100" y="4762500"/>
              <a:ext cx="2038350" cy="438150"/>
            </a:xfrm>
            <a:prstGeom prst="roundRect">
              <a:avLst>
                <a:gd name="adj" fmla="val 15217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309354" y="48768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回退：规则版本</a:t>
              </a:r>
              <a:endParaRPr lang="zh-CN" sz="1200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1620500" y="2533650"/>
              <a:ext cx="2457450" cy="29908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14288">
              <a:solidFill>
                <a:srgbClr val="CFE0F5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1620500" y="2533650"/>
              <a:ext cx="2457450" cy="66675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821287" y="2679700"/>
              <a:ext cx="15217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A7 · 报文生成</a:t>
              </a:r>
              <a:endParaRPr lang="zh-CN" sz="172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824335" y="3041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823573" y="3248025"/>
              <a:ext cx="121199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报表结果 / XSD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824335" y="3575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产物</a:t>
              </a:r>
              <a:endParaRPr lang="zh-CN" sz="112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823573" y="3781425"/>
              <a:ext cx="14173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报文 / 一致性证据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830050" y="4152900"/>
              <a:ext cx="2038350" cy="514350"/>
            </a:xfrm>
            <a:prstGeom prst="roundRect">
              <a:avLst>
                <a:gd name="adj" fmla="val 12963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9576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门禁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957304" y="441960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报验 / 一致性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1830050" y="4762500"/>
              <a:ext cx="2038350" cy="438150"/>
            </a:xfrm>
            <a:prstGeom prst="roundRect">
              <a:avLst>
                <a:gd name="adj" fmla="val 15217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957304" y="48768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回退：报文版本</a:t>
              </a:r>
              <a:endParaRPr lang="zh-CN" sz="1200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4268450" y="2533650"/>
              <a:ext cx="2990850" cy="2990850"/>
            </a:xfrm>
            <a:prstGeom prst="roundRect">
              <a:avLst>
                <a:gd name="adj" fmla="val 2866"/>
              </a:avLst>
            </a:prstGeom>
            <a:solidFill>
              <a:srgbClr val="F4EDFC"/>
            </a:solidFill>
            <a:ln w="19050">
              <a:solidFill>
                <a:srgbClr val="D7B8F0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4268450" y="2533650"/>
              <a:ext cx="2990850" cy="66675"/>
            </a:xfrm>
            <a:prstGeom prst="roundRect">
              <a:avLst>
                <a:gd name="adj" fmla="val 50000"/>
              </a:avLst>
            </a:prstGeom>
            <a:solidFill>
              <a:srgbClr val="49097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4469237" y="2679700"/>
              <a:ext cx="15217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A8 · 质量评审</a:t>
              </a:r>
              <a:endParaRPr lang="zh-CN" sz="172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4472285" y="30416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12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4471523" y="3248025"/>
              <a:ext cx="13752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A1–A7全链交付物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472285" y="3575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产物</a:t>
              </a:r>
              <a:endParaRPr lang="zh-CN" sz="112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4471523" y="3781425"/>
              <a:ext cx="14431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 / 评审 / 归档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4478000" y="4152900"/>
              <a:ext cx="2571750" cy="514350"/>
            </a:xfrm>
            <a:prstGeom prst="roundRect">
              <a:avLst>
                <a:gd name="adj" fmla="val 12963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46056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门禁</a:t>
              </a:r>
              <a:endParaRPr lang="zh-CN" sz="11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4605254" y="441960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安全 / 发布确认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4478000" y="4762500"/>
              <a:ext cx="2571750" cy="43815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4605254" y="4876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回退：问题闭环清单</a:t>
              </a:r>
              <a:endParaRPr lang="zh-CN" sz="1200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Freeform 81"/>
            <p:cNvSpPr/>
            <p:nvPr/>
          </p:nvSpPr>
          <p:spPr>
            <a:xfrm>
              <a:off x="3486150" y="354330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52400" y="0"/>
                  </a:lnTo>
                  <a:moveTo>
                    <a:pt x="2647950" y="0"/>
                  </a:moveTo>
                  <a:lnTo>
                    <a:pt x="2800350" y="0"/>
                  </a:lnTo>
                  <a:moveTo>
                    <a:pt x="5295900" y="0"/>
                  </a:moveTo>
                  <a:lnTo>
                    <a:pt x="5448300" y="0"/>
                  </a:lnTo>
                  <a:moveTo>
                    <a:pt x="7943850" y="0"/>
                  </a:moveTo>
                  <a:lnTo>
                    <a:pt x="8096250" y="0"/>
                  </a:lnTo>
                  <a:moveTo>
                    <a:pt x="10591800" y="0"/>
                  </a:moveTo>
                  <a:lnTo>
                    <a:pt x="10744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95" name="jrn-side"/>
          <p:cNvGrpSpPr/>
          <p:nvPr/>
        </p:nvGrpSpPr>
        <p:grpSpPr>
          <a:xfrm>
            <a:off x="1028700" y="5619750"/>
            <a:ext cx="16230600" cy="1524000"/>
            <a:chOff x="1028700" y="5619750"/>
            <a:chExt cx="16230600" cy="1524000"/>
          </a:xfrm>
        </p:grpSpPr>
        <p:sp>
          <p:nvSpPr>
            <p:cNvPr id="83" name="Rectangle 83"/>
            <p:cNvSpPr/>
            <p:nvPr/>
          </p:nvSpPr>
          <p:spPr>
            <a:xfrm>
              <a:off x="1028700" y="5715000"/>
              <a:ext cx="7715250" cy="1428750"/>
            </a:xfrm>
            <a:prstGeom prst="roundRect">
              <a:avLst>
                <a:gd name="adj" fmla="val 7333"/>
              </a:avLst>
            </a:prstGeom>
            <a:solidFill>
              <a:srgbClr val="EDF7FA"/>
            </a:solidFill>
            <a:ln w="14288">
              <a:solidFill>
                <a:srgbClr val="CFE6EE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287018" y="5854700"/>
              <a:ext cx="2422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侧向支持 A2 · 智能问数</a:t>
              </a:r>
              <a:endParaRPr lang="zh-CN" sz="1650" b="1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288542" y="6207125"/>
              <a:ext cx="4847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指标口径 · 血缘链路 · 历史变更 · 影响范围 · 数据异常解释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288923" y="6524625"/>
              <a:ext cx="49495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在A1口径澄清、A3模型映射、A5校验预期和A8评审时按需调用。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289304" y="68008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不改变主链产物与责任人，只补充解释证据。</a:t>
              </a:r>
              <a:endParaRPr lang="zh-CN" sz="120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Freeform 88"/>
            <p:cNvSpPr/>
            <p:nvPr/>
          </p:nvSpPr>
          <p:spPr>
            <a:xfrm>
              <a:off x="4857750" y="56197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49097F"/>
              </a:solidFill>
              <a:custDash>
                <a:ds d="300000" sp="250000"/>
              </a:custDash>
              <a:tailEnd type="triangle" w="lg" len="lg"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010650" y="5715000"/>
              <a:ext cx="8248650" cy="1428750"/>
            </a:xfrm>
            <a:prstGeom prst="roundRect">
              <a:avLst>
                <a:gd name="adj" fmla="val 7333"/>
              </a:avLst>
            </a:prstGeom>
            <a:solidFill>
              <a:srgbClr val="F9F6FD"/>
            </a:solidFill>
            <a:ln w="14288">
              <a:solidFill>
                <a:srgbClr val="D7B8F0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268968" y="5854700"/>
              <a:ext cx="2422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侧向支持 A6 · 报表设计</a:t>
              </a:r>
              <a:endParaRPr lang="zh-CN" sz="1650" b="1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270492" y="6207125"/>
              <a:ext cx="4302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表样 · 单元格取数 · 汇总 · 差异对比 · 报表开发规范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270873" y="6524625"/>
              <a:ext cx="45769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在A5规则确认、A7报文映射和A8一致性检查时按场景启用。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271254" y="6800850"/>
              <a:ext cx="53693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报表只是变化链的结果，不是起点；A6负责结果形态，不替代口径与模型。</a:t>
              </a:r>
              <a:endParaRPr lang="zh-CN" sz="120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Freeform 94"/>
            <p:cNvSpPr/>
            <p:nvPr/>
          </p:nvSpPr>
          <p:spPr>
            <a:xfrm>
              <a:off x="12858750" y="56197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49097F"/>
              </a:solidFill>
              <a:custDash>
                <a:ds d="300000" sp="250000"/>
              </a:custDash>
              <a:tailEnd type="triangle" w="lg" len="lg"/>
            </a:ln>
          </p:spPr>
        </p:sp>
      </p:grpSp>
      <p:grpSp>
        <p:nvGrpSpPr>
          <p:cNvPr id="108" name="jrn-controls"/>
          <p:cNvGrpSpPr/>
          <p:nvPr/>
        </p:nvGrpSpPr>
        <p:grpSpPr>
          <a:xfrm>
            <a:off x="1028700" y="7486650"/>
            <a:ext cx="16230600" cy="1276350"/>
            <a:chOff x="1028700" y="7486650"/>
            <a:chExt cx="16230600" cy="1276350"/>
          </a:xfrm>
        </p:grpSpPr>
        <p:sp>
          <p:nvSpPr>
            <p:cNvPr id="96" name="Rectangle 96"/>
            <p:cNvSpPr/>
            <p:nvPr/>
          </p:nvSpPr>
          <p:spPr>
            <a:xfrm>
              <a:off x="1028700" y="7486650"/>
              <a:ext cx="16230600" cy="1276350"/>
            </a:xfrm>
            <a:prstGeom prst="roundRect">
              <a:avLst>
                <a:gd name="adj" fmla="val 8955"/>
              </a:avLst>
            </a:prstGeom>
            <a:solidFill>
              <a:srgbClr val="FFFFFF"/>
            </a:solidFill>
            <a:ln w="14288">
              <a:solidFill>
                <a:srgbClr val="D8E3F3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306068" y="7635875"/>
              <a:ext cx="20648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A0编排贯穿整条旅程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031742" y="7673975"/>
              <a:ext cx="5602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任务拆解 · 上下文分发 · 产物交接 · 卡点催办 · 失败重试 · 版本归档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307592" y="80168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三道必过人审：</a:t>
              </a:r>
              <a:endParaRPr lang="zh-CN" sz="135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028950" y="7962900"/>
              <a:ext cx="215265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3704002" y="802957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1 业务口径</a:t>
              </a:r>
              <a:endParaRPr lang="zh-CN" sz="12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334000" y="7962900"/>
              <a:ext cx="215265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009052" y="802957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2 模型评审</a:t>
              </a:r>
              <a:endParaRPr lang="zh-CN" sz="12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639050" y="7962900"/>
              <a:ext cx="2152650" cy="323850"/>
            </a:xfrm>
            <a:prstGeom prst="roundRect">
              <a:avLst>
                <a:gd name="adj" fmla="val 50000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314102" y="802957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3 发布确认</a:t>
              </a:r>
              <a:endParaRPr lang="zh-CN" sz="120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166223" y="8029575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每次通过、修改、驳回都进入审计轨迹。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308354" y="8372475"/>
              <a:ext cx="8784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新增报表、表样变更、填报说明调整、报表停用均可复用同一套“识别—确认—生成—验证—归档”结构；具体作业按场景编排。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0" name="jrn-takeaway"/>
          <p:cNvGrpSpPr/>
          <p:nvPr/>
        </p:nvGrpSpPr>
        <p:grpSpPr>
          <a:xfrm>
            <a:off x="1017651" y="9029700"/>
            <a:ext cx="8561540" cy="426339"/>
            <a:chOff x="1017651" y="9029700"/>
            <a:chExt cx="8561540" cy="426339"/>
          </a:xfrm>
        </p:grpSpPr>
        <p:sp>
          <p:nvSpPr>
            <p:cNvPr id="109" name="TextBox 109"/>
            <p:cNvSpPr txBox="1"/>
            <p:nvPr/>
          </p:nvSpPr>
          <p:spPr>
            <a:xfrm>
              <a:off x="1017651" y="9029700"/>
              <a:ext cx="856154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AI把每一步变快，更把“每一步能否交接”变成可验证的工程问题。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jrn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111" name="TextBox 111"/>
            <p:cNvSpPr txBox="1"/>
            <p:nvPr/>
          </p:nvSpPr>
          <p:spPr>
            <a:xfrm>
              <a:off x="1021080" y="9623425"/>
              <a:ext cx="4397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EsXWork AI办公平台 · 监管专业交付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21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:push/>
      </p:transition>
    </mc:Choice>
    <mc:Fallback>
      <p:transition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30"/>
                            </p:stCondLst>
                            <p:childTnLst>
                              <p:par>
                                <p:cTn id="17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180"/>
                            </p:stCondLst>
                            <p:childTnLst>
                              <p:par>
                                <p:cTn id="22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-grid"/>
          <p:cNvSpPr/>
          <p:nvPr/>
        </p:nvSpPr>
        <p:spPr>
          <a:xfrm>
            <a:off x="1028700" y="1924050"/>
            <a:ext cx="16230600" cy="7219950"/>
          </a:xfrm>
          <a:custGeom>
            <a:avLst/>
            <a:gdLst/>
            <a:ahLst/>
            <a:cxnLst/>
            <a:rect l="l" t="t" r="r" b="b"/>
            <a:pathLst>
              <a:path w="16230600" h="7219950">
                <a:moveTo>
                  <a:pt x="0" y="133350"/>
                </a:moveTo>
                <a:lnTo>
                  <a:pt x="16230600" y="133350"/>
                </a:lnTo>
                <a:moveTo>
                  <a:pt x="0" y="1504950"/>
                </a:moveTo>
                <a:lnTo>
                  <a:pt x="16230600" y="1504950"/>
                </a:lnTo>
                <a:moveTo>
                  <a:pt x="0" y="3105150"/>
                </a:moveTo>
                <a:lnTo>
                  <a:pt x="16230600" y="3105150"/>
                </a:lnTo>
                <a:moveTo>
                  <a:pt x="0" y="4705350"/>
                </a:moveTo>
                <a:lnTo>
                  <a:pt x="16230600" y="4705350"/>
                </a:lnTo>
                <a:moveTo>
                  <a:pt x="0" y="6096000"/>
                </a:moveTo>
                <a:lnTo>
                  <a:pt x="16230600" y="6096000"/>
                </a:lnTo>
                <a:moveTo>
                  <a:pt x="0" y="7048500"/>
                </a:moveTo>
                <a:lnTo>
                  <a:pt x="16230600" y="7048500"/>
                </a:lnTo>
                <a:moveTo>
                  <a:pt x="5257800" y="0"/>
                </a:moveTo>
                <a:lnTo>
                  <a:pt x="5257800" y="7219950"/>
                </a:lnTo>
                <a:moveTo>
                  <a:pt x="10972800" y="0"/>
                </a:moveTo>
                <a:lnTo>
                  <a:pt x="10972800" y="721995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tr-accent"/>
          <p:cNvSpPr/>
          <p:nvPr/>
        </p:nvSpPr>
        <p:spPr>
          <a:xfrm>
            <a:off x="1028700" y="192405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tr-title"/>
          <p:cNvGrpSpPr/>
          <p:nvPr/>
        </p:nvGrpSpPr>
        <p:grpSpPr>
          <a:xfrm>
            <a:off x="1009650" y="419100"/>
            <a:ext cx="12725171" cy="1491615"/>
            <a:chOff x="1009650" y="419100"/>
            <a:chExt cx="12725171" cy="1491615"/>
          </a:xfrm>
        </p:grpSpPr>
        <p:sp>
          <p:nvSpPr>
            <p:cNvPr id="4" name="TextBox 4"/>
            <p:cNvSpPr txBox="1"/>
            <p:nvPr/>
          </p:nvSpPr>
          <p:spPr>
            <a:xfrm>
              <a:off x="1019556" y="419100"/>
              <a:ext cx="34683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22 / TRUST, BUT VERIFY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50" y="730250"/>
              <a:ext cx="1272517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信任但验证：AI做标准化，人守不可转移的责任</a:t>
              </a:r>
              <a:endParaRPr lang="zh-CN" sz="4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9175" y="1543050"/>
              <a:ext cx="935743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AI可以提高一致性和速度，但不能替代业务目的、风险判断、签字责任与组织后果。</a:t>
              </a:r>
              <a:endParaRPr lang="zh-CN" sz="18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tr-ai"/>
          <p:cNvGrpSpPr/>
          <p:nvPr/>
        </p:nvGrpSpPr>
        <p:grpSpPr>
          <a:xfrm>
            <a:off x="1028700" y="2152650"/>
            <a:ext cx="5257800" cy="3714750"/>
            <a:chOff x="1028700" y="2152650"/>
            <a:chExt cx="5257800" cy="3714750"/>
          </a:xfrm>
        </p:grpSpPr>
        <p:sp>
          <p:nvSpPr>
            <p:cNvPr id="8" name="Rectangle 8"/>
            <p:cNvSpPr/>
            <p:nvPr/>
          </p:nvSpPr>
          <p:spPr>
            <a:xfrm>
              <a:off x="1028700" y="2152650"/>
              <a:ext cx="5257800" cy="3714750"/>
            </a:xfrm>
            <a:prstGeom prst="roundRect">
              <a:avLst>
                <a:gd name="adj" fmla="val 3590"/>
              </a:avLst>
            </a:prstGeom>
            <a:solidFill>
              <a:srgbClr val="FFFFFF"/>
            </a:solidFill>
            <a:ln w="17145">
              <a:solidFill>
                <a:srgbClr val="BBD4F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7592" y="2387600"/>
              <a:ext cx="1703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/ STANDARDIZE</a:t>
              </a:r>
              <a:endParaRPr lang="en-US" sz="135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3782" y="26987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把可规则化的工作做稳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7592" y="30924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快、全、一致，但仍是候选与辅助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314450" y="34480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14288">
              <a:solidFill>
                <a:srgbClr val="EAF1F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06830" y="3613150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结构化、摘要与初稿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6830" y="3956050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规范、格式与明显缺陷检查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06830" y="429895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影响范围与异常线索初筛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06830" y="4641850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测试用例、回归与证据整理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06830" y="498475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跨版本差异与一致性比对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314450" y="5391150"/>
              <a:ext cx="4686300" cy="266700"/>
            </a:xfrm>
            <a:prstGeom prst="roundRect">
              <a:avLst>
                <a:gd name="adj" fmla="val 5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02596" y="5432425"/>
              <a:ext cx="27100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AI的强项：高吞吐、可重复、不遗忘规则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tr-gate"/>
          <p:cNvGrpSpPr/>
          <p:nvPr/>
        </p:nvGrpSpPr>
        <p:grpSpPr>
          <a:xfrm>
            <a:off x="7124700" y="2457450"/>
            <a:ext cx="4038600" cy="3184017"/>
            <a:chOff x="7124700" y="2457450"/>
            <a:chExt cx="4038600" cy="3184017"/>
          </a:xfrm>
        </p:grpSpPr>
        <p:sp>
          <p:nvSpPr>
            <p:cNvPr id="21" name="TextBox 21"/>
            <p:cNvSpPr txBox="1"/>
            <p:nvPr/>
          </p:nvSpPr>
          <p:spPr>
            <a:xfrm>
              <a:off x="7736967" y="2457450"/>
              <a:ext cx="281406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80" b="1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同一套验证，不从“相信”开始</a:t>
              </a:r>
              <a:endParaRPr lang="zh-CN" sz="1580" b="1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24700" y="2933700"/>
              <a:ext cx="4038600" cy="2266950"/>
            </a:xfrm>
            <a:prstGeom prst="roundRect">
              <a:avLst>
                <a:gd name="adj" fmla="val 7563"/>
              </a:avLst>
            </a:prstGeom>
            <a:solidFill>
              <a:srgbClr val="FFF9FA"/>
            </a:solidFill>
            <a:ln w="20955">
              <a:solidFill>
                <a:schemeClr val="accent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458200" y="3124200"/>
              <a:ext cx="1371600" cy="1371600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B7394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50630" y="34988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14816" y="3895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E3E7"/>
                  </a:solidFill>
                  <a:latin typeface="+mn-lt"/>
                  <a:ea typeface="+mn-ea"/>
                  <a:cs typeface="+mn-cs"/>
                </a:rPr>
                <a:t>证据优先</a:t>
              </a:r>
              <a:endParaRPr lang="zh-CN" sz="1200" dirty="0">
                <a:solidFill>
                  <a:srgbClr val="FFE3E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42073" y="4552950"/>
              <a:ext cx="21754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依据可追溯　·　结果可复现</a:t>
              </a:r>
              <a:endParaRPr lang="zh-CN" sz="128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2073" y="4800600"/>
              <a:ext cx="21754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异常可停止　·　版本可回退</a:t>
              </a:r>
              <a:endParaRPr lang="zh-CN" sz="128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9144000" y="28384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300000" sp="250000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52006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49097F"/>
              </a:solidFill>
              <a:custDash>
                <a:ds d="300000" sp="250000"/>
              </a:custDash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20582" y="539115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验证后再交付</a:t>
              </a:r>
              <a:endParaRPr lang="zh-CN" sz="128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tr-human"/>
          <p:cNvGrpSpPr/>
          <p:nvPr/>
        </p:nvGrpSpPr>
        <p:grpSpPr>
          <a:xfrm>
            <a:off x="12001500" y="2152650"/>
            <a:ext cx="5257800" cy="3714750"/>
            <a:chOff x="12001500" y="2152650"/>
            <a:chExt cx="5257800" cy="3714750"/>
          </a:xfrm>
        </p:grpSpPr>
        <p:sp>
          <p:nvSpPr>
            <p:cNvPr id="32" name="Rectangle 32"/>
            <p:cNvSpPr/>
            <p:nvPr/>
          </p:nvSpPr>
          <p:spPr>
            <a:xfrm>
              <a:off x="12001500" y="2152650"/>
              <a:ext cx="5257800" cy="3714750"/>
            </a:xfrm>
            <a:prstGeom prst="roundRect">
              <a:avLst>
                <a:gd name="adj" fmla="val 3590"/>
              </a:avLst>
            </a:prstGeom>
            <a:solidFill>
              <a:srgbClr val="FFFFFF"/>
            </a:solidFill>
            <a:ln w="17145">
              <a:solidFill>
                <a:srgbClr val="D7B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280392" y="2387600"/>
              <a:ext cx="1482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spc="9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HUMAN / JUDGE</a:t>
              </a:r>
              <a:endParaRPr lang="en-US" sz="1350" spc="9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76582" y="269875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对目的、风险与后果负责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280392" y="30924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慢一点，但必须能解释与承担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12287250" y="34480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14288">
              <a:solidFill>
                <a:srgbClr val="F0E8F7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279630" y="3613150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业务规则是否成立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279630" y="395605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数据与模型假设是否合理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279630" y="4298950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安全边界与外部影响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279630" y="4641850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长期可维护、体验与组织后果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279630" y="4984750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签字、发布、外部沟通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2287250" y="5391150"/>
              <a:ext cx="4686300" cy="266700"/>
            </a:xfrm>
            <a:prstGeom prst="roundRect">
              <a:avLst>
                <a:gd name="adj" fmla="val 50000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267715" y="5432425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12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人的责任：目的、例外、边界与最终判断</a:t>
              </a:r>
              <a:endParaRPr lang="zh-CN" sz="112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tr-gates"/>
          <p:cNvGrpSpPr/>
          <p:nvPr/>
        </p:nvGrpSpPr>
        <p:grpSpPr>
          <a:xfrm>
            <a:off x="1020318" y="6292850"/>
            <a:ext cx="16238982" cy="1555750"/>
            <a:chOff x="1020318" y="6292850"/>
            <a:chExt cx="16238982" cy="1555750"/>
          </a:xfrm>
        </p:grpSpPr>
        <p:sp>
          <p:nvSpPr>
            <p:cNvPr id="45" name="TextBox 45"/>
            <p:cNvSpPr txBox="1"/>
            <p:nvPr/>
          </p:nvSpPr>
          <p:spPr>
            <a:xfrm>
              <a:off x="1020318" y="6292850"/>
              <a:ext cx="42715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跨研发与办公，三道“停下来想一想”的闸门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28700" y="6705600"/>
              <a:ext cx="5143500" cy="1143000"/>
            </a:xfrm>
            <a:prstGeom prst="roundRect">
              <a:avLst>
                <a:gd name="adj" fmla="val 8333"/>
              </a:avLst>
            </a:prstGeom>
            <a:solidFill>
              <a:srgbClr val="FFF2F3"/>
            </a:solidFill>
            <a:ln w="15240">
              <a:solidFill>
                <a:srgbClr val="F1C9C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05687" y="6851650"/>
              <a:ext cx="21245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闸门 1 · 目标与口径</a:t>
              </a:r>
              <a:endParaRPr lang="zh-CN" sz="17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07973" y="7239000"/>
              <a:ext cx="380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需求范围、业务口径、数据边界是否被正确理解？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08354" y="75057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典型：监管口径、系统改造范围、产品规则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57950" y="6705600"/>
              <a:ext cx="5143500" cy="1143000"/>
            </a:xfrm>
            <a:prstGeom prst="roundRect">
              <a:avLst>
                <a:gd name="adj" fmla="val 8333"/>
              </a:avLst>
            </a:prstGeom>
            <a:solidFill>
              <a:srgbClr val="FFF2F3"/>
            </a:solidFill>
            <a:ln w="15240">
              <a:solidFill>
                <a:srgbClr val="F1C9C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4937" y="6851650"/>
              <a:ext cx="21245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闸门 2 · 方案与影响</a:t>
              </a:r>
              <a:endParaRPr lang="zh-CN" sz="17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37223" y="7239000"/>
              <a:ext cx="3976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架构、模型、接口与流程变化是否可解释、可维护？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37604" y="75057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典型：模型评审、系统影响分析、权限设计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887200" y="6705600"/>
              <a:ext cx="5372100" cy="1143000"/>
            </a:xfrm>
            <a:prstGeom prst="roundRect">
              <a:avLst>
                <a:gd name="adj" fmla="val 8333"/>
              </a:avLst>
            </a:prstGeom>
            <a:solidFill>
              <a:srgbClr val="FFF2F3"/>
            </a:solidFill>
            <a:ln w="15240">
              <a:solidFill>
                <a:srgbClr val="F1C9C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164187" y="6851650"/>
              <a:ext cx="21245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闸门 3 · 发布与后果</a:t>
              </a:r>
              <a:endParaRPr lang="zh-CN" sz="1720" b="1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2166473" y="7239000"/>
              <a:ext cx="380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高风险动作是否经过授权，异常能否停止与回退？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166854" y="75057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7A5261"/>
                  </a:solidFill>
                  <a:latin typeface="+mn-lt"/>
                  <a:ea typeface="+mn-ea"/>
                  <a:cs typeface="+mn-cs"/>
                </a:rPr>
                <a:t>典型：资金、审批、删除、外部报送与发布</a:t>
              </a:r>
              <a:endParaRPr lang="zh-CN" sz="1200" dirty="0">
                <a:solidFill>
                  <a:srgbClr val="7A526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tr-rule"/>
          <p:cNvGrpSpPr/>
          <p:nvPr/>
        </p:nvGrpSpPr>
        <p:grpSpPr>
          <a:xfrm>
            <a:off x="1028700" y="8115300"/>
            <a:ext cx="16230600" cy="647700"/>
            <a:chOff x="1028700" y="8115300"/>
            <a:chExt cx="16230600" cy="647700"/>
          </a:xfrm>
        </p:grpSpPr>
        <p:sp>
          <p:nvSpPr>
            <p:cNvPr id="59" name="Rectangle 59"/>
            <p:cNvSpPr/>
            <p:nvPr/>
          </p:nvSpPr>
          <p:spPr>
            <a:xfrm>
              <a:off x="1028700" y="8115300"/>
              <a:ext cx="16230600" cy="647700"/>
            </a:xfrm>
            <a:prstGeom prst="roundRect">
              <a:avLst>
                <a:gd name="adj" fmla="val 19118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324356" y="8280400"/>
              <a:ext cx="7758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规则：AI可以发起候选，但不能绕过门禁；人能授权，也必须留下依据。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120755" y="8331200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350" dirty="0">
                  <a:solidFill>
                    <a:srgbClr val="BFD4F7"/>
                  </a:solidFill>
                  <a:latin typeface="+mn-lt"/>
                  <a:ea typeface="+mn-ea"/>
                  <a:cs typeface="+mn-cs"/>
                </a:rPr>
                <a:t>可停止 · 可解释 · 可回退 · 可追责</a:t>
              </a:r>
              <a:endParaRPr lang="zh-CN" sz="1350" dirty="0">
                <a:solidFill>
                  <a:srgbClr val="BFD4F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tr-takeaway"/>
          <p:cNvGrpSpPr/>
          <p:nvPr/>
        </p:nvGrpSpPr>
        <p:grpSpPr>
          <a:xfrm>
            <a:off x="1017651" y="8991600"/>
            <a:ext cx="8313557" cy="426339"/>
            <a:chOff x="1017651" y="8991600"/>
            <a:chExt cx="8313557" cy="426339"/>
          </a:xfrm>
        </p:grpSpPr>
        <p:sp>
          <p:nvSpPr>
            <p:cNvPr id="63" name="TextBox 63"/>
            <p:cNvSpPr txBox="1"/>
            <p:nvPr/>
          </p:nvSpPr>
          <p:spPr>
            <a:xfrm>
              <a:off x="1017651" y="8991600"/>
              <a:ext cx="831355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AI越强，人的工作越不是“少做”，而是“在更关键的位置做对”。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tr-footer"/>
          <p:cNvGrpSpPr/>
          <p:nvPr/>
        </p:nvGrpSpPr>
        <p:grpSpPr>
          <a:xfrm>
            <a:off x="1021080" y="9610725"/>
            <a:ext cx="16245840" cy="306070"/>
            <a:chOff x="1021080" y="9610725"/>
            <a:chExt cx="16245840" cy="306070"/>
          </a:xfrm>
        </p:grpSpPr>
        <p:sp>
          <p:nvSpPr>
            <p:cNvPr id="65" name="TextBox 65"/>
            <p:cNvSpPr txBox="1"/>
            <p:nvPr/>
          </p:nvSpPr>
          <p:spPr>
            <a:xfrm>
              <a:off x="1021080" y="9623425"/>
              <a:ext cx="3450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 · AI研发与AI办公的共同边界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6575214" y="96107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22 / 24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630"/>
                            </p:stCondLst>
                            <p:childTnLst>
                              <p:par>
                                <p:cTn id="19" presetID="2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4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0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3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31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6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36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940"/>
                            </p:stCondLst>
                            <p:childTnLst>
                              <p:par>
                                <p:cTn id="36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d-grid"/>
          <p:cNvSpPr/>
          <p:nvPr/>
        </p:nvSpPr>
        <p:spPr>
          <a:xfrm>
            <a:off x="1028700" y="1752600"/>
            <a:ext cx="16230600" cy="7391400"/>
          </a:xfrm>
          <a:custGeom>
            <a:avLst/>
            <a:gdLst/>
            <a:ahLst/>
            <a:cxnLst/>
            <a:rect l="l" t="t" r="r" b="b"/>
            <a:pathLst>
              <a:path w="16230600" h="7391400">
                <a:moveTo>
                  <a:pt x="0" y="133350"/>
                </a:moveTo>
                <a:lnTo>
                  <a:pt x="16230600" y="133350"/>
                </a:lnTo>
                <a:moveTo>
                  <a:pt x="0" y="1238250"/>
                </a:moveTo>
                <a:lnTo>
                  <a:pt x="16230600" y="1238250"/>
                </a:lnTo>
                <a:moveTo>
                  <a:pt x="0" y="1924050"/>
                </a:moveTo>
                <a:lnTo>
                  <a:pt x="16230600" y="1924050"/>
                </a:lnTo>
                <a:moveTo>
                  <a:pt x="0" y="6305550"/>
                </a:moveTo>
                <a:lnTo>
                  <a:pt x="16230600" y="6305550"/>
                </a:lnTo>
                <a:moveTo>
                  <a:pt x="0" y="7372350"/>
                </a:moveTo>
                <a:lnTo>
                  <a:pt x="16230600" y="7372350"/>
                </a:lnTo>
                <a:moveTo>
                  <a:pt x="2971800" y="0"/>
                </a:moveTo>
                <a:lnTo>
                  <a:pt x="2971800" y="7391400"/>
                </a:lnTo>
                <a:moveTo>
                  <a:pt x="6400800" y="0"/>
                </a:moveTo>
                <a:lnTo>
                  <a:pt x="6400800" y="7391400"/>
                </a:lnTo>
                <a:moveTo>
                  <a:pt x="9829800" y="0"/>
                </a:moveTo>
                <a:lnTo>
                  <a:pt x="9829800" y="7391400"/>
                </a:lnTo>
                <a:moveTo>
                  <a:pt x="13258800" y="0"/>
                </a:moveTo>
                <a:lnTo>
                  <a:pt x="13258800" y="7391400"/>
                </a:lnTo>
              </a:path>
            </a:pathLst>
          </a:custGeom>
          <a:noFill/>
          <a:ln w="14288">
            <a:solidFill>
              <a:srgbClr val="F0F5FC"/>
            </a:solidFill>
          </a:ln>
        </p:spPr>
      </p:sp>
      <p:sp>
        <p:nvSpPr>
          <p:cNvPr id="3" name="fnd-accent"/>
          <p:cNvSpPr/>
          <p:nvPr/>
        </p:nvSpPr>
        <p:spPr>
          <a:xfrm>
            <a:off x="1028700" y="1828800"/>
            <a:ext cx="2343150" cy="9525"/>
          </a:xfrm>
          <a:custGeom>
            <a:avLst/>
            <a:gdLst/>
            <a:ahLst/>
            <a:cxnLst/>
            <a:rect l="l" t="t" r="r" b="b"/>
            <a:pathLst>
              <a:path w="2343150" h="9525">
                <a:moveTo>
                  <a:pt x="0" y="0"/>
                </a:moveTo>
                <a:lnTo>
                  <a:pt x="23431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grpSp>
        <p:nvGrpSpPr>
          <p:cNvPr id="7" name="fnd-title"/>
          <p:cNvGrpSpPr/>
          <p:nvPr/>
        </p:nvGrpSpPr>
        <p:grpSpPr>
          <a:xfrm>
            <a:off x="1009650" y="361950"/>
            <a:ext cx="10288143" cy="1510665"/>
            <a:chOff x="1009650" y="361950"/>
            <a:chExt cx="10288143" cy="1510665"/>
          </a:xfrm>
        </p:grpSpPr>
        <p:sp>
          <p:nvSpPr>
            <p:cNvPr id="4" name="TextBox 4"/>
            <p:cNvSpPr/>
            <p:nvPr/>
          </p:nvSpPr>
          <p:spPr>
            <a:xfrm>
              <a:off x="1019556" y="361950"/>
              <a:ext cx="69960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150" dirty="0">
                  <a:solidFill>
                    <a:srgbClr val="5B6B82"/>
                  </a:solidFill>
                  <a:latin typeface="Arial"/>
                  <a:ea typeface="Arial"/>
                  <a:cs typeface="Arial"/>
                </a:rPr>
                <a:t>23 / PLATFORM POSITION · FOUNDATION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1009650" y="673132"/>
              <a:ext cx="1028814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450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两个自研平台，一套可组合底座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1019175" y="1504950"/>
              <a:ext cx="1016565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共享运行、上下文、工具与治理；平台竞争从功能清单转向工程位置与接口。</a:t>
              </a:r>
            </a:p>
          </p:txBody>
        </p:sp>
      </p:grpSp>
      <p:grpSp>
        <p:nvGrpSpPr>
          <p:cNvPr id="18" name="fnd-products"/>
          <p:cNvGrpSpPr/>
          <p:nvPr/>
        </p:nvGrpSpPr>
        <p:grpSpPr>
          <a:xfrm>
            <a:off x="1028700" y="1924050"/>
            <a:ext cx="16230600" cy="1104900"/>
            <a:chOff x="1028700" y="1924050"/>
            <a:chExt cx="16230600" cy="1104900"/>
          </a:xfrm>
        </p:grpSpPr>
        <p:sp>
          <p:nvSpPr>
            <p:cNvPr id="8" name="Rectangle 8"/>
            <p:cNvSpPr/>
            <p:nvPr/>
          </p:nvSpPr>
          <p:spPr>
            <a:xfrm>
              <a:off x="1028700" y="1924050"/>
              <a:ext cx="7810500" cy="952500"/>
            </a:xfrm>
            <a:prstGeom prst="roundRect">
              <a:avLst>
                <a:gd name="adj" fmla="val 13000"/>
              </a:avLst>
            </a:prstGeom>
            <a:gradFill>
              <a:gsLst>
                <a:gs pos="0">
                  <a:srgbClr val="EAF2FF"/>
                </a:gs>
                <a:gs pos="100000">
                  <a:srgbClr val="FFFFFF"/>
                </a:gs>
              </a:gsLst>
              <a:lin ang="0" scaled="1"/>
            </a:gradFill>
            <a:ln w="17145">
              <a:solidFill>
                <a:srgbClr val="BBD4F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6830" y="2089150"/>
              <a:ext cx="1798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EsXCode / AI研发</a:t>
              </a:r>
              <a:endParaRPr lang="zh-CN" sz="1500" spc="9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5687" y="236537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系统建设与持续演进</a:t>
              </a:r>
              <a:endPara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98923" y="2428875"/>
              <a:ext cx="16757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需求/变更/测试/回退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448800" y="1924050"/>
              <a:ext cx="7810500" cy="952500"/>
            </a:xfrm>
            <a:prstGeom prst="roundRect">
              <a:avLst>
                <a:gd name="adj" fmla="val 13000"/>
              </a:avLst>
            </a:prstGeom>
            <a:gradFill>
              <a:gsLst>
                <a:gs pos="0">
                  <a:srgbClr val="F4EDFC"/>
                </a:gs>
                <a:gs pos="100000">
                  <a:srgbClr val="FFFFFF"/>
                </a:gs>
              </a:gsLst>
              <a:lin ang="0" scaled="1"/>
            </a:gradFill>
            <a:ln w="17145">
              <a:solidFill>
                <a:srgbClr val="D7B8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26930" y="2089150"/>
              <a:ext cx="1840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spc="9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EsXWork / AI办公</a:t>
              </a:r>
              <a:endParaRPr lang="zh-CN" sz="1500" spc="9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25787" y="2365375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知识、任务与专业交付</a:t>
              </a:r>
              <a:endPara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52373" y="2428875"/>
              <a:ext cx="16757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知识/数据/流程/归档</a:t>
              </a:r>
              <a:endParaRPr lang="zh-CN" sz="12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4895850" y="2781300"/>
              <a:ext cx="1" cy="2476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7" name="Line 17"/>
            <p:cNvSpPr/>
            <p:nvPr/>
          </p:nvSpPr>
          <p:spPr>
            <a:xfrm>
              <a:off x="13315950" y="27813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49097F"/>
              </a:solidFill>
            </a:ln>
          </p:spPr>
        </p:sp>
      </p:grpSp>
      <p:grpSp>
        <p:nvGrpSpPr>
          <p:cNvPr id="23" name="fnd-workspace"/>
          <p:cNvGrpSpPr/>
          <p:nvPr/>
        </p:nvGrpSpPr>
        <p:grpSpPr>
          <a:xfrm>
            <a:off x="1028700" y="3009900"/>
            <a:ext cx="16230600" cy="495300"/>
            <a:chOff x="1028700" y="3009900"/>
            <a:chExt cx="16230600" cy="495300"/>
          </a:xfrm>
        </p:grpSpPr>
        <p:sp>
          <p:nvSpPr>
            <p:cNvPr id="19" name="Rectangle 19"/>
            <p:cNvSpPr/>
            <p:nvPr/>
          </p:nvSpPr>
          <p:spPr>
            <a:xfrm>
              <a:off x="1028700" y="3009900"/>
              <a:ext cx="16230600" cy="495300"/>
            </a:xfrm>
            <a:prstGeom prst="roundRect">
              <a:avLst>
                <a:gd name="adj" fmla="val 21154"/>
              </a:avLst>
            </a:prstGeom>
            <a:solidFill>
              <a:srgbClr val="EAF2FF"/>
            </a:solidFill>
            <a:ln w="12382">
              <a:solidFill>
                <a:srgbClr val="CFE0F5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1306830" y="3146393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统一工作空间：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3555111" y="3146393"/>
              <a:ext cx="57014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9100" tIns="32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Chat / API / 文件 · 任务会话 · 工程资产 · 证据 · 人工门禁 · 审计轨迹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14688884" y="3171825"/>
              <a:ext cx="22530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8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同一任务对象贯穿研发与办公</a:t>
              </a:r>
            </a:p>
          </p:txBody>
        </p:sp>
      </p:grpSp>
      <p:grpSp>
        <p:nvGrpSpPr>
          <p:cNvPr id="75" name="fnd-core"/>
          <p:cNvGrpSpPr/>
          <p:nvPr/>
        </p:nvGrpSpPr>
        <p:grpSpPr>
          <a:xfrm>
            <a:off x="1028700" y="3714750"/>
            <a:ext cx="16230600" cy="4229100"/>
            <a:chOff x="1028700" y="3714750"/>
            <a:chExt cx="16230600" cy="4229100"/>
          </a:xfrm>
        </p:grpSpPr>
        <p:sp>
          <p:nvSpPr>
            <p:cNvPr id="24" name="Rectangle 24"/>
            <p:cNvSpPr/>
            <p:nvPr/>
          </p:nvSpPr>
          <p:spPr>
            <a:xfrm>
              <a:off x="1028700" y="3714750"/>
              <a:ext cx="16230600" cy="4229100"/>
            </a:xfrm>
            <a:prstGeom prst="roundRect">
              <a:avLst>
                <a:gd name="adj" fmla="val 3378"/>
              </a:avLst>
            </a:prstGeom>
            <a:solidFill>
              <a:srgbClr val="FFFFFF"/>
            </a:solidFill>
            <a:ln w="15240">
              <a:solidFill>
                <a:srgbClr val="D8E3F3"/>
              </a:solidFill>
            </a:ln>
          </p:spPr>
        </p:sp>
        <p:sp>
          <p:nvSpPr>
            <p:cNvPr id="25" name="TextBox 25"/>
            <p:cNvSpPr/>
            <p:nvPr/>
          </p:nvSpPr>
          <p:spPr>
            <a:xfrm>
              <a:off x="1305306" y="3841718"/>
              <a:ext cx="6299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从一键功能，到可组合的工程默认值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13674090" y="3905250"/>
              <a:ext cx="32868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8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能力沉淀在接口与资产，越用越可复用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257300" y="4248150"/>
              <a:ext cx="3695700" cy="1657350"/>
            </a:xfrm>
            <a:prstGeom prst="roundRect">
              <a:avLst>
                <a:gd name="adj" fmla="val 5172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79804" y="4419600"/>
              <a:ext cx="2182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CONTEXT &amp; MEMORY</a:t>
              </a:r>
              <a:endParaRPr lang="en-US" sz="1200" spc="82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/>
            <p:nvPr/>
          </p:nvSpPr>
          <p:spPr>
            <a:xfrm>
              <a:off x="1477137" y="4670393"/>
              <a:ext cx="186985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上下文与记忆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1479423" y="503872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输入 / 历史 / 环境 / 业务数据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1479804" y="530542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短期会话 + 长期记忆 + 分层装配</a:t>
              </a:r>
            </a:p>
          </p:txBody>
        </p:sp>
        <p:sp>
          <p:nvSpPr>
            <p:cNvPr id="32" name="TextBox 32"/>
            <p:cNvSpPr/>
            <p:nvPr/>
          </p:nvSpPr>
          <p:spPr>
            <a:xfrm>
              <a:off x="1480185" y="5556218"/>
              <a:ext cx="2190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1459D0"/>
                  </a:solidFill>
                  <a:latin typeface="Arial"/>
                  <a:ea typeface="Microsoft YaHei"/>
                  <a:cs typeface="Arial"/>
                </a:rPr>
                <a:t>知识库 / 状态 / 版本 / 项目轨迹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62550" y="4248150"/>
              <a:ext cx="3695700" cy="1657350"/>
            </a:xfrm>
            <a:prstGeom prst="roundRect">
              <a:avLst>
                <a:gd name="adj" fmla="val 5172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34" name="TextBox 34"/>
            <p:cNvSpPr/>
            <p:nvPr/>
          </p:nvSpPr>
          <p:spPr>
            <a:xfrm>
              <a:off x="5385054" y="4419600"/>
              <a:ext cx="2143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rgbClr val="6C3D91"/>
                  </a:solidFill>
                  <a:latin typeface="Arial"/>
                  <a:ea typeface="Arial"/>
                  <a:cs typeface="Arial"/>
                </a:rPr>
                <a:t>02 / AGENT RUNTIME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5382387" y="4670393"/>
              <a:ext cx="33559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Agent运行核心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5384673" y="5038725"/>
              <a:ext cx="23876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感知 → 规划 → 推理 → 行动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5385054" y="5305425"/>
              <a:ext cx="2982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Loop · 多Agent · 状态机 · 失败恢复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5385435" y="5556218"/>
              <a:ext cx="2066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C3D91"/>
                  </a:solidFill>
                  <a:latin typeface="Arial"/>
                  <a:ea typeface="Microsoft YaHei"/>
                  <a:cs typeface="Arial"/>
                </a:rPr>
                <a:t>可替换 / 可治理 / 可停止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067800" y="4248150"/>
              <a:ext cx="3695700" cy="1657350"/>
            </a:xfrm>
            <a:prstGeom prst="roundRect">
              <a:avLst>
                <a:gd name="adj" fmla="val 5172"/>
              </a:avLst>
            </a:prstGeom>
            <a:solidFill>
              <a:srgbClr val="EDF7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90304" y="4419600"/>
              <a:ext cx="176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03 / MODEL ROUTER</a:t>
              </a:r>
              <a:endParaRPr lang="en-US" sz="1200" spc="82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87637" y="4670425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模型路由与适配</a:t>
              </a:r>
              <a:endPara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89923" y="5038725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按任务复杂度与成本选择模型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90304" y="53054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多模型接入，不绑定单一厂商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90685" y="555625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国产模型友好 / 私有模型端点</a:t>
              </a:r>
              <a:endParaRPr lang="zh-CN" sz="1120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973050" y="4248150"/>
              <a:ext cx="4057650" cy="1657350"/>
            </a:xfrm>
            <a:prstGeom prst="roundRect">
              <a:avLst>
                <a:gd name="adj" fmla="val 5172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46" name="TextBox 46"/>
            <p:cNvSpPr/>
            <p:nvPr/>
          </p:nvSpPr>
          <p:spPr>
            <a:xfrm>
              <a:off x="13195554" y="4419600"/>
              <a:ext cx="1620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rgbClr val="1459D0"/>
                  </a:solidFill>
                  <a:latin typeface="Arial"/>
                  <a:ea typeface="Arial"/>
                  <a:cs typeface="Arial"/>
                </a:rPr>
                <a:t>04 / TOOLS</a:t>
              </a:r>
            </a:p>
          </p:txBody>
        </p:sp>
        <p:sp>
          <p:nvSpPr>
            <p:cNvPr id="47" name="TextBox 47"/>
            <p:cNvSpPr/>
            <p:nvPr/>
          </p:nvSpPr>
          <p:spPr>
            <a:xfrm>
              <a:off x="13192887" y="4670393"/>
              <a:ext cx="16383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工具与执行</a:t>
              </a:r>
            </a:p>
          </p:txBody>
        </p:sp>
        <p:sp>
          <p:nvSpPr>
            <p:cNvPr id="48" name="TextBox 48"/>
            <p:cNvSpPr/>
            <p:nvPr/>
          </p:nvSpPr>
          <p:spPr>
            <a:xfrm>
              <a:off x="13195173" y="5038725"/>
              <a:ext cx="262594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MCP / API / 代码 / 文件</a:t>
              </a:r>
            </a:p>
          </p:txBody>
        </p:sp>
        <p:sp>
          <p:nvSpPr>
            <p:cNvPr id="49" name="TextBox 49"/>
            <p:cNvSpPr/>
            <p:nvPr/>
          </p:nvSpPr>
          <p:spPr>
            <a:xfrm>
              <a:off x="13195554" y="530542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授权边界内读、写、执行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195935" y="5556250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从“会说”到“会办”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257300" y="6057900"/>
              <a:ext cx="3695700" cy="1657350"/>
            </a:xfrm>
            <a:prstGeom prst="roundRect">
              <a:avLst>
                <a:gd name="adj" fmla="val 5172"/>
              </a:avLst>
            </a:prstGeom>
            <a:solidFill>
              <a:srgbClr val="EDF7FA"/>
            </a:solidFill>
            <a:ln>
              <a:noFill/>
            </a:ln>
          </p:spPr>
        </p:sp>
        <p:sp>
          <p:nvSpPr>
            <p:cNvPr id="52" name="TextBox 52"/>
            <p:cNvSpPr/>
            <p:nvPr/>
          </p:nvSpPr>
          <p:spPr>
            <a:xfrm>
              <a:off x="1479804" y="6229350"/>
              <a:ext cx="2051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rgbClr val="087F9C"/>
                  </a:solidFill>
                  <a:latin typeface="Arial"/>
                  <a:ea typeface="Arial"/>
                  <a:cs typeface="Arial"/>
                </a:rPr>
                <a:t>05 / RAG</a:t>
              </a:r>
            </a:p>
          </p:txBody>
        </p:sp>
        <p:sp>
          <p:nvSpPr>
            <p:cNvPr id="53" name="TextBox 53"/>
            <p:cNvSpPr/>
            <p:nvPr/>
          </p:nvSpPr>
          <p:spPr>
            <a:xfrm>
              <a:off x="1477137" y="6480143"/>
              <a:ext cx="16383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知识与检索</a:t>
              </a:r>
            </a:p>
          </p:txBody>
        </p:sp>
        <p:sp>
          <p:nvSpPr>
            <p:cNvPr id="54" name="TextBox 54"/>
            <p:cNvSpPr/>
            <p:nvPr/>
          </p:nvSpPr>
          <p:spPr>
            <a:xfrm>
              <a:off x="1479423" y="6848475"/>
              <a:ext cx="29422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向量 / 混合 / 图谱 / 结构化</a:t>
              </a:r>
            </a:p>
          </p:txBody>
        </p:sp>
        <p:sp>
          <p:nvSpPr>
            <p:cNvPr id="55" name="TextBox 55"/>
            <p:cNvSpPr/>
            <p:nvPr/>
          </p:nvSpPr>
          <p:spPr>
            <a:xfrm>
              <a:off x="1479804" y="711517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知识可检索、可引用、可追溯</a:t>
              </a:r>
            </a:p>
          </p:txBody>
        </p:sp>
        <p:sp>
          <p:nvSpPr>
            <p:cNvPr id="56" name="TextBox 56"/>
            <p:cNvSpPr/>
            <p:nvPr/>
          </p:nvSpPr>
          <p:spPr>
            <a:xfrm>
              <a:off x="1480185" y="7365968"/>
              <a:ext cx="2167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087F9C"/>
                  </a:solidFill>
                  <a:latin typeface="Arial"/>
                  <a:ea typeface="Microsoft YaHei"/>
                  <a:cs typeface="Arial"/>
                </a:rPr>
                <a:t>RAG / 影响分析 / 语义检索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162550" y="6057900"/>
              <a:ext cx="3695700" cy="1657350"/>
            </a:xfrm>
            <a:prstGeom prst="roundRect">
              <a:avLst>
                <a:gd name="adj" fmla="val 5172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58" name="TextBox 58"/>
            <p:cNvSpPr/>
            <p:nvPr/>
          </p:nvSpPr>
          <p:spPr>
            <a:xfrm>
              <a:off x="5385054" y="6229350"/>
              <a:ext cx="1678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rgbClr val="B7394D"/>
                  </a:solidFill>
                  <a:latin typeface="Arial"/>
                  <a:ea typeface="Arial"/>
                  <a:cs typeface="Arial"/>
                </a:rPr>
                <a:t>06 / SAFETY</a:t>
              </a:r>
            </a:p>
          </p:txBody>
        </p:sp>
        <p:sp>
          <p:nvSpPr>
            <p:cNvPr id="59" name="TextBox 59"/>
            <p:cNvSpPr/>
            <p:nvPr/>
          </p:nvSpPr>
          <p:spPr>
            <a:xfrm>
              <a:off x="5382387" y="6480143"/>
              <a:ext cx="23329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安全、权限与治理</a:t>
              </a:r>
            </a:p>
          </p:txBody>
        </p:sp>
        <p:sp>
          <p:nvSpPr>
            <p:cNvPr id="60" name="TextBox 60"/>
            <p:cNvSpPr/>
            <p:nvPr/>
          </p:nvSpPr>
          <p:spPr>
            <a:xfrm>
              <a:off x="5384673" y="6848475"/>
              <a:ext cx="29422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身份 / 脱敏 / 内容安全 / 合规</a:t>
              </a:r>
            </a:p>
          </p:txBody>
        </p:sp>
        <p:sp>
          <p:nvSpPr>
            <p:cNvPr id="61" name="TextBox 61"/>
            <p:cNvSpPr/>
            <p:nvPr/>
          </p:nvSpPr>
          <p:spPr>
            <a:xfrm>
              <a:off x="5385054" y="711517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高风险动作拦截，人工确认可审计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85435" y="7366000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审批 / 驳回 / 修改 / 审计留痕</a:t>
              </a:r>
              <a:endParaRPr lang="zh-CN" sz="1120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67800" y="6057900"/>
              <a:ext cx="3695700" cy="1657350"/>
            </a:xfrm>
            <a:prstGeom prst="roundRect">
              <a:avLst>
                <a:gd name="adj" fmla="val 5172"/>
              </a:avLst>
            </a:prstGeom>
            <a:solidFill>
              <a:srgbClr val="FFF2F3"/>
            </a:solidFill>
            <a:ln>
              <a:noFill/>
            </a:ln>
          </p:spPr>
        </p:sp>
        <p:sp>
          <p:nvSpPr>
            <p:cNvPr id="64" name="TextBox 64"/>
            <p:cNvSpPr/>
            <p:nvPr/>
          </p:nvSpPr>
          <p:spPr>
            <a:xfrm>
              <a:off x="9290304" y="6229350"/>
              <a:ext cx="25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rgbClr val="B7394D"/>
                  </a:solidFill>
                  <a:latin typeface="Arial"/>
                  <a:ea typeface="Arial"/>
                  <a:cs typeface="Arial"/>
                </a:rPr>
                <a:t>07 / OBSERVABILITY &amp; EVALS</a:t>
              </a:r>
            </a:p>
          </p:txBody>
        </p:sp>
        <p:sp>
          <p:nvSpPr>
            <p:cNvPr id="65" name="TextBox 65"/>
            <p:cNvSpPr/>
            <p:nvPr/>
          </p:nvSpPr>
          <p:spPr>
            <a:xfrm>
              <a:off x="9287637" y="6480143"/>
              <a:ext cx="21014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观测、评测与学习</a:t>
              </a:r>
            </a:p>
          </p:txBody>
        </p:sp>
        <p:sp>
          <p:nvSpPr>
            <p:cNvPr id="66" name="TextBox 66"/>
            <p:cNvSpPr/>
            <p:nvPr/>
          </p:nvSpPr>
          <p:spPr>
            <a:xfrm>
              <a:off x="9289923" y="6848475"/>
              <a:ext cx="29422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Trace / 指标 / 评测 / 告警</a:t>
              </a:r>
            </a:p>
          </p:txBody>
        </p:sp>
        <p:sp>
          <p:nvSpPr>
            <p:cNvPr id="67" name="TextBox 67"/>
            <p:cNvSpPr/>
            <p:nvPr/>
          </p:nvSpPr>
          <p:spPr>
            <a:xfrm>
              <a:off x="9290304" y="7115175"/>
              <a:ext cx="3113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反馈沉淀为规则、技能与策略优化</a:t>
              </a:r>
            </a:p>
          </p:txBody>
        </p:sp>
        <p:sp>
          <p:nvSpPr>
            <p:cNvPr id="68" name="TextBox 68"/>
            <p:cNvSpPr/>
            <p:nvPr/>
          </p:nvSpPr>
          <p:spPr>
            <a:xfrm>
              <a:off x="9290685" y="7365968"/>
              <a:ext cx="1865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B7394D"/>
                  </a:solidFill>
                  <a:latin typeface="Arial"/>
                  <a:ea typeface="Microsoft YaHei"/>
                  <a:cs typeface="Arial"/>
                </a:rPr>
                <a:t>证据包 / 回归 / A-B 实验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2973050" y="6057900"/>
              <a:ext cx="4057650" cy="1657350"/>
            </a:xfrm>
            <a:prstGeom prst="roundRect">
              <a:avLst>
                <a:gd name="adj" fmla="val 5172"/>
              </a:avLst>
            </a:prstGeom>
            <a:solidFill>
              <a:srgbClr val="F4EDF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3195554" y="6229350"/>
              <a:ext cx="2354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00" spc="82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08 / ARTIFACT &amp; RECOVERY</a:t>
              </a:r>
              <a:endParaRPr lang="en-US" sz="1200" spc="82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192887" y="6480175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产物版本与恢复</a:t>
              </a:r>
              <a:endPara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195173" y="6848475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需求、原型、代码、文档、报表与报文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195554" y="711517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统一版本、差异、回退与交付归档</a:t>
              </a:r>
              <a:endParaRPr lang="zh-CN" sz="12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3195935" y="7366000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可恢复 / 可复用 / 可移交</a:t>
              </a:r>
              <a:endParaRPr lang="zh-CN" sz="1120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fnd-infra"/>
          <p:cNvGrpSpPr/>
          <p:nvPr/>
        </p:nvGrpSpPr>
        <p:grpSpPr>
          <a:xfrm>
            <a:off x="1028700" y="8077200"/>
            <a:ext cx="16230600" cy="609600"/>
            <a:chOff x="1028700" y="8077200"/>
            <a:chExt cx="16230600" cy="609600"/>
          </a:xfrm>
        </p:grpSpPr>
        <p:sp>
          <p:nvSpPr>
            <p:cNvPr id="76" name="Rectangle 76"/>
            <p:cNvSpPr/>
            <p:nvPr/>
          </p:nvSpPr>
          <p:spPr>
            <a:xfrm>
              <a:off x="1028700" y="8077200"/>
              <a:ext cx="16230600" cy="609600"/>
            </a:xfrm>
            <a:prstGeom prst="roundRect">
              <a:avLst>
                <a:gd name="adj" fmla="val 18750"/>
              </a:avLst>
            </a:prstGeom>
            <a:gradFill>
              <a:gsLst>
                <a:gs pos="0">
                  <a:srgbClr val="0B3D96"/>
                </a:gs>
                <a:gs pos="100000">
                  <a:srgbClr val="32126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306449" y="826770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基础设施与部署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498342" y="829310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私有化 / 专有云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460492" y="8293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容器与安全沙箱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746492" y="8293100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存储 / 数据库 / 向量检索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2092" y="8293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企业身份与审计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042392" y="82931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多模型网关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5004542" y="8293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DCE9FF"/>
                  </a:solidFill>
                  <a:latin typeface="+mn-lt"/>
                  <a:ea typeface="+mn-ea"/>
                  <a:cs typeface="+mn-cs"/>
                </a:rPr>
                <a:t>企业系统</a:t>
              </a:r>
              <a:endParaRPr lang="zh-CN" sz="1350" dirty="0">
                <a:solidFill>
                  <a:srgbClr val="DCE9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fnd-compare"/>
          <p:cNvGrpSpPr/>
          <p:nvPr/>
        </p:nvGrpSpPr>
        <p:grpSpPr>
          <a:xfrm>
            <a:off x="1022985" y="8928068"/>
            <a:ext cx="7366349" cy="220028"/>
            <a:chOff x="1022985" y="8928068"/>
            <a:chExt cx="7366349" cy="220028"/>
          </a:xfrm>
        </p:grpSpPr>
        <p:sp>
          <p:nvSpPr>
            <p:cNvPr id="85" name="TextBox 85"/>
            <p:cNvSpPr/>
            <p:nvPr/>
          </p:nvSpPr>
          <p:spPr>
            <a:xfrm>
              <a:off x="1022985" y="8928068"/>
              <a:ext cx="736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平台比较不只看功能表，更看运行、接口、证据与生态位置；本页为工程拆解，不代表同架构或效果等同。</a:t>
              </a:r>
            </a:p>
          </p:txBody>
        </p:sp>
      </p:grpSp>
      <p:grpSp>
        <p:nvGrpSpPr>
          <p:cNvPr id="88" name="fnd-takeaway"/>
          <p:cNvGrpSpPr/>
          <p:nvPr/>
        </p:nvGrpSpPr>
        <p:grpSpPr>
          <a:xfrm>
            <a:off x="1021080" y="9204293"/>
            <a:ext cx="7082790" cy="293370"/>
            <a:chOff x="1021080" y="9204293"/>
            <a:chExt cx="7082790" cy="293370"/>
          </a:xfrm>
        </p:grpSpPr>
        <p:sp>
          <p:nvSpPr>
            <p:cNvPr id="87" name="TextBox 87"/>
            <p:cNvSpPr/>
            <p:nvPr/>
          </p:nvSpPr>
          <p:spPr>
            <a:xfrm>
              <a:off x="1021080" y="9204293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42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功能会被复制，模型会被替换；可复用的工程资产，才会持续复利。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6575214" y="9610725"/>
            <a:ext cx="6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rPr>
              <a:t>23 / 24</a:t>
            </a:r>
            <a:endParaRPr lang="zh-CN" sz="1500" dirty="0">
              <a:solidFill>
                <a:srgbClr val="5B6B8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6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9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40"/>
                            </p:stCondLst>
                            <p:childTnLst>
                              <p:par>
                                <p:cTn id="21" presetID="6" presetClass="emph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22" dur="550" fill="hold"/>
                                        <p:tgtEl>
                                          <p:spTgt spid="75"/>
                                        </p:tgtEl>
                                      </p:cBhvr>
                                      <p:by x="150000" y="150000"/>
                                      <p:to x="101000" y="10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890"/>
                            </p:stCondLst>
                            <p:childTnLst>
                              <p:par>
                                <p:cTn id="24" presetID="37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95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" accel="100000" fill="hold">
                                          <p:stCondLst>
                                            <p:cond delay="495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94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40"/>
                            </p:stCondLst>
                            <p:childTnLst>
                              <p:par>
                                <p:cTn id="35" presetID="23" presetClass="entr" presetSubtype="27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e-fan"/>
          <p:cNvPicPr>
            <a:picLocks noChangeAspect="1"/>
          </p:cNvPicPr>
          <p:nvPr/>
        </p:nvPicPr>
        <p:blipFill>
          <a:blip r:embed="rId1"/>
          <a:srcRect t="1562" b="156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close-wash"/>
          <p:cNvSpPr/>
          <p:nvPr/>
        </p:nvSpPr>
        <p:spPr>
          <a:xfrm>
            <a:off x="0" y="0"/>
            <a:ext cx="14954250" cy="10287000"/>
          </a:xfrm>
          <a:prstGeom prst="rect">
            <a:avLst/>
          </a:prstGeom>
          <a:gradFill>
            <a:gsLst>
              <a:gs pos="0">
                <a:schemeClr val="lt1">
                  <a:alpha val="98000"/>
                </a:schemeClr>
              </a:gs>
              <a:gs pos="64000">
                <a:schemeClr val="lt1">
                  <a:alpha val="90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pic>
        <p:nvPicPr>
          <p:cNvPr id="4" name="close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42925"/>
            <a:ext cx="1485900" cy="650081"/>
          </a:xfrm>
          <a:prstGeom prst="rect">
            <a:avLst/>
          </a:prstGeom>
        </p:spPr>
      </p:pic>
      <p:grpSp>
        <p:nvGrpSpPr>
          <p:cNvPr id="7" name="close-kicker"/>
          <p:cNvGrpSpPr/>
          <p:nvPr/>
        </p:nvGrpSpPr>
        <p:grpSpPr>
          <a:xfrm>
            <a:off x="1019556" y="1447800"/>
            <a:ext cx="4422038" cy="639445"/>
            <a:chOff x="1019556" y="1447800"/>
            <a:chExt cx="4422038" cy="639445"/>
          </a:xfrm>
        </p:grpSpPr>
        <p:sp>
          <p:nvSpPr>
            <p:cNvPr id="5" name="TextBox 5"/>
            <p:cNvSpPr txBox="1"/>
            <p:nvPr/>
          </p:nvSpPr>
          <p:spPr>
            <a:xfrm>
              <a:off x="1019556" y="1447800"/>
              <a:ext cx="4422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800" spc="225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24 / RETURN TO THE QUESTION</a:t>
              </a:r>
              <a:endParaRPr lang="en-US" sz="1800" spc="225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1080" y="1793875"/>
              <a:ext cx="2488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20周年客户大会 · 主题分享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close-question"/>
          <p:cNvGrpSpPr/>
          <p:nvPr/>
        </p:nvGrpSpPr>
        <p:grpSpPr>
          <a:xfrm>
            <a:off x="1009650" y="2476500"/>
            <a:ext cx="11690528" cy="2565019"/>
            <a:chOff x="1009650" y="2476500"/>
            <a:chExt cx="11690528" cy="2565019"/>
          </a:xfrm>
        </p:grpSpPr>
        <p:sp>
          <p:nvSpPr>
            <p:cNvPr id="8" name="TextBox 8"/>
            <p:cNvSpPr txBox="1"/>
            <p:nvPr/>
          </p:nvSpPr>
          <p:spPr>
            <a:xfrm>
              <a:off x="1017651" y="24765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回到开场那个问题</a:t>
              </a:r>
              <a:endParaRPr lang="zh-CN" sz="218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9650" y="2946400"/>
              <a:ext cx="1169052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如果AI Agent让系统上线与监管报送都快了一倍，</a:t>
              </a:r>
              <a:endParaRPr lang="zh-CN" sz="39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9650" y="3625850"/>
              <a:ext cx="795375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贵机构真正变难的，会是什么？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1028700" y="451485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9556" y="4689475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不是多几个工具，而是：选对问题、接全上下文、证明可信、守住责任。</a:t>
              </a:r>
              <a:endParaRPr lang="zh-CN" sz="18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close-answers"/>
          <p:cNvGrpSpPr/>
          <p:nvPr/>
        </p:nvGrpSpPr>
        <p:grpSpPr>
          <a:xfrm>
            <a:off x="1028700" y="5295900"/>
            <a:ext cx="16230600" cy="1619250"/>
            <a:chOff x="1028700" y="5295900"/>
            <a:chExt cx="16230600" cy="1619250"/>
          </a:xfrm>
        </p:grpSpPr>
        <p:sp>
          <p:nvSpPr>
            <p:cNvPr id="14" name="Rectangle 14"/>
            <p:cNvSpPr/>
            <p:nvPr/>
          </p:nvSpPr>
          <p:spPr>
            <a:xfrm>
              <a:off x="1028700" y="5295900"/>
              <a:ext cx="3829050" cy="1619250"/>
            </a:xfrm>
            <a:prstGeom prst="roundRect">
              <a:avLst>
                <a:gd name="adj" fmla="val 7647"/>
              </a:avLst>
            </a:prstGeom>
            <a:solidFill>
              <a:srgbClr val="FFFFFF">
                <a:alpha val="84000"/>
              </a:srgbClr>
            </a:solidFill>
            <a:ln w="15240">
              <a:solidFill>
                <a:srgbClr val="BBD4F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69873" y="5524500"/>
              <a:ext cx="121289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8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CHOOSE</a:t>
              </a:r>
              <a:endParaRPr lang="en-US" sz="1280" spc="82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65301" y="57912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选对问题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69492" y="62261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高频、高价值、边界清晰，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69492" y="64738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并且可以被验收。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086350" y="5295900"/>
              <a:ext cx="3829050" cy="1619250"/>
            </a:xfrm>
            <a:prstGeom prst="roundRect">
              <a:avLst>
                <a:gd name="adj" fmla="val 7647"/>
              </a:avLst>
            </a:prstGeom>
            <a:solidFill>
              <a:srgbClr val="FFFFFF">
                <a:alpha val="84000"/>
              </a:srgbClr>
            </a:solidFill>
            <a:ln w="15240">
              <a:solidFill>
                <a:srgbClr val="CFE6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27523" y="5524500"/>
              <a:ext cx="128827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82" dirty="0">
                  <a:solidFill>
                    <a:srgbClr val="087F9C"/>
                  </a:solidFill>
                  <a:latin typeface="+mn-lt"/>
                  <a:ea typeface="+mn-ea"/>
                  <a:cs typeface="+mn-cs"/>
                </a:rPr>
                <a:t>02 / CONNECT</a:t>
              </a:r>
              <a:endParaRPr lang="en-US" sz="1280" spc="82" dirty="0">
                <a:solidFill>
                  <a:srgbClr val="087F9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2951" y="57912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接全上下文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27142" y="622617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知识、数据、系统、流程与历史，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27142" y="64738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进入同一条任务链。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144000" y="5295900"/>
              <a:ext cx="3829050" cy="1619250"/>
            </a:xfrm>
            <a:prstGeom prst="roundRect">
              <a:avLst>
                <a:gd name="adj" fmla="val 7647"/>
              </a:avLst>
            </a:prstGeom>
            <a:solidFill>
              <a:srgbClr val="FFFFFF">
                <a:alpha val="84000"/>
              </a:srgbClr>
            </a:solidFill>
            <a:ln w="15240">
              <a:solidFill>
                <a:srgbClr val="F1C9C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85173" y="5524500"/>
              <a:ext cx="109454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82" dirty="0">
                  <a:solidFill>
                    <a:srgbClr val="B7394D"/>
                  </a:solidFill>
                  <a:latin typeface="+mn-lt"/>
                  <a:ea typeface="+mn-ea"/>
                  <a:cs typeface="+mn-cs"/>
                </a:rPr>
                <a:t>03 / VERIFY</a:t>
              </a:r>
              <a:endParaRPr lang="en-US" sz="1280" spc="82" dirty="0">
                <a:solidFill>
                  <a:srgbClr val="B7394D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80601" y="57912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证明可信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84792" y="62261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影响分析、测试、评测与版本，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84792" y="64738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在过程里自动产生。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201650" y="5295900"/>
              <a:ext cx="4057650" cy="1619250"/>
            </a:xfrm>
            <a:prstGeom prst="roundRect">
              <a:avLst>
                <a:gd name="adj" fmla="val 7647"/>
              </a:avLst>
            </a:prstGeom>
            <a:solidFill>
              <a:srgbClr val="FFFFFF">
                <a:alpha val="84000"/>
              </a:srgbClr>
            </a:solidFill>
            <a:ln w="15240">
              <a:solidFill>
                <a:srgbClr val="D7B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442823" y="5524500"/>
              <a:ext cx="8774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280" spc="82" dirty="0">
                  <a:solidFill>
                    <a:srgbClr val="6C3D91"/>
                  </a:solidFill>
                  <a:latin typeface="+mn-lt"/>
                  <a:ea typeface="+mn-ea"/>
                  <a:cs typeface="+mn-cs"/>
                </a:rPr>
                <a:t>04 / OWN</a:t>
              </a:r>
              <a:endParaRPr lang="en-US" sz="1280" spc="82" dirty="0">
                <a:solidFill>
                  <a:srgbClr val="6C3D9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438251" y="57912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守住责任</a:t>
              </a:r>
              <a:endParaRPr lang="zh-CN" sz="21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442442" y="622617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人负责目标、例外、风险与签字；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42442" y="6473825"/>
              <a:ext cx="1630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AI负责推进与证据。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close-start"/>
          <p:cNvGrpSpPr/>
          <p:nvPr/>
        </p:nvGrpSpPr>
        <p:grpSpPr>
          <a:xfrm>
            <a:off x="1028700" y="7219950"/>
            <a:ext cx="16230600" cy="1371600"/>
            <a:chOff x="1028700" y="7219950"/>
            <a:chExt cx="16230600" cy="1371600"/>
          </a:xfrm>
        </p:grpSpPr>
        <p:sp>
          <p:nvSpPr>
            <p:cNvPr id="35" name="Rectangle 35"/>
            <p:cNvSpPr/>
            <p:nvPr/>
          </p:nvSpPr>
          <p:spPr>
            <a:xfrm>
              <a:off x="1028700" y="7219950"/>
              <a:ext cx="16230600" cy="1371600"/>
            </a:xfrm>
            <a:prstGeom prst="roundRect">
              <a:avLst>
                <a:gd name="adj" fmla="val 9722"/>
              </a:avLst>
            </a:prstGeom>
            <a:gradFill>
              <a:gsLst>
                <a:gs pos="0">
                  <a:srgbClr val="EAF2FF"/>
                </a:gs>
                <a:gs pos="50000">
                  <a:srgbClr val="F4EDFC"/>
                </a:gs>
                <a:gs pos="100000">
                  <a:srgbClr val="EAF2FF"/>
                </a:gs>
              </a:gsLst>
              <a:lin ang="0" scaled="1"/>
            </a:gradFill>
            <a:ln w="14288">
              <a:solidFill>
                <a:srgbClr val="CFE0F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4356" y="74041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从一个系统开始，先做三件事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5499" y="7848600"/>
              <a:ext cx="139216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接一个系统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12211" y="7861300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选一个有明确边界的存量模块或新建场景。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6934200" y="7953375"/>
              <a:ext cx="476250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0099" y="7848600"/>
              <a:ext cx="139216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改一段流程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36811" y="7861300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从知识、材料或口径的一个真实断点开始。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13258800" y="7953375"/>
              <a:ext cx="476250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974699" y="7848600"/>
              <a:ext cx="139216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留一组证据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26642" y="8207375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把选择、变化、验证、版本与责任留成可复核的交付，而不是一次性的演示。</a:t>
              </a:r>
              <a:endParaRPr lang="zh-CN" sz="13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close-brand"/>
          <p:cNvGrpSpPr/>
          <p:nvPr/>
        </p:nvGrpSpPr>
        <p:grpSpPr>
          <a:xfrm>
            <a:off x="1013460" y="8832818"/>
            <a:ext cx="9690926" cy="1274477"/>
            <a:chOff x="1013460" y="8832818"/>
            <a:chExt cx="9690926" cy="1274477"/>
          </a:xfrm>
        </p:grpSpPr>
        <p:sp>
          <p:nvSpPr>
            <p:cNvPr id="46" name="TextBox 46"/>
            <p:cNvSpPr/>
            <p:nvPr/>
          </p:nvSpPr>
          <p:spPr>
            <a:xfrm>
              <a:off x="1013460" y="8832818"/>
              <a:ext cx="96909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5432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rgbClr val="17243A"/>
                  </a:solidFill>
                  <a:latin typeface="Arial"/>
                  <a:ea typeface="Microsoft YaHei"/>
                  <a:cs typeface="Arial"/>
                </a:rPr>
                <a:t>从“更快一点”，走向可复用的组织能力。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8413" y="941705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因数而生　共创智能时代</a:t>
              </a:r>
              <a:endParaRPr lang="zh-CN" sz="202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1080" y="9813925"/>
              <a:ext cx="4558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亿信华辰解决方案专家　吴思全　｜　2026.10.30</a:t>
              </a:r>
              <a:endParaRPr lang="zh-CN" sz="150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close-seal"/>
          <p:cNvGrpSpPr/>
          <p:nvPr/>
        </p:nvGrpSpPr>
        <p:grpSpPr>
          <a:xfrm>
            <a:off x="15163800" y="1485900"/>
            <a:ext cx="1943100" cy="1943100"/>
            <a:chOff x="15163800" y="1485900"/>
            <a:chExt cx="1943100" cy="1943100"/>
          </a:xfrm>
        </p:grpSpPr>
        <p:sp>
          <p:nvSpPr>
            <p:cNvPr id="50" name="Ellipse 50"/>
            <p:cNvSpPr/>
            <p:nvPr/>
          </p:nvSpPr>
          <p:spPr>
            <a:xfrm>
              <a:off x="15316200" y="1638300"/>
              <a:ext cx="1638300" cy="163830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3335">
              <a:solidFill>
                <a:schemeClr val="accent1">
                  <a:alpha val="22000"/>
                </a:schemeClr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5163800" y="1485900"/>
              <a:ext cx="1943100" cy="1943100"/>
            </a:xfrm>
            <a:prstGeom prst="ellipse">
              <a:avLst/>
            </a:prstGeom>
            <a:noFill/>
            <a:ln w="13335">
              <a:solidFill>
                <a:schemeClr val="accent1">
                  <a:alpha val="12000"/>
                </a:scheme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5772676" y="1930400"/>
              <a:ext cx="725349" cy="862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4420" b="1" dirty="0">
                  <a:solidFill>
                    <a:srgbClr val="49097F"/>
                  </a:solidFill>
                  <a:latin typeface="+mn-lt"/>
                  <a:ea typeface="+mn-ea"/>
                  <a:cs typeface="+mn-cs"/>
                </a:rPr>
                <a:t>20</a:t>
              </a:r>
              <a:endParaRPr lang="zh-CN" sz="4420" b="1" dirty="0">
                <a:solidFill>
                  <a:srgbClr val="49097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851886" y="2628900"/>
              <a:ext cx="56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200" spc="150" dirty="0">
                  <a:solidFill>
                    <a:srgbClr val="5B6B82"/>
                  </a:solidFill>
                  <a:latin typeface="+mn-lt"/>
                  <a:ea typeface="+mn-ea"/>
                  <a:cs typeface="+mn-cs"/>
                </a:rPr>
                <a:t>YEARS</a:t>
              </a:r>
              <a:endParaRPr lang="en-US" sz="1200" spc="150" dirty="0">
                <a:solidFill>
                  <a:srgbClr val="5B6B8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80"/>
                            </p:stCondLst>
                            <p:childTnLst>
                              <p:par>
                                <p:cTn id="14" presetID="2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45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25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8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30"/>
                            </p:stCondLst>
                            <p:childTnLst>
                              <p:par>
                                <p:cTn id="22" presetID="37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95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5" accel="100000" fill="hold">
                                          <p:stCondLst>
                                            <p:cond delay="49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3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930"/>
                            </p:stCondLst>
                            <p:childTnLst>
                              <p:par>
                                <p:cTn id="33" presetID="23" presetClass="entr" presetSubtype="272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10"/>
                            </p:stCondLst>
                            <p:childTnLst>
                              <p:par>
                                <p:cTn id="38" presetID="6" presetClass="emph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9" dur="550" fill="hold"/>
                                        <p:tgtEl>
                                          <p:spTgt spid="54"/>
                                        </p:tgtEl>
                                      </p:cBhvr>
                                      <p:by x="150000" y="150000"/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金融AI原生_20周年客户大会">
  <a:themeElements>
    <a:clrScheme name="金融AI原生_20周年客户大会">
      <a:dk1>
        <a:srgbClr val="17243A"/>
      </a:dk1>
      <a:lt1>
        <a:srgbClr val="F7FAFF"/>
      </a:lt1>
      <a:dk2>
        <a:srgbClr val="17243A"/>
      </a:dk2>
      <a:lt2>
        <a:srgbClr val="F7FAFF"/>
      </a:lt2>
      <a:accent1>
        <a:srgbClr val="1459D0"/>
      </a:accent1>
      <a:accent2>
        <a:srgbClr val="E54C5E"/>
      </a:accent2>
      <a:accent3>
        <a:srgbClr val="E54C5E"/>
      </a:accent3>
      <a:accent4>
        <a:srgbClr val="1459D0"/>
      </a:accent4>
      <a:accent5>
        <a:srgbClr val="4BACC6"/>
      </a:accent5>
      <a:accent6>
        <a:srgbClr val="F79646"/>
      </a:accent6>
      <a:hlink>
        <a:srgbClr val="E54C5E"/>
      </a:hlink>
      <a:folHlink>
        <a:srgbClr val="E54C5E"/>
      </a:folHlink>
    </a:clrScheme>
    <a:fontScheme name="金融AI原生_20周年客户大会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金融AI原生_20周年客户大会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金融AI原生_20周年客户大会">
  <a:themeElements>
    <a:clrScheme name="金融AI原生_20周年客户大会">
      <a:dk1>
        <a:srgbClr val="17243A"/>
      </a:dk1>
      <a:lt1>
        <a:srgbClr val="F7FAFF"/>
      </a:lt1>
      <a:dk2>
        <a:srgbClr val="17243A"/>
      </a:dk2>
      <a:lt2>
        <a:srgbClr val="F7FAFF"/>
      </a:lt2>
      <a:accent1>
        <a:srgbClr val="1459D0"/>
      </a:accent1>
      <a:accent2>
        <a:srgbClr val="E54C5E"/>
      </a:accent2>
      <a:accent3>
        <a:srgbClr val="E54C5E"/>
      </a:accent3>
      <a:accent4>
        <a:srgbClr val="1459D0"/>
      </a:accent4>
      <a:accent5>
        <a:srgbClr val="4BACC6"/>
      </a:accent5>
      <a:accent6>
        <a:srgbClr val="F79646"/>
      </a:accent6>
      <a:hlink>
        <a:srgbClr val="E54C5E"/>
      </a:hlink>
      <a:folHlink>
        <a:srgbClr val="E54C5E"/>
      </a:folHlink>
    </a:clrScheme>
    <a:fontScheme name="金融AI原生_20周年客户大会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金融AI原生_20周年客户大会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15942</Words>
  <Application>WPS 演示</Application>
  <PresentationFormat>On-screen Show (16:9)</PresentationFormat>
  <Paragraphs>2302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方正雅意黑 GB18030L2</vt:lpstr>
      <vt:lpstr>微软雅黑</vt:lpstr>
      <vt:lpstr>宋体</vt:lpstr>
      <vt:lpstr>Arial Unicode MS</vt:lpstr>
      <vt:lpstr>汉仪书宋二KW</vt:lpstr>
      <vt:lpstr>Calibri</vt:lpstr>
      <vt:lpstr>Helvetica Neue</vt:lpstr>
      <vt:lpstr>微软雅黑</vt:lpstr>
      <vt:lpstr>金融AI原生_20周年客户大会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Kris</cp:lastModifiedBy>
  <cp:revision>4</cp:revision>
  <dcterms:created xsi:type="dcterms:W3CDTF">2026-10-25T05:56:31Z</dcterms:created>
  <dcterms:modified xsi:type="dcterms:W3CDTF">2026-10-25T05:56:31Z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921EEC5D1B29AE06E48FDD6A9C4644B2_42</vt:lpwstr>
  </property>
  <property fmtid="{D5CDD505-2E9C-101B-9397-08002B2CF9AE}" pid="3" name="KSOProductBuildVer">
    <vt:lpwstr>2052-12.1.26055.26055</vt:lpwstr>
  </property>
</Properties>
</file>